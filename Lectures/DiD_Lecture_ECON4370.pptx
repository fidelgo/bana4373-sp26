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174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</a:rPr>
              <a:t>ECON 4370: Applied Data Tools for Economics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Difference-in-Differences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E9C46A"/>
                </a:solidFill>
              </a:rPr>
              <a:t>Learning Causality from History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02920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"The most important question in economics is not 'what happened?'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but 'what would have happened otherwise?'"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Dr. Fidel González  |  Sam Houston State University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Today's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978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</a:rPr>
              <a:t>The Causal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07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What do economists mean by a causal effect?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38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</a:rPr>
              <a:t>London, 1854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67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John Snow and the Broad Street pump — the original natural experiment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98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</a:rPr>
              <a:t>The 2×2 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227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How to structure before/after × treated/control comparisons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58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</a:rPr>
              <a:t>The Parallel Trends Assumption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187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The critical identifying assumption — and when it can fail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A9D8F"/>
                </a:solidFill>
              </a:rPr>
              <a:t>PART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 Is a Causal Effect?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C4D4"/>
                </a:solidFill>
              </a:rPr>
              <a:t>And why is it so hard to measure?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FA5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FA5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Every Policy Question Hides a Causal Claim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" cy="457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784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4A"/>
                </a:solidFill>
              </a:rPr>
              <a:t>Did the minimum wage increase cause unemployment to rise?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" cy="457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4A"/>
                </a:solidFill>
              </a:rPr>
              <a:t>Does getting a college degree cause higher earnings?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3500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4A"/>
                </a:solidFill>
              </a:rPr>
              <a:t>Did the lockdown policy cause the drop in infections?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solidFill>
            <a:srgbClr val="1A2B4A"/>
          </a:solidFill>
          <a:ln w="25400">
            <a:solidFill>
              <a:srgbClr val="2A9D8F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</a:rPr>
              <a:t>The Problem: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We observe the world only once. We never see what would have happened to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the same person, city, or country if the policy had not been applied.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The Counterfactual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</a:rPr>
              <a:t>A causal effect is defined by comparing two potential outcomes for the same unit: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74904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2A9D8F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A9D8F"/>
                </a:solidFill>
              </a:rPr>
              <a:t>OBSERVED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9D8F"/>
                </a:solidFill>
              </a:rPr>
              <a:t>Y(1)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The outcome when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unit receives treatment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3749040" cy="2194560"/>
          </a:xfrm>
          <a:prstGeom prst="rect">
            <a:avLst/>
          </a:prstGeom>
          <a:solidFill>
            <a:srgbClr val="FFF8E8"/>
          </a:solidFill>
          <a:ln w="19050">
            <a:solidFill>
              <a:srgbClr val="E9C46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B7B1A"/>
                </a:solidFill>
              </a:rPr>
              <a:t>COUNTERFACTUAL  (never observed)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C46A"/>
                </a:solidFill>
              </a:rPr>
              <a:t>Y(0)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The outcome if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same unit had NOT been treated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011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2B4A"/>
                </a:solidFill>
              </a:rPr>
              <a:t>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Causal Effect  =  Y(1) − Y(0)     →     The fundamental problem: we can only ever observe ONE of these.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Solution: Find a Good Comparison Group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</a:rPr>
              <a:t>Since we cannot observe Y(0) for the treated unit, we need to estimate it.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</a:rPr>
              <a:t>The quality of our causal estimate depends entirely on the quality of our comparison.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" cy="868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Random Assignment (RCT)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Flip a coin to assign treatment. Control group is a valid counterfactual by design.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0" y="18288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1856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</a:rPr>
              <a:t>Gold standard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73152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7919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Natural Experiments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Find situations where assignment is 'as-if random' due to external circumstances — policy changes, geography, timing.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83464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2862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</a:rPr>
              <a:t>DiD lives 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73152" cy="868680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Statistical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0233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Hold other factors constant via regression. Valid only if you can observe and control all confounders.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84048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0" y="38679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</a:rPr>
              <a:t>Often insufficient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C0392B"/>
                </a:solidFill>
              </a:rPr>
              <a:t>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London, 1854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A physician, a pump, and the birth of modern causal thinking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45720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"Before John Snow, people believed cholera was caused by bad air.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Snow believed in data."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FA5"/>
                </a:solidFill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FA5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London, Summer 1854: A City Under Siege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Cholera was not new to London. </a:t>
            </a:r>
            <a:r>
              <a:rPr lang="en-US" sz="1300" dirty="0">
                <a:solidFill>
                  <a:srgbClr val="1A2B4A"/>
                </a:solidFill>
              </a:rPr>
              <a:t>But in August 1854, an outbreak in the Soho district was devastating — hundreds died within days.
The dominant theory at the time </a:t>
            </a:r>
            <a:r>
              <a:rPr lang="en-US" sz="1300" b="1" dirty="0">
                <a:solidFill>
                  <a:srgbClr val="1A2B4A"/>
                </a:solidFill>
              </a:rPr>
              <a:t>was Miasma theory:</a:t>
            </a:r>
            <a:r>
              <a:rPr lang="en-US" sz="1300" dirty="0">
                <a:solidFill>
                  <a:srgbClr val="1A2B4A"/>
                </a:solidFill>
              </a:rPr>
              <a:t> disease was spread by 'bad air' from filth and decay. It was the scientific consensus.
</a:t>
            </a:r>
            <a:r>
              <a:rPr lang="en-US" sz="1300" b="1" dirty="0">
                <a:solidFill>
                  <a:srgbClr val="1A2B4A"/>
                </a:solidFill>
              </a:rPr>
              <a:t>Dr. John Snow was a skeptic. </a:t>
            </a:r>
            <a:r>
              <a:rPr lang="en-US" sz="1300" dirty="0">
                <a:solidFill>
                  <a:srgbClr val="1A2B4A"/>
                </a:solidFill>
              </a:rPr>
              <a:t>He had been quietly gathering evidence against the miasma theory for years. Now he had a natural experiment in front of him.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960120"/>
            <a:ext cx="3200400" cy="91440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500+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0" y="1490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Deaths in 10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057400"/>
            <a:ext cx="3200400" cy="91440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1854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0" y="2587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Year of the outbreak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154680"/>
            <a:ext cx="3200400" cy="91440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Soho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0" y="3685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Epicenter, London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2245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4C00"/>
                </a:solidFill>
              </a:rPr>
              <a:t>💡  Key question Snow asked: Why do some households suffer deaths while others, nearby, are untouched?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Natural Experiment: Two Water Companies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</a:rPr>
              <a:t>Snow's key observation was structural: two water companies served overlapping neighborhoods of London.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749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74904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Southwark &amp; Vauxhall Co.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Water source: </a:t>
            </a:r>
            <a:r>
              <a:rPr lang="en-US" sz="1200" dirty="0">
                <a:solidFill>
                  <a:srgbClr val="1A2B4A"/>
                </a:solidFill>
              </a:rPr>
              <a:t>Thames at Hungerford — downstream of London's sewage outflow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High. Sewage mixed into drinking water.
</a:t>
            </a:r>
            <a:r>
              <a:rPr lang="en-US" sz="1200" b="1" dirty="0">
                <a:solidFill>
                  <a:srgbClr val="1A2B4A"/>
                </a:solidFill>
              </a:rPr>
              <a:t>Result: </a:t>
            </a:r>
            <a:r>
              <a:rPr lang="en-US" sz="1200" dirty="0">
                <a:solidFill>
                  <a:srgbClr val="1A2B4A"/>
                </a:solidFill>
              </a:rPr>
              <a:t>315 deaths per 10,000 households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3749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3749040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Lambeth Water Co.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Water source: </a:t>
            </a:r>
            <a:r>
              <a:rPr lang="en-US" sz="1200" dirty="0">
                <a:solidFill>
                  <a:srgbClr val="1A2B4A"/>
                </a:solidFill>
              </a:rPr>
              <a:t>Thames at Thames Ditton — upstream, above sewage outflow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Low. Clean water source.
</a:t>
            </a:r>
            <a:r>
              <a:rPr lang="en-US" sz="1200" b="1" dirty="0">
                <a:solidFill>
                  <a:srgbClr val="1A2B4A"/>
                </a:solidFill>
              </a:rPr>
              <a:t>Result: </a:t>
            </a:r>
            <a:r>
              <a:rPr lang="en-US" sz="1200" dirty="0">
                <a:solidFill>
                  <a:srgbClr val="1A2B4A"/>
                </a:solidFill>
              </a:rPr>
              <a:t>37 deaths per 10,000 households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C46A"/>
                </a:solidFill>
              </a:rPr>
              <a:t>The genius: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0416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These households were interleaved — same streets, same air, same 'miasma.'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61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The ONLY systematic difference was which company supplied their water.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Snow's Critical Insight: Use the Change Over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</a:rPr>
              <a:t>The real power came from a policy change that happened BEFORE the 1854 outbreak.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7863840" cy="0"/>
          </a:xfrm>
          <a:prstGeom prst="line">
            <a:avLst/>
          </a:prstGeom>
          <a:noFill/>
          <a:ln w="254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258568"/>
            <a:ext cx="320040" cy="320040"/>
          </a:xfrm>
          <a:prstGeom prst="ellipse">
            <a:avLst/>
          </a:prstGeom>
          <a:solidFill>
            <a:srgbClr val="E9C46A"/>
          </a:solidFill>
          <a:ln w="1905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Before 1852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BOTH companies drew water from the polluted Thames near London. Death rates were similar.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2258568"/>
            <a:ext cx="320040" cy="320040"/>
          </a:xfrm>
          <a:prstGeom prst="ellipse">
            <a:avLst/>
          </a:prstGeom>
          <a:solidFill>
            <a:srgbClr val="E9C46A"/>
          </a:solidFill>
          <a:ln w="1905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1852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Lambeth Company moves its intake upstream to Thames Ditton — clean water. S&amp;V does not move.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258568"/>
            <a:ext cx="320040" cy="320040"/>
          </a:xfrm>
          <a:prstGeom prst="ellipse">
            <a:avLst/>
          </a:prstGeom>
          <a:solidFill>
            <a:srgbClr val="E9C46A"/>
          </a:solidFill>
          <a:ln w="1905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1854 Outbreak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Now we can compare what happened to EACH company's customers AFTER the change.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13308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This gives us the structure of DiD: </a:t>
            </a:r>
            <a:r>
              <a:rPr lang="en-US" sz="1300" dirty="0">
                <a:solidFill>
                  <a:srgbClr val="4A5568"/>
                </a:solidFill>
              </a:rPr>
              <a:t>Two groups (Lambeth = treated, S&amp;V = control), observed at two points in time (before and after 1852).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A9D8F"/>
                </a:solidFill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2×2 DiD Table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C4D4"/>
                </a:solidFill>
              </a:rPr>
              <a:t>Turning a story into a number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FA5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FA5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Difference-in-Differences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914400"/>
            <a:ext cx="23317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932688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(1849)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23317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932688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(1854)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914400"/>
            <a:ext cx="16916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0" y="93268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Difference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214884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1508760"/>
            <a:ext cx="211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Lambeth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(Treated)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1463040"/>
            <a:ext cx="2331720" cy="749808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16002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130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2331720" cy="749808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37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1463040"/>
            <a:ext cx="1691640" cy="749808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16002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</a:rPr>
              <a:t>−93 ← ΔT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14884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2331720"/>
            <a:ext cx="211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S&amp;V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(Control)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51760" y="2286000"/>
            <a:ext cx="2331720" cy="749808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51760" y="24231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135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2286000"/>
            <a:ext cx="2331720" cy="749808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24231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315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06640" y="2286000"/>
            <a:ext cx="1691640" cy="749808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24231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</a:rPr>
              <a:t>+180 ← ΔC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214884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154680"/>
            <a:ext cx="211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(T − C)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51760" y="3108960"/>
            <a:ext cx="2331720" cy="749808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32461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B7B1A"/>
                </a:solidFill>
              </a:rPr>
              <a:t>−5 ≈ 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0" y="3108960"/>
            <a:ext cx="2331720" cy="749808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2461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B7B1A"/>
                </a:solidFill>
              </a:rPr>
              <a:t>−278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06640" y="3108960"/>
            <a:ext cx="1691640" cy="749808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06640" y="32461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−273 ← DiD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E9E9E"/>
                </a:solidFill>
              </a:rPr>
              <a:t>(Deaths per 10,000 households)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solidFill>
            <a:srgbClr val="1A2B4A"/>
          </a:solidFill>
          <a:ln w="19050">
            <a:solidFill>
              <a:srgbClr val="E9C46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5171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C46A"/>
                </a:solidFill>
              </a:rPr>
              <a:t>DiD = (37 − 130) − (315 − 135) = −93 − 180 = −273 deaths per 10,000  →  Lambeth's cleaner water saved lives.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Why Take the Difference Twice?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" cy="1645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9D8F"/>
                </a:solidFill>
              </a:rPr>
              <a:t>1st Difference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Remove the effect of the treatment — within each group over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64792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Lambeth after − Lambeth before = 37 − 130 = −93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S&amp;V after − S&amp;V before = 315 − 135 = +180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This shows how each group changed across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91440" cy="1645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C46A"/>
                </a:solidFill>
              </a:rPr>
              <a:t>2nd Difference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821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Remove common time trends — subtract the control group's change from the treated group's change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547872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DiD = (−93) − (+180) = −273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This removes anything that affected both groups equally (e.g. a bad disease year, economic changes). What remains is the treatment effect.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9C46A"/>
                </a:solidFill>
              </a:rPr>
              <a:t>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Parallel Trends Assumption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8C4D4"/>
                </a:solidFill>
              </a:rPr>
              <a:t>The one thing DiD cannot give you for free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54864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"DiD is only as good as the assumption that, in the absence of treatment,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both groups would have followed the same trend."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FA5"/>
                </a:solidFill>
              </a:rPr>
              <a:t>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FA5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The Parallel Trends Assumption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1A2B4A"/>
          </a:solidFill>
          <a:ln w="25400">
            <a:solidFill>
              <a:srgbClr val="E9C46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C46A"/>
                </a:solidFill>
              </a:rPr>
              <a:t>Formal Statement: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4F1E8"/>
                </a:solidFill>
              </a:rPr>
              <a:t>In the absence of treatment, the average outcome for the treated group would have changed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4F1E8"/>
                </a:solidFill>
              </a:rPr>
              <a:t>over time by the same amount as the average outcome for the control group.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In plain English: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52344"/>
            <a:ext cx="256032" cy="25603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</a:rPr>
              <a:t>The control group must be a valid stand-in for what the treated group WOULD HAVE experienced without the treatment.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256032" cy="25603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227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</a:rPr>
              <a:t>It does NOT require the two groups to have identical levels — they can start at different places.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13048"/>
            <a:ext cx="256032" cy="25603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758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</a:rPr>
              <a:t>It DOES require their trends (slopes over time) to be the same in the pre-treatment period — and would have continued to be the same.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42885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</a:rPr>
              <a:t>It is an assumption about the counterfactual — it can never be directly tested, only made plausible.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Visualizing the Assumption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5943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0" cy="3291840"/>
          </a:xfrm>
          <a:prstGeom prst="line">
            <a:avLst/>
          </a:prstGeom>
          <a:noFill/>
          <a:ln w="1905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4160520"/>
            <a:ext cx="5303520" cy="0"/>
          </a:xfrm>
          <a:prstGeom prst="line">
            <a:avLst/>
          </a:prstGeom>
          <a:noFill/>
          <a:ln w="1905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22776" y="1051560"/>
            <a:ext cx="0" cy="315468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39896" y="1069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Treatment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1060704" cy="62179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66544" y="2668219"/>
            <a:ext cx="1060704" cy="62179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27248" y="2730398"/>
            <a:ext cx="795528" cy="62179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22776" y="2792578"/>
            <a:ext cx="795528" cy="668426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18304" y="3461004"/>
            <a:ext cx="1060704" cy="77724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79008" y="3538728"/>
            <a:ext cx="530352" cy="3886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2994660"/>
            <a:ext cx="1060704" cy="62179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66544" y="3056839"/>
            <a:ext cx="1060704" cy="6995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27248" y="3126791"/>
            <a:ext cx="795528" cy="62179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22776" y="3188970"/>
            <a:ext cx="795528" cy="5440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3243377"/>
            <a:ext cx="1060704" cy="77724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79008" y="3321101"/>
            <a:ext cx="530352" cy="62179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22776" y="2792578"/>
            <a:ext cx="795528" cy="62179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18304" y="2854757"/>
            <a:ext cx="1060704" cy="77724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79008" y="2932481"/>
            <a:ext cx="530352" cy="62179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3234233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</a:rPr>
              <a:t>Treated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</a:rPr>
              <a:t>(actual)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01368" y="2672791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</a:rPr>
              <a:t>Control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2234" y="2939339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2A7D70"/>
                </a:solidFill>
              </a:rPr>
              <a:t>Counterfactual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2A7D70"/>
                </a:solidFill>
              </a:rPr>
              <a:t>(no treatment)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13832" y="3321101"/>
            <a:ext cx="0" cy="217627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40350" y="326532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9C46A"/>
                </a:solidFill>
              </a:rPr>
              <a:t>DiD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2240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Outcome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(Deaths / 10k)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20440" y="4325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Time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4178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</a:rPr>
              <a:t>Before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14216" y="4178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</a:rPr>
              <a:t>After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914400"/>
            <a:ext cx="22860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Key: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1481328"/>
            <a:ext cx="36576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6948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4A"/>
                </a:solidFill>
              </a:rPr>
              <a:t>Treated (actual)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2048256"/>
            <a:ext cx="36576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6948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4A"/>
                </a:solidFill>
              </a:rPr>
              <a:t>Treated counterfactual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12280" y="2615184"/>
            <a:ext cx="36576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69480" y="25054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4A"/>
                </a:solidFill>
              </a:rPr>
              <a:t>Control group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12280" y="3182112"/>
            <a:ext cx="365760" cy="0"/>
          </a:xfrm>
          <a:prstGeom prst="line">
            <a:avLst/>
          </a:prstGeom>
          <a:noFill/>
          <a:ln w="317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69480" y="30723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4A"/>
                </a:solidFill>
              </a:rPr>
              <a:t>DiD estimate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0840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568"/>
                </a:solidFill>
              </a:rPr>
              <a:t>The dashed line = where the treated group WOULD have gone without treatment. DiD measures the gap.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When Parallel Trends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Selection into Treatment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If the treated group was already on a different trend BEFORE treatment (e.g., sicker patients choose an intervention), the control group's trend is not a valid counterfactual.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12801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13167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Check with pre-trends tests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73152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3042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Simultaneous Shocks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If something else happened at the same time as the treatment, only to the treated group, DiD will attribute that effect to the treatment.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57860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26151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Examine event timelines carefully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73152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84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6027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Composition Changes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95020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If the TYPE of people in the treated or control group changes between periods (e.g., people move neighborhoods), the comparison is no longer apples-to-apples.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3877056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0" y="39136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Track individuals, not places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Was Parallel Trends Plausible for Snow?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</a:rPr>
              <a:t>Let's go back to the John Snow case and evaluate the assumption critically.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Same neighborhoods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Lambeth and S&amp;V customers lived interleaved on the same streets — same air, same poverty, same environment.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267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Similar pre-treatment trends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Before 1852, BOTH companies drew from the same polluted section of the Thames. Death rates were comparable.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3639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Exogenous treatment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The company moved its intake for business reasons, not because its customers were getting healthier — no selection bias.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Potential concern: wealth differences?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3434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</a:rPr>
              <a:t>Wealthier households may have been more likely to use one company. Snow acknowledged this — and found the effect held even controlling for wealth.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4D4"/>
                </a:solidFill>
              </a:rPr>
              <a:t>18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4D4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DiD Gives Us — And What It Requires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What DiD Gives You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A causal estimate without random assignment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Protection against fixed differences between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Control for common time trends affecting all units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6118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An intuitively transparent estimator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47548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4241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What DiD Requires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5544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A control group that follows a parallel trend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2402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A clear 'before' and 'after' period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Treatment timing that is exogenous (not chosen by units)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4023360" cy="566928"/>
          </a:xfrm>
          <a:prstGeom prst="rect">
            <a:avLst/>
          </a:prstGeom>
          <a:solidFill>
            <a:srgbClr val="243660"/>
          </a:solidFill>
          <a:ln w="63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No simultaneous interventions affecting only one group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480560"/>
            <a:ext cx="8503920" cy="457200"/>
          </a:xfrm>
          <a:prstGeom prst="rect">
            <a:avLst/>
          </a:prstGeom>
          <a:solidFill>
            <a:srgbClr val="0D1F33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53542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</a:rPr>
              <a:t>Next: Implementing DiD in Python with real economic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FA5"/>
                </a:solidFill>
              </a:rPr>
              <a:t>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FA5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1807</Words>
  <Application>Microsoft Macintosh PowerPoint</Application>
  <PresentationFormat>On-screen Show (16:9)</PresentationFormat>
  <Paragraphs>246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Difference-in-Differences: From John Snow to Causal Inference</dc:title>
  <dc:subject>PptxGenJS Presentation</dc:subject>
  <dc:creator>PptxGenJS</dc:creator>
  <cp:lastModifiedBy>Gonzalez, Fidel</cp:lastModifiedBy>
  <cp:revision>1</cp:revision>
  <dcterms:created xsi:type="dcterms:W3CDTF">2026-03-04T14:54:04Z</dcterms:created>
  <dcterms:modified xsi:type="dcterms:W3CDTF">2026-03-04T15:26:54Z</dcterms:modified>
</cp:coreProperties>
</file>