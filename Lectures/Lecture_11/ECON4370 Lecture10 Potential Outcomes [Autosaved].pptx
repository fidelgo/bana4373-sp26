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3" r:id="rId9"/>
    <p:sldId id="274" r:id="rId10"/>
    <p:sldId id="263" r:id="rId11"/>
    <p:sldId id="276" r:id="rId12"/>
    <p:sldId id="277" r:id="rId13"/>
    <p:sldId id="278" r:id="rId14"/>
    <p:sldId id="279" r:id="rId15"/>
    <p:sldId id="280" r:id="rId16"/>
    <p:sldId id="275" r:id="rId17"/>
    <p:sldId id="281" r:id="rId18"/>
    <p:sldId id="264" r:id="rId19"/>
    <p:sldId id="265" r:id="rId20"/>
    <p:sldId id="266" r:id="rId21"/>
    <p:sldId id="267" r:id="rId22"/>
    <p:sldId id="268" r:id="rId23"/>
    <p:sldId id="269" r:id="rId24"/>
    <p:sldId id="270" r:id="rId25"/>
    <p:sldId id="271" r:id="rId26"/>
    <p:sldId id="272"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9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216"/>
    <p:restoredTop sz="94610"/>
  </p:normalViewPr>
  <p:slideViewPr>
    <p:cSldViewPr snapToGrid="0" snapToObjects="1">
      <p:cViewPr varScale="1">
        <p:scale>
          <a:sx n="101" d="100"/>
          <a:sy n="101" d="100"/>
        </p:scale>
        <p:origin x="192" y="1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8199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BFEC5-FF23-DC4E-39C4-FD17E0B68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E4437-3E1B-5446-94D2-B23272F54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ABDBD-B5B4-BC55-551D-6692ED9FDE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3F5086-36C9-143D-A073-50C568AE29A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34534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47618-8020-A2BC-1E37-E0DA0A464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E444A-ED63-AA35-E37D-46E1EAAE5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B324C-D52C-6358-2E28-C68F5ED31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F5D7C5-E7A5-74CD-E26F-397E73616A3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44423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BE8F6-2CD4-12DE-3706-614378026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AEB0F-BC35-4F07-1B2D-0B5BA2AD6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CC1A0-929B-ED07-ABD5-88DF17E6DE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09E45-2D0B-CD9C-7A70-DAE1E0182D5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94247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CEAD-CE0E-F9B8-D5EF-C9C7F377B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40EA0-FA66-F214-F6F2-F825E748F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A10C2-8D14-B305-1EEF-DC23312BC1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15BB4-5EBE-E127-4DF8-77A23D7F76E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19448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AE7C-DFC7-1802-D81C-EEDA20BA6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5C522-C99E-5EEA-A472-A4C1F11A9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95267-11A7-0904-461A-6FA996C0E5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03754-9668-CDBD-8BCF-693E6CB51F5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60914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FB99-7C9F-2B03-AA52-7738BC1D9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DED09-6E3C-60B8-CFE0-54F0B1E52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E535D-3C56-57D0-BCA6-224DFB1436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EAA812-7CD4-3CA4-A95A-24BEEAC49AB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7837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7E4D7-08A1-6B56-61BA-A81C7434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331BD-CA19-BB73-173B-5497B3B08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3EF2A-A545-AA3E-BD84-7B42BEFBA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94A3B-FCBE-E2F1-2225-4A604FEE336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39370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2D09-197A-5666-2D41-F3A0FD144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B8C8F-1F97-6A7A-4633-5A465F32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D4743-8F6E-D64B-8A37-9A15525BD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4D5F26-0867-F7D7-BD30-F96043BB1B2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60946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5107-9EAC-01B9-9C0D-426D21C80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5E1A7-DFC6-AAEF-209D-CB537F2F4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99F3C-B27F-559C-26E9-F703FBB96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58096-968E-B7B2-8339-05B4159C1C5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03400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43A"/>
          </a:solidFill>
          <a:ln/>
        </p:spPr>
        <p:txBody>
          <a:bodyPr/>
          <a:lstStyle/>
          <a:p>
            <a:endParaRPr lang="en-US"/>
          </a:p>
        </p:txBody>
      </p:sp>
      <p:sp>
        <p:nvSpPr>
          <p:cNvPr id="3" name="Text 1"/>
          <p:cNvSpPr/>
          <p:nvPr/>
        </p:nvSpPr>
        <p:spPr>
          <a:xfrm>
            <a:off x="640080" y="822960"/>
            <a:ext cx="7772400" cy="164592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Potential Outcomes &amp;</a:t>
            </a:r>
            <a:endParaRPr lang="en-US" sz="3800" dirty="0"/>
          </a:p>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The Causal Inference Problem</a:t>
            </a:r>
            <a:endParaRPr lang="en-US" sz="3800" dirty="0"/>
          </a:p>
        </p:txBody>
      </p:sp>
      <p:sp>
        <p:nvSpPr>
          <p:cNvPr id="4" name="Text 2"/>
          <p:cNvSpPr/>
          <p:nvPr/>
        </p:nvSpPr>
        <p:spPr>
          <a:xfrm>
            <a:off x="640080" y="2560320"/>
            <a:ext cx="7315200" cy="457200"/>
          </a:xfrm>
          <a:prstGeom prst="rect">
            <a:avLst/>
          </a:prstGeom>
          <a:noFill/>
          <a:ln/>
        </p:spPr>
        <p:txBody>
          <a:bodyPr wrap="square" lIns="0" tIns="0" rIns="0" bIns="0" rtlCol="0" anchor="ctr"/>
          <a:lstStyle/>
          <a:p>
            <a:pPr marL="0" indent="0">
              <a:buNone/>
            </a:pPr>
            <a:r>
              <a:rPr lang="en-US" sz="1600" i="1" dirty="0">
                <a:solidFill>
                  <a:srgbClr val="E8943A"/>
                </a:solidFill>
                <a:latin typeface="Calibri" pitchFamily="34" charset="0"/>
                <a:ea typeface="Calibri" pitchFamily="34" charset="-122"/>
                <a:cs typeface="Calibri" pitchFamily="34" charset="-120"/>
              </a:rPr>
              <a:t>ATE · ATT · ATU · Selection Bias · Randomization</a:t>
            </a:r>
            <a:endParaRPr lang="en-US" sz="1600" dirty="0"/>
          </a:p>
        </p:txBody>
      </p:sp>
      <p:sp>
        <p:nvSpPr>
          <p:cNvPr id="5" name="Shape 3"/>
          <p:cNvSpPr/>
          <p:nvPr/>
        </p:nvSpPr>
        <p:spPr>
          <a:xfrm>
            <a:off x="640080" y="3154680"/>
            <a:ext cx="3200400" cy="0"/>
          </a:xfrm>
          <a:prstGeom prst="line">
            <a:avLst/>
          </a:prstGeom>
          <a:noFill/>
          <a:ln w="19050">
            <a:solidFill>
              <a:srgbClr val="CADCFC"/>
            </a:solidFill>
            <a:prstDash val="solid"/>
          </a:ln>
        </p:spPr>
        <p:txBody>
          <a:bodyPr/>
          <a:lstStyle/>
          <a:p>
            <a:endParaRPr lang="en-US"/>
          </a:p>
        </p:txBody>
      </p:sp>
      <p:sp>
        <p:nvSpPr>
          <p:cNvPr id="6" name="Text 4"/>
          <p:cNvSpPr/>
          <p:nvPr/>
        </p:nvSpPr>
        <p:spPr>
          <a:xfrm>
            <a:off x="640080" y="333756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BANA 4373 / ECON 4370 — Applied Data Tools for Economics &amp; Business</a:t>
            </a:r>
            <a:endParaRPr lang="en-US" sz="1400" dirty="0"/>
          </a:p>
        </p:txBody>
      </p:sp>
      <p:sp>
        <p:nvSpPr>
          <p:cNvPr id="7" name="Text 5"/>
          <p:cNvSpPr/>
          <p:nvPr/>
        </p:nvSpPr>
        <p:spPr>
          <a:xfrm>
            <a:off x="640080" y="3749040"/>
            <a:ext cx="73152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Dr. Fidel González  ·  Sam Houston State University  ·  Spring 2026</a:t>
            </a:r>
            <a:endParaRPr lang="en-US" sz="1300" dirty="0"/>
          </a:p>
        </p:txBody>
      </p:sp>
      <p:sp>
        <p:nvSpPr>
          <p:cNvPr id="8" name="Text 6"/>
          <p:cNvSpPr/>
          <p:nvPr/>
        </p:nvSpPr>
        <p:spPr>
          <a:xfrm>
            <a:off x="640080" y="4114800"/>
            <a:ext cx="73152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Week 10  ·  Introduction to Causal Inference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Today's Agenda</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548640" y="1051560"/>
            <a:ext cx="384048" cy="384048"/>
          </a:xfrm>
          <a:prstGeom prst="ellipse">
            <a:avLst/>
          </a:prstGeom>
          <a:solidFill>
            <a:srgbClr val="1E2761"/>
          </a:solidFill>
          <a:ln/>
        </p:spPr>
        <p:txBody>
          <a:bodyPr/>
          <a:lstStyle/>
          <a:p>
            <a:endParaRPr lang="en-US"/>
          </a:p>
        </p:txBody>
      </p:sp>
      <p:sp>
        <p:nvSpPr>
          <p:cNvPr id="7" name="Text 5"/>
          <p:cNvSpPr/>
          <p:nvPr/>
        </p:nvSpPr>
        <p:spPr>
          <a:xfrm>
            <a:off x="548640" y="10515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051560"/>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The Fundamental Problem of Causal Inference</a:t>
            </a:r>
            <a:endParaRPr lang="en-US" sz="1500" dirty="0"/>
          </a:p>
        </p:txBody>
      </p:sp>
      <p:sp>
        <p:nvSpPr>
          <p:cNvPr id="9" name="Shape 7"/>
          <p:cNvSpPr/>
          <p:nvPr/>
        </p:nvSpPr>
        <p:spPr>
          <a:xfrm>
            <a:off x="548640" y="1618488"/>
            <a:ext cx="384048" cy="384048"/>
          </a:xfrm>
          <a:prstGeom prst="ellipse">
            <a:avLst/>
          </a:prstGeom>
          <a:solidFill>
            <a:srgbClr val="1E2761"/>
          </a:solidFill>
          <a:ln/>
        </p:spPr>
        <p:txBody>
          <a:bodyPr/>
          <a:lstStyle/>
          <a:p>
            <a:endParaRPr lang="en-US"/>
          </a:p>
        </p:txBody>
      </p:sp>
      <p:sp>
        <p:nvSpPr>
          <p:cNvPr id="10" name="Text 8"/>
          <p:cNvSpPr/>
          <p:nvPr/>
        </p:nvSpPr>
        <p:spPr>
          <a:xfrm>
            <a:off x="548640" y="16184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97280" y="1618488"/>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Potential Outcomes &amp; the Switching Equation</a:t>
            </a:r>
            <a:endParaRPr lang="en-US" sz="1500" dirty="0"/>
          </a:p>
        </p:txBody>
      </p:sp>
      <p:sp>
        <p:nvSpPr>
          <p:cNvPr id="12" name="Shape 10"/>
          <p:cNvSpPr/>
          <p:nvPr/>
        </p:nvSpPr>
        <p:spPr>
          <a:xfrm>
            <a:off x="548640" y="2185416"/>
            <a:ext cx="384048" cy="384048"/>
          </a:xfrm>
          <a:prstGeom prst="ellipse">
            <a:avLst/>
          </a:prstGeom>
          <a:solidFill>
            <a:srgbClr val="1E2761"/>
          </a:solidFill>
          <a:ln/>
        </p:spPr>
        <p:txBody>
          <a:bodyPr/>
          <a:lstStyle/>
          <a:p>
            <a:endParaRPr lang="en-US"/>
          </a:p>
        </p:txBody>
      </p:sp>
      <p:sp>
        <p:nvSpPr>
          <p:cNvPr id="13" name="Text 11"/>
          <p:cNvSpPr/>
          <p:nvPr/>
        </p:nvSpPr>
        <p:spPr>
          <a:xfrm>
            <a:off x="548640" y="21854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97280" y="2185416"/>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ATE, ATT, ATU — Three Parameters of Interest</a:t>
            </a:r>
            <a:endParaRPr lang="en-US" sz="1500" dirty="0"/>
          </a:p>
        </p:txBody>
      </p:sp>
      <p:sp>
        <p:nvSpPr>
          <p:cNvPr id="15" name="Shape 13"/>
          <p:cNvSpPr/>
          <p:nvPr/>
        </p:nvSpPr>
        <p:spPr>
          <a:xfrm>
            <a:off x="548640" y="2752344"/>
            <a:ext cx="384048" cy="384048"/>
          </a:xfrm>
          <a:prstGeom prst="ellipse">
            <a:avLst/>
          </a:prstGeom>
          <a:solidFill>
            <a:srgbClr val="3A4F9A"/>
          </a:solidFill>
          <a:ln/>
        </p:spPr>
        <p:txBody>
          <a:bodyPr/>
          <a:lstStyle/>
          <a:p>
            <a:endParaRPr lang="en-US"/>
          </a:p>
        </p:txBody>
      </p:sp>
      <p:sp>
        <p:nvSpPr>
          <p:cNvPr id="16" name="Text 14"/>
          <p:cNvSpPr/>
          <p:nvPr/>
        </p:nvSpPr>
        <p:spPr>
          <a:xfrm>
            <a:off x="548640" y="27523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97280" y="2752344"/>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Simple Difference in Outcomes (SDO) Decomposition</a:t>
            </a:r>
            <a:endParaRPr lang="en-US" sz="1500" dirty="0"/>
          </a:p>
        </p:txBody>
      </p:sp>
      <p:sp>
        <p:nvSpPr>
          <p:cNvPr id="18" name="Shape 16"/>
          <p:cNvSpPr/>
          <p:nvPr/>
        </p:nvSpPr>
        <p:spPr>
          <a:xfrm>
            <a:off x="548640" y="3319272"/>
            <a:ext cx="384048" cy="384048"/>
          </a:xfrm>
          <a:prstGeom prst="ellipse">
            <a:avLst/>
          </a:prstGeom>
          <a:solidFill>
            <a:srgbClr val="3A4F9A"/>
          </a:solidFill>
          <a:ln/>
        </p:spPr>
        <p:txBody>
          <a:bodyPr/>
          <a:lstStyle/>
          <a:p>
            <a:endParaRPr lang="en-US"/>
          </a:p>
        </p:txBody>
      </p:sp>
      <p:sp>
        <p:nvSpPr>
          <p:cNvPr id="19" name="Text 17"/>
          <p:cNvSpPr/>
          <p:nvPr/>
        </p:nvSpPr>
        <p:spPr>
          <a:xfrm>
            <a:off x="548640" y="33192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97280" y="3319272"/>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Selection Bias &amp; Heterogeneous Treatment Effect Bias</a:t>
            </a:r>
            <a:endParaRPr lang="en-US" sz="1500" dirty="0"/>
          </a:p>
        </p:txBody>
      </p:sp>
      <p:sp>
        <p:nvSpPr>
          <p:cNvPr id="21" name="Shape 19"/>
          <p:cNvSpPr/>
          <p:nvPr/>
        </p:nvSpPr>
        <p:spPr>
          <a:xfrm>
            <a:off x="548640" y="3886200"/>
            <a:ext cx="384048" cy="384048"/>
          </a:xfrm>
          <a:prstGeom prst="ellipse">
            <a:avLst/>
          </a:prstGeom>
          <a:solidFill>
            <a:srgbClr val="3A4F9A"/>
          </a:solidFill>
          <a:ln/>
        </p:spPr>
        <p:txBody>
          <a:bodyPr/>
          <a:lstStyle/>
          <a:p>
            <a:endParaRPr lang="en-US"/>
          </a:p>
        </p:txBody>
      </p:sp>
      <p:sp>
        <p:nvSpPr>
          <p:cNvPr id="22" name="Text 20"/>
          <p:cNvSpPr/>
          <p:nvPr/>
        </p:nvSpPr>
        <p:spPr>
          <a:xfrm>
            <a:off x="548640" y="3886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097280" y="3886200"/>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Randomization as the Solution</a:t>
            </a:r>
            <a:endParaRPr lang="en-US" sz="1500" dirty="0"/>
          </a:p>
        </p:txBody>
      </p:sp>
      <p:sp>
        <p:nvSpPr>
          <p:cNvPr id="24" name="Text 22"/>
          <p:cNvSpPr/>
          <p:nvPr/>
        </p:nvSpPr>
        <p:spPr>
          <a:xfrm>
            <a:off x="548640" y="4526280"/>
            <a:ext cx="73152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Reference: Cunningham (2021), Causal Inference: The Mixtape, Ch.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How Lecture 10 Builds on Lecture 8</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51560"/>
            <a:ext cx="3840480" cy="3474720"/>
          </a:xfrm>
          <a:prstGeom prst="rect">
            <a:avLst/>
          </a:prstGeom>
          <a:solidFill>
            <a:srgbClr val="FFFFFF"/>
          </a:solidFill>
          <a:ln/>
        </p:spPr>
        <p:txBody>
          <a:bodyPr/>
          <a:lstStyle/>
          <a:p>
            <a:endParaRPr lang="en-US"/>
          </a:p>
        </p:txBody>
      </p:sp>
      <p:sp>
        <p:nvSpPr>
          <p:cNvPr id="7" name="Shape 5"/>
          <p:cNvSpPr/>
          <p:nvPr/>
        </p:nvSpPr>
        <p:spPr>
          <a:xfrm>
            <a:off x="457200" y="1051560"/>
            <a:ext cx="3840480" cy="457200"/>
          </a:xfrm>
          <a:prstGeom prst="rect">
            <a:avLst/>
          </a:prstGeom>
          <a:solidFill>
            <a:srgbClr val="1E2761"/>
          </a:solidFill>
          <a:ln/>
        </p:spPr>
        <p:txBody>
          <a:bodyPr/>
          <a:lstStyle/>
          <a:p>
            <a:endParaRPr lang="en-US"/>
          </a:p>
        </p:txBody>
      </p:sp>
      <p:sp>
        <p:nvSpPr>
          <p:cNvPr id="8" name="Text 6"/>
          <p:cNvSpPr/>
          <p:nvPr/>
        </p:nvSpPr>
        <p:spPr>
          <a:xfrm>
            <a:off x="640080" y="1078992"/>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Last time: Regression</a:t>
            </a:r>
            <a:endParaRPr lang="en-US" sz="1400" dirty="0"/>
          </a:p>
        </p:txBody>
      </p:sp>
      <p:sp>
        <p:nvSpPr>
          <p:cNvPr id="9" name="Text 7"/>
          <p:cNvSpPr/>
          <p:nvPr/>
        </p:nvSpPr>
        <p:spPr>
          <a:xfrm>
            <a:off x="640080" y="1691640"/>
            <a:ext cx="3474720"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OLS estimates correlations between X and Y</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Coefficients describe associations, not causes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We saw omitted variables can flip signs</a:t>
            </a:r>
            <a:endParaRPr lang="en-US" sz="1400" dirty="0"/>
          </a:p>
          <a:p>
            <a:pPr marL="342900" indent="-342900">
              <a:spcAft>
                <a:spcPts val="800"/>
              </a:spcAft>
              <a:buSzPct val="100000"/>
              <a:buChar char="•"/>
            </a:pPr>
            <a:r>
              <a:rPr lang="en-US" sz="1400" b="1" dirty="0">
                <a:solidFill>
                  <a:srgbClr val="E8943A"/>
                </a:solidFill>
                <a:latin typeface="Calibri" pitchFamily="34" charset="0"/>
                <a:ea typeface="Calibri" pitchFamily="34" charset="-122"/>
                <a:cs typeface="Calibri" pitchFamily="34" charset="-120"/>
              </a:rPr>
              <a:t>Question: when CAN regression identify a causal effect?</a:t>
            </a:r>
            <a:endParaRPr lang="en-US" sz="1400" dirty="0"/>
          </a:p>
        </p:txBody>
      </p:sp>
      <p:sp>
        <p:nvSpPr>
          <p:cNvPr id="10" name="Shape 8"/>
          <p:cNvSpPr/>
          <p:nvPr/>
        </p:nvSpPr>
        <p:spPr>
          <a:xfrm>
            <a:off x="4846320" y="1051560"/>
            <a:ext cx="3840480" cy="3474720"/>
          </a:xfrm>
          <a:prstGeom prst="rect">
            <a:avLst/>
          </a:prstGeom>
          <a:solidFill>
            <a:srgbClr val="FFFFFF"/>
          </a:solidFill>
          <a:ln/>
        </p:spPr>
        <p:txBody>
          <a:bodyPr/>
          <a:lstStyle/>
          <a:p>
            <a:endParaRPr lang="en-US"/>
          </a:p>
        </p:txBody>
      </p:sp>
      <p:sp>
        <p:nvSpPr>
          <p:cNvPr id="11" name="Shape 9"/>
          <p:cNvSpPr/>
          <p:nvPr/>
        </p:nvSpPr>
        <p:spPr>
          <a:xfrm>
            <a:off x="4846320" y="1051560"/>
            <a:ext cx="3840480" cy="457200"/>
          </a:xfrm>
          <a:prstGeom prst="rect">
            <a:avLst/>
          </a:prstGeom>
          <a:solidFill>
            <a:srgbClr val="E8943A"/>
          </a:solidFill>
          <a:ln/>
        </p:spPr>
        <p:txBody>
          <a:bodyPr/>
          <a:lstStyle/>
          <a:p>
            <a:endParaRPr lang="en-US"/>
          </a:p>
        </p:txBody>
      </p:sp>
      <p:sp>
        <p:nvSpPr>
          <p:cNvPr id="12" name="Text 10"/>
          <p:cNvSpPr/>
          <p:nvPr/>
        </p:nvSpPr>
        <p:spPr>
          <a:xfrm>
            <a:off x="5029200" y="1078992"/>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Today: Causal Inference</a:t>
            </a:r>
            <a:endParaRPr lang="en-US" sz="1400" dirty="0"/>
          </a:p>
        </p:txBody>
      </p:sp>
      <p:sp>
        <p:nvSpPr>
          <p:cNvPr id="13" name="Text 11"/>
          <p:cNvSpPr/>
          <p:nvPr/>
        </p:nvSpPr>
        <p:spPr>
          <a:xfrm>
            <a:off x="5029200" y="1691640"/>
            <a:ext cx="3474720"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A formal framework for what "causal" means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Why comparing treated vs. untreated is usually wrong</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A precise vocabulary: ATE, ATT, selection bias</a:t>
            </a:r>
            <a:endParaRPr lang="en-US" sz="1400" dirty="0"/>
          </a:p>
          <a:p>
            <a:pPr marL="342900" indent="-342900">
              <a:spcAft>
                <a:spcPts val="800"/>
              </a:spcAft>
              <a:buSzPct val="100000"/>
              <a:buChar char="•"/>
            </a:pPr>
            <a:r>
              <a:rPr lang="en-US" sz="1400" b="1" dirty="0">
                <a:solidFill>
                  <a:srgbClr val="E8943A"/>
                </a:solidFill>
                <a:latin typeface="Calibri" pitchFamily="34" charset="0"/>
                <a:ea typeface="Calibri" pitchFamily="34" charset="-122"/>
                <a:cs typeface="Calibri" pitchFamily="34" charset="-120"/>
              </a:rPr>
              <a:t>Randomization as the gold standard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Fundamental Problem of Causal Inference</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548640" y="1005840"/>
            <a:ext cx="7772400" cy="36576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A causal effect compares two states of the world for the same unit:</a:t>
            </a:r>
            <a:endParaRPr lang="en-US" sz="1500" dirty="0"/>
          </a:p>
        </p:txBody>
      </p:sp>
      <p:sp>
        <p:nvSpPr>
          <p:cNvPr id="7" name="Shape 5"/>
          <p:cNvSpPr/>
          <p:nvPr/>
        </p:nvSpPr>
        <p:spPr>
          <a:xfrm>
            <a:off x="548640" y="1554480"/>
            <a:ext cx="3474720" cy="1188720"/>
          </a:xfrm>
          <a:prstGeom prst="rect">
            <a:avLst/>
          </a:prstGeom>
          <a:solidFill>
            <a:srgbClr val="FFFFFF"/>
          </a:solidFill>
          <a:ln/>
        </p:spPr>
        <p:txBody>
          <a:bodyPr/>
          <a:lstStyle/>
          <a:p>
            <a:endParaRPr lang="en-US"/>
          </a:p>
        </p:txBody>
      </p:sp>
      <p:sp>
        <p:nvSpPr>
          <p:cNvPr id="8" name="Shape 6"/>
          <p:cNvSpPr/>
          <p:nvPr/>
        </p:nvSpPr>
        <p:spPr>
          <a:xfrm>
            <a:off x="548640" y="1554480"/>
            <a:ext cx="73152" cy="1188720"/>
          </a:xfrm>
          <a:prstGeom prst="rect">
            <a:avLst/>
          </a:prstGeom>
          <a:solidFill>
            <a:srgbClr val="27AE60"/>
          </a:solidFill>
          <a:ln/>
        </p:spPr>
        <p:txBody>
          <a:bodyPr/>
          <a:lstStyle/>
          <a:p>
            <a:endParaRPr lang="en-US"/>
          </a:p>
        </p:txBody>
      </p:sp>
      <p:sp>
        <p:nvSpPr>
          <p:cNvPr id="9" name="Text 7"/>
          <p:cNvSpPr/>
          <p:nvPr/>
        </p:nvSpPr>
        <p:spPr>
          <a:xfrm>
            <a:off x="822960" y="1645920"/>
            <a:ext cx="3119120" cy="9144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Actual world</a:t>
            </a: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Patient takes aspirin → headache severity = 2</a:t>
            </a:r>
            <a:endParaRPr lang="en-US" sz="1500" dirty="0"/>
          </a:p>
        </p:txBody>
      </p:sp>
      <p:sp>
        <p:nvSpPr>
          <p:cNvPr id="10" name="Shape 8"/>
          <p:cNvSpPr/>
          <p:nvPr/>
        </p:nvSpPr>
        <p:spPr>
          <a:xfrm>
            <a:off x="4663440" y="1554480"/>
            <a:ext cx="4023360" cy="1188720"/>
          </a:xfrm>
          <a:prstGeom prst="rect">
            <a:avLst/>
          </a:prstGeom>
          <a:solidFill>
            <a:srgbClr val="FFFFFF"/>
          </a:solidFill>
          <a:ln/>
        </p:spPr>
        <p:txBody>
          <a:bodyPr/>
          <a:lstStyle/>
          <a:p>
            <a:endParaRPr lang="en-US"/>
          </a:p>
        </p:txBody>
      </p:sp>
      <p:sp>
        <p:nvSpPr>
          <p:cNvPr id="11" name="Shape 9"/>
          <p:cNvSpPr/>
          <p:nvPr/>
        </p:nvSpPr>
        <p:spPr>
          <a:xfrm>
            <a:off x="4663440" y="1554480"/>
            <a:ext cx="73152" cy="1188720"/>
          </a:xfrm>
          <a:prstGeom prst="rect">
            <a:avLst/>
          </a:prstGeom>
          <a:solidFill>
            <a:srgbClr val="C0392B"/>
          </a:solidFill>
          <a:ln/>
        </p:spPr>
        <p:txBody>
          <a:bodyPr/>
          <a:lstStyle/>
          <a:p>
            <a:endParaRPr lang="en-US"/>
          </a:p>
        </p:txBody>
      </p:sp>
      <p:sp>
        <p:nvSpPr>
          <p:cNvPr id="12" name="Text 10"/>
          <p:cNvSpPr/>
          <p:nvPr/>
        </p:nvSpPr>
        <p:spPr>
          <a:xfrm>
            <a:off x="4937760" y="1645920"/>
            <a:ext cx="3657600" cy="9144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Counterfactual world</a:t>
            </a: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Same patient, no aspirin → headache severity = ?</a:t>
            </a:r>
            <a:endParaRPr lang="en-US" sz="1500" dirty="0"/>
          </a:p>
        </p:txBody>
      </p:sp>
      <p:sp>
        <p:nvSpPr>
          <p:cNvPr id="13" name="Shape 11"/>
          <p:cNvSpPr/>
          <p:nvPr/>
        </p:nvSpPr>
        <p:spPr>
          <a:xfrm>
            <a:off x="548640" y="3017520"/>
            <a:ext cx="8046720" cy="1371600"/>
          </a:xfrm>
          <a:prstGeom prst="rect">
            <a:avLst/>
          </a:prstGeom>
          <a:solidFill>
            <a:srgbClr val="FFF8F0"/>
          </a:solidFill>
          <a:ln/>
        </p:spPr>
        <p:txBody>
          <a:bodyPr/>
          <a:lstStyle/>
          <a:p>
            <a:endParaRPr lang="en-US"/>
          </a:p>
        </p:txBody>
      </p:sp>
      <p:sp>
        <p:nvSpPr>
          <p:cNvPr id="14" name="Shape 12"/>
          <p:cNvSpPr/>
          <p:nvPr/>
        </p:nvSpPr>
        <p:spPr>
          <a:xfrm>
            <a:off x="548640" y="3017520"/>
            <a:ext cx="73152" cy="1371600"/>
          </a:xfrm>
          <a:prstGeom prst="rect">
            <a:avLst/>
          </a:prstGeom>
          <a:solidFill>
            <a:srgbClr val="E8943A"/>
          </a:solidFill>
          <a:ln/>
        </p:spPr>
        <p:txBody>
          <a:bodyPr/>
          <a:lstStyle/>
          <a:p>
            <a:endParaRPr lang="en-US"/>
          </a:p>
        </p:txBody>
      </p:sp>
      <p:sp>
        <p:nvSpPr>
          <p:cNvPr id="15" name="Text 13"/>
          <p:cNvSpPr/>
          <p:nvPr/>
        </p:nvSpPr>
        <p:spPr>
          <a:xfrm>
            <a:off x="822960" y="3108960"/>
            <a:ext cx="7498080" cy="1188720"/>
          </a:xfrm>
          <a:prstGeom prst="rect">
            <a:avLst/>
          </a:prstGeom>
          <a:noFill/>
          <a:ln/>
        </p:spPr>
        <p:txBody>
          <a:bodyPr wrap="square" lIns="0" tIns="0" rIns="0" bIns="0" rtlCol="0" anchor="ctr"/>
          <a:lstStyle/>
          <a:p>
            <a:pPr marL="0" indent="0">
              <a:buNone/>
            </a:pPr>
            <a:r>
              <a:rPr lang="en-US" sz="1500" b="1" dirty="0">
                <a:solidFill>
                  <a:srgbClr val="E8943A"/>
                </a:solidFill>
                <a:latin typeface="Calibri" pitchFamily="34" charset="0"/>
                <a:ea typeface="Calibri" pitchFamily="34" charset="-122"/>
                <a:cs typeface="Calibri" pitchFamily="34" charset="-120"/>
              </a:rPr>
              <a:t>The Problem: </a:t>
            </a:r>
            <a:r>
              <a:rPr lang="en-US" sz="1500" dirty="0">
                <a:solidFill>
                  <a:srgbClr val="2B2B2B"/>
                </a:solidFill>
                <a:latin typeface="Calibri" pitchFamily="34" charset="0"/>
                <a:ea typeface="Calibri" pitchFamily="34" charset="-122"/>
                <a:cs typeface="Calibri" pitchFamily="34" charset="-120"/>
              </a:rPr>
              <a:t>We only ever observe ONE state of the world per unit.</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The counterfactual outcome is always missing. This is what Holland (1986) called </a:t>
            </a:r>
            <a:r>
              <a:rPr lang="en-US" sz="1300" i="1" dirty="0">
                <a:solidFill>
                  <a:srgbClr val="2B2B2B"/>
                </a:solidFill>
                <a:latin typeface="Calibri" pitchFamily="34" charset="0"/>
                <a:ea typeface="Calibri" pitchFamily="34" charset="-122"/>
                <a:cs typeface="Calibri" pitchFamily="34" charset="-120"/>
              </a:rPr>
              <a:t>"the fundamental problem of causal inference."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Potential Outcomes Notation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548640" y="960120"/>
            <a:ext cx="77724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Each unit i has two potential outcomes (Neyman 1923; Rubin 1974):</a:t>
            </a:r>
            <a:endParaRPr lang="en-US" sz="1400" dirty="0"/>
          </a:p>
        </p:txBody>
      </p:sp>
      <p:sp>
        <p:nvSpPr>
          <p:cNvPr id="7" name="Shape 5"/>
          <p:cNvSpPr/>
          <p:nvPr/>
        </p:nvSpPr>
        <p:spPr>
          <a:xfrm>
            <a:off x="548640" y="1417320"/>
            <a:ext cx="8046720" cy="438912"/>
          </a:xfrm>
          <a:prstGeom prst="rect">
            <a:avLst/>
          </a:prstGeom>
          <a:solidFill>
            <a:srgbClr val="FFFFFF"/>
          </a:solidFill>
          <a:ln/>
        </p:spPr>
        <p:txBody>
          <a:bodyPr/>
          <a:lstStyle/>
          <a:p>
            <a:endParaRPr lang="en-US"/>
          </a:p>
        </p:txBody>
      </p:sp>
      <p:sp>
        <p:nvSpPr>
          <p:cNvPr id="8" name="Text 6"/>
          <p:cNvSpPr/>
          <p:nvPr/>
        </p:nvSpPr>
        <p:spPr>
          <a:xfrm>
            <a:off x="731520" y="141732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Y¹ᵢ</a:t>
            </a:r>
            <a:endParaRPr lang="en-US" sz="1400" dirty="0"/>
          </a:p>
        </p:txBody>
      </p:sp>
      <p:sp>
        <p:nvSpPr>
          <p:cNvPr id="9" name="Text 7"/>
          <p:cNvSpPr/>
          <p:nvPr/>
        </p:nvSpPr>
        <p:spPr>
          <a:xfrm>
            <a:off x="3017520" y="141732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Outcome if unit i receives the treatment (D = 1)</a:t>
            </a:r>
            <a:endParaRPr lang="en-US" sz="1300" dirty="0"/>
          </a:p>
        </p:txBody>
      </p:sp>
      <p:sp>
        <p:nvSpPr>
          <p:cNvPr id="10" name="Shape 8"/>
          <p:cNvSpPr/>
          <p:nvPr/>
        </p:nvSpPr>
        <p:spPr>
          <a:xfrm>
            <a:off x="548640" y="1920240"/>
            <a:ext cx="8046720" cy="438912"/>
          </a:xfrm>
          <a:prstGeom prst="rect">
            <a:avLst/>
          </a:prstGeom>
          <a:solidFill>
            <a:srgbClr val="EEF0F7"/>
          </a:solidFill>
          <a:ln/>
        </p:spPr>
        <p:txBody>
          <a:bodyPr/>
          <a:lstStyle/>
          <a:p>
            <a:endParaRPr lang="en-US"/>
          </a:p>
        </p:txBody>
      </p:sp>
      <p:sp>
        <p:nvSpPr>
          <p:cNvPr id="11" name="Text 9"/>
          <p:cNvSpPr/>
          <p:nvPr/>
        </p:nvSpPr>
        <p:spPr>
          <a:xfrm>
            <a:off x="731520" y="192024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Y⁰ᵢ</a:t>
            </a:r>
            <a:endParaRPr lang="en-US" sz="1400" dirty="0"/>
          </a:p>
        </p:txBody>
      </p:sp>
      <p:sp>
        <p:nvSpPr>
          <p:cNvPr id="12" name="Text 10"/>
          <p:cNvSpPr/>
          <p:nvPr/>
        </p:nvSpPr>
        <p:spPr>
          <a:xfrm>
            <a:off x="3017520" y="192024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Outcome if unit i does NOT receive the treatment (D = 0)</a:t>
            </a:r>
            <a:endParaRPr lang="en-US" sz="1300" dirty="0"/>
          </a:p>
        </p:txBody>
      </p:sp>
      <p:sp>
        <p:nvSpPr>
          <p:cNvPr id="13" name="Shape 11"/>
          <p:cNvSpPr/>
          <p:nvPr/>
        </p:nvSpPr>
        <p:spPr>
          <a:xfrm>
            <a:off x="548640" y="2423160"/>
            <a:ext cx="8046720" cy="438912"/>
          </a:xfrm>
          <a:prstGeom prst="rect">
            <a:avLst/>
          </a:prstGeom>
          <a:solidFill>
            <a:srgbClr val="FFFFFF"/>
          </a:solidFill>
          <a:ln/>
        </p:spPr>
        <p:txBody>
          <a:bodyPr/>
          <a:lstStyle/>
          <a:p>
            <a:endParaRPr lang="en-US"/>
          </a:p>
        </p:txBody>
      </p:sp>
      <p:sp>
        <p:nvSpPr>
          <p:cNvPr id="14" name="Text 12"/>
          <p:cNvSpPr/>
          <p:nvPr/>
        </p:nvSpPr>
        <p:spPr>
          <a:xfrm>
            <a:off x="731520" y="242316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δᵢ = Y¹ᵢ − Y⁰ᵢ</a:t>
            </a:r>
            <a:endParaRPr lang="en-US" sz="1400" dirty="0"/>
          </a:p>
        </p:txBody>
      </p:sp>
      <p:sp>
        <p:nvSpPr>
          <p:cNvPr id="15" name="Text 13"/>
          <p:cNvSpPr/>
          <p:nvPr/>
        </p:nvSpPr>
        <p:spPr>
          <a:xfrm>
            <a:off x="3017520" y="242316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Individual treatment effect for unit i</a:t>
            </a:r>
            <a:endParaRPr lang="en-US" sz="1300" dirty="0"/>
          </a:p>
        </p:txBody>
      </p:sp>
      <p:sp>
        <p:nvSpPr>
          <p:cNvPr id="16" name="Shape 14"/>
          <p:cNvSpPr/>
          <p:nvPr/>
        </p:nvSpPr>
        <p:spPr>
          <a:xfrm>
            <a:off x="548640" y="3063240"/>
            <a:ext cx="8046720" cy="1371600"/>
          </a:xfrm>
          <a:prstGeom prst="rect">
            <a:avLst/>
          </a:prstGeom>
          <a:solidFill>
            <a:srgbClr val="FFFFFF"/>
          </a:solidFill>
          <a:ln/>
        </p:spPr>
        <p:txBody>
          <a:bodyPr/>
          <a:lstStyle/>
          <a:p>
            <a:endParaRPr lang="en-US"/>
          </a:p>
        </p:txBody>
      </p:sp>
      <p:sp>
        <p:nvSpPr>
          <p:cNvPr id="17" name="Shape 15"/>
          <p:cNvSpPr/>
          <p:nvPr/>
        </p:nvSpPr>
        <p:spPr>
          <a:xfrm>
            <a:off x="548640" y="3063240"/>
            <a:ext cx="8046720" cy="411480"/>
          </a:xfrm>
          <a:prstGeom prst="rect">
            <a:avLst/>
          </a:prstGeom>
          <a:solidFill>
            <a:srgbClr val="3A4F9A"/>
          </a:solidFill>
          <a:ln/>
        </p:spPr>
        <p:txBody>
          <a:bodyPr/>
          <a:lstStyle/>
          <a:p>
            <a:endParaRPr lang="en-US"/>
          </a:p>
        </p:txBody>
      </p:sp>
      <p:sp>
        <p:nvSpPr>
          <p:cNvPr id="18" name="Text 16"/>
          <p:cNvSpPr/>
          <p:nvPr/>
        </p:nvSpPr>
        <p:spPr>
          <a:xfrm>
            <a:off x="731520" y="3081528"/>
            <a:ext cx="73152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Switching Equation</a:t>
            </a:r>
            <a:endParaRPr lang="en-US" sz="1400" dirty="0"/>
          </a:p>
        </p:txBody>
      </p:sp>
      <p:sp>
        <p:nvSpPr>
          <p:cNvPr id="19" name="Text 17"/>
          <p:cNvSpPr/>
          <p:nvPr/>
        </p:nvSpPr>
        <p:spPr>
          <a:xfrm>
            <a:off x="731520" y="3520440"/>
            <a:ext cx="7680960" cy="822960"/>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Yᵢ = Dᵢ · Y¹ᵢ + (1 − Dᵢ) · Y⁰ᵢ</a:t>
            </a:r>
            <a:endParaRPr lang="en-US" sz="1600" dirty="0"/>
          </a:p>
          <a:p>
            <a:pPr marL="0" indent="0">
              <a:buNone/>
            </a:pPr>
            <a:endParaRPr lang="en-US" sz="1600" dirty="0"/>
          </a:p>
          <a:p>
            <a:pPr marL="0" indent="0">
              <a:buNone/>
            </a:pPr>
            <a:r>
              <a:rPr lang="en-US" sz="1200" dirty="0">
                <a:solidFill>
                  <a:srgbClr val="6B7280"/>
                </a:solidFill>
                <a:latin typeface="Calibri" pitchFamily="34" charset="0"/>
                <a:ea typeface="Calibri" pitchFamily="34" charset="-122"/>
                <a:cs typeface="Calibri" pitchFamily="34" charset="-120"/>
              </a:rPr>
              <a:t>If D=1 → we observe Y¹ but Y⁰ is missing.    If D=0 → we observe Y⁰ but Y¹ is missing.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Three Causal Parameters of Interest</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252248" y="930560"/>
            <a:ext cx="8818179" cy="863649"/>
          </a:xfrm>
          <a:prstGeom prst="rect">
            <a:avLst/>
          </a:prstGeom>
          <a:solidFill>
            <a:srgbClr val="FFFFFF"/>
          </a:solidFill>
          <a:ln/>
        </p:spPr>
        <p:txBody>
          <a:bodyPr/>
          <a:lstStyle/>
          <a:p>
            <a:endParaRPr lang="en-US"/>
          </a:p>
        </p:txBody>
      </p:sp>
      <p:sp>
        <p:nvSpPr>
          <p:cNvPr id="7" name="Shape 5"/>
          <p:cNvSpPr/>
          <p:nvPr/>
        </p:nvSpPr>
        <p:spPr>
          <a:xfrm>
            <a:off x="252248" y="930560"/>
            <a:ext cx="78384" cy="863649"/>
          </a:xfrm>
          <a:prstGeom prst="rect">
            <a:avLst/>
          </a:prstGeom>
          <a:solidFill>
            <a:srgbClr val="1E2761"/>
          </a:solidFill>
          <a:ln/>
        </p:spPr>
        <p:txBody>
          <a:bodyPr/>
          <a:lstStyle/>
          <a:p>
            <a:endParaRPr lang="en-US"/>
          </a:p>
        </p:txBody>
      </p:sp>
      <p:sp>
        <p:nvSpPr>
          <p:cNvPr id="8" name="Shape 6"/>
          <p:cNvSpPr/>
          <p:nvPr/>
        </p:nvSpPr>
        <p:spPr>
          <a:xfrm>
            <a:off x="546187" y="1020680"/>
            <a:ext cx="685858" cy="262850"/>
          </a:xfrm>
          <a:prstGeom prst="rect">
            <a:avLst/>
          </a:prstGeom>
          <a:solidFill>
            <a:srgbClr val="1E2761"/>
          </a:solidFill>
          <a:ln/>
        </p:spPr>
        <p:txBody>
          <a:bodyPr/>
          <a:lstStyle/>
          <a:p>
            <a:endParaRPr lang="en-US"/>
          </a:p>
        </p:txBody>
      </p:sp>
      <p:sp>
        <p:nvSpPr>
          <p:cNvPr id="9" name="Text 7"/>
          <p:cNvSpPr/>
          <p:nvPr/>
        </p:nvSpPr>
        <p:spPr>
          <a:xfrm>
            <a:off x="546187" y="1020680"/>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ATE</a:t>
            </a:r>
            <a:endParaRPr lang="en-US" sz="1300" dirty="0"/>
          </a:p>
        </p:txBody>
      </p:sp>
      <p:sp>
        <p:nvSpPr>
          <p:cNvPr id="10" name="Text 8"/>
          <p:cNvSpPr/>
          <p:nvPr/>
        </p:nvSpPr>
        <p:spPr>
          <a:xfrm>
            <a:off x="1379015" y="1005660"/>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a:t>
            </a:r>
            <a:endParaRPr lang="en-US" sz="1400" dirty="0"/>
          </a:p>
        </p:txBody>
      </p:sp>
      <p:sp>
        <p:nvSpPr>
          <p:cNvPr id="11" name="Text 9"/>
          <p:cNvSpPr/>
          <p:nvPr/>
        </p:nvSpPr>
        <p:spPr>
          <a:xfrm>
            <a:off x="5151236" y="968110"/>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E[Y⁰ᵢ]</a:t>
            </a:r>
            <a:endParaRPr lang="en-US" sz="1300" dirty="0"/>
          </a:p>
        </p:txBody>
      </p:sp>
      <p:sp>
        <p:nvSpPr>
          <p:cNvPr id="12" name="Text 10"/>
          <p:cNvSpPr/>
          <p:nvPr/>
        </p:nvSpPr>
        <p:spPr>
          <a:xfrm>
            <a:off x="1379015" y="1343610"/>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across the entire population</a:t>
            </a:r>
            <a:endParaRPr lang="en-US" sz="1200" dirty="0"/>
          </a:p>
        </p:txBody>
      </p:sp>
      <p:sp>
        <p:nvSpPr>
          <p:cNvPr id="13" name="Shape 11"/>
          <p:cNvSpPr/>
          <p:nvPr/>
        </p:nvSpPr>
        <p:spPr>
          <a:xfrm>
            <a:off x="252248" y="1906859"/>
            <a:ext cx="8818179" cy="863649"/>
          </a:xfrm>
          <a:prstGeom prst="rect">
            <a:avLst/>
          </a:prstGeom>
          <a:solidFill>
            <a:srgbClr val="FFFFFF"/>
          </a:solidFill>
          <a:ln/>
        </p:spPr>
        <p:txBody>
          <a:bodyPr/>
          <a:lstStyle/>
          <a:p>
            <a:endParaRPr lang="en-US"/>
          </a:p>
        </p:txBody>
      </p:sp>
      <p:sp>
        <p:nvSpPr>
          <p:cNvPr id="14" name="Shape 12"/>
          <p:cNvSpPr/>
          <p:nvPr/>
        </p:nvSpPr>
        <p:spPr>
          <a:xfrm>
            <a:off x="252248" y="1906859"/>
            <a:ext cx="78384" cy="863649"/>
          </a:xfrm>
          <a:prstGeom prst="rect">
            <a:avLst/>
          </a:prstGeom>
          <a:solidFill>
            <a:srgbClr val="3A4F9A"/>
          </a:solidFill>
          <a:ln/>
        </p:spPr>
        <p:txBody>
          <a:bodyPr/>
          <a:lstStyle/>
          <a:p>
            <a:endParaRPr lang="en-US"/>
          </a:p>
        </p:txBody>
      </p:sp>
      <p:sp>
        <p:nvSpPr>
          <p:cNvPr id="15" name="Shape 13"/>
          <p:cNvSpPr/>
          <p:nvPr/>
        </p:nvSpPr>
        <p:spPr>
          <a:xfrm>
            <a:off x="546187" y="1996979"/>
            <a:ext cx="685858" cy="262850"/>
          </a:xfrm>
          <a:prstGeom prst="rect">
            <a:avLst/>
          </a:prstGeom>
          <a:solidFill>
            <a:srgbClr val="3A4F9A"/>
          </a:solidFill>
          <a:ln/>
        </p:spPr>
        <p:txBody>
          <a:bodyPr/>
          <a:lstStyle/>
          <a:p>
            <a:endParaRPr lang="en-US"/>
          </a:p>
        </p:txBody>
      </p:sp>
      <p:sp>
        <p:nvSpPr>
          <p:cNvPr id="16" name="Text 14"/>
          <p:cNvSpPr/>
          <p:nvPr/>
        </p:nvSpPr>
        <p:spPr>
          <a:xfrm>
            <a:off x="546187" y="1996979"/>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ATT</a:t>
            </a:r>
            <a:endParaRPr lang="en-US" sz="1300" dirty="0"/>
          </a:p>
        </p:txBody>
      </p:sp>
      <p:sp>
        <p:nvSpPr>
          <p:cNvPr id="17" name="Text 15"/>
          <p:cNvSpPr/>
          <p:nvPr/>
        </p:nvSpPr>
        <p:spPr>
          <a:xfrm>
            <a:off x="1379015" y="1981959"/>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 on the Treated</a:t>
            </a:r>
            <a:endParaRPr lang="en-US" sz="1400" dirty="0"/>
          </a:p>
        </p:txBody>
      </p:sp>
      <p:sp>
        <p:nvSpPr>
          <p:cNvPr id="18" name="Text 16"/>
          <p:cNvSpPr/>
          <p:nvPr/>
        </p:nvSpPr>
        <p:spPr>
          <a:xfrm>
            <a:off x="5151236" y="1944409"/>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D=1] − E[Y⁰ᵢ | D=1]</a:t>
            </a:r>
            <a:endParaRPr lang="en-US" sz="1300" dirty="0"/>
          </a:p>
        </p:txBody>
      </p:sp>
      <p:sp>
        <p:nvSpPr>
          <p:cNvPr id="19" name="Text 17"/>
          <p:cNvSpPr/>
          <p:nvPr/>
        </p:nvSpPr>
        <p:spPr>
          <a:xfrm>
            <a:off x="1379015" y="2319909"/>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for those who actually received treatment</a:t>
            </a:r>
            <a:endParaRPr lang="en-US" sz="1200" dirty="0"/>
          </a:p>
        </p:txBody>
      </p:sp>
      <p:sp>
        <p:nvSpPr>
          <p:cNvPr id="20" name="Shape 18"/>
          <p:cNvSpPr/>
          <p:nvPr/>
        </p:nvSpPr>
        <p:spPr>
          <a:xfrm>
            <a:off x="252248" y="2883158"/>
            <a:ext cx="8818179" cy="863649"/>
          </a:xfrm>
          <a:prstGeom prst="rect">
            <a:avLst/>
          </a:prstGeom>
          <a:solidFill>
            <a:srgbClr val="FFFFFF"/>
          </a:solidFill>
          <a:ln/>
        </p:spPr>
        <p:txBody>
          <a:bodyPr/>
          <a:lstStyle/>
          <a:p>
            <a:endParaRPr lang="en-US"/>
          </a:p>
        </p:txBody>
      </p:sp>
      <p:sp>
        <p:nvSpPr>
          <p:cNvPr id="21" name="Shape 19"/>
          <p:cNvSpPr/>
          <p:nvPr/>
        </p:nvSpPr>
        <p:spPr>
          <a:xfrm>
            <a:off x="252248" y="2883158"/>
            <a:ext cx="78384" cy="863649"/>
          </a:xfrm>
          <a:prstGeom prst="rect">
            <a:avLst/>
          </a:prstGeom>
          <a:solidFill>
            <a:srgbClr val="5B6BAA"/>
          </a:solidFill>
          <a:ln/>
        </p:spPr>
        <p:txBody>
          <a:bodyPr/>
          <a:lstStyle/>
          <a:p>
            <a:endParaRPr lang="en-US"/>
          </a:p>
        </p:txBody>
      </p:sp>
      <p:sp>
        <p:nvSpPr>
          <p:cNvPr id="22" name="Shape 20"/>
          <p:cNvSpPr/>
          <p:nvPr/>
        </p:nvSpPr>
        <p:spPr>
          <a:xfrm>
            <a:off x="546187" y="2973278"/>
            <a:ext cx="685858" cy="262850"/>
          </a:xfrm>
          <a:prstGeom prst="rect">
            <a:avLst/>
          </a:prstGeom>
          <a:solidFill>
            <a:srgbClr val="5B6BAA"/>
          </a:solidFill>
          <a:ln/>
        </p:spPr>
        <p:txBody>
          <a:bodyPr/>
          <a:lstStyle/>
          <a:p>
            <a:endParaRPr lang="en-US"/>
          </a:p>
        </p:txBody>
      </p:sp>
      <p:sp>
        <p:nvSpPr>
          <p:cNvPr id="23" name="Text 21"/>
          <p:cNvSpPr/>
          <p:nvPr/>
        </p:nvSpPr>
        <p:spPr>
          <a:xfrm>
            <a:off x="546187" y="2973278"/>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ATU</a:t>
            </a:r>
            <a:endParaRPr lang="en-US" sz="1300" dirty="0"/>
          </a:p>
        </p:txBody>
      </p:sp>
      <p:sp>
        <p:nvSpPr>
          <p:cNvPr id="24" name="Text 22"/>
          <p:cNvSpPr/>
          <p:nvPr/>
        </p:nvSpPr>
        <p:spPr>
          <a:xfrm>
            <a:off x="1379015" y="2958258"/>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 on the Untreated</a:t>
            </a:r>
            <a:endParaRPr lang="en-US" sz="1400" dirty="0"/>
          </a:p>
        </p:txBody>
      </p:sp>
      <p:sp>
        <p:nvSpPr>
          <p:cNvPr id="25" name="Text 23"/>
          <p:cNvSpPr/>
          <p:nvPr/>
        </p:nvSpPr>
        <p:spPr>
          <a:xfrm>
            <a:off x="5151236" y="2920708"/>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D=0] − E[Y⁰ᵢ | D=0]</a:t>
            </a:r>
            <a:endParaRPr lang="en-US" sz="1300" dirty="0"/>
          </a:p>
        </p:txBody>
      </p:sp>
      <p:sp>
        <p:nvSpPr>
          <p:cNvPr id="26" name="Text 24"/>
          <p:cNvSpPr/>
          <p:nvPr/>
        </p:nvSpPr>
        <p:spPr>
          <a:xfrm>
            <a:off x="1379015" y="3296207"/>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for those who did NOT receive treatment</a:t>
            </a:r>
            <a:endParaRPr lang="en-US" sz="1200" dirty="0"/>
          </a:p>
        </p:txBody>
      </p:sp>
      <p:sp>
        <p:nvSpPr>
          <p:cNvPr id="30" name="Shape 18">
            <a:extLst>
              <a:ext uri="{FF2B5EF4-FFF2-40B4-BE49-F238E27FC236}">
                <a16:creationId xmlns:a16="http://schemas.microsoft.com/office/drawing/2014/main" id="{7DC9425C-FECA-B9C8-B61E-F1C0F303DA13}"/>
              </a:ext>
            </a:extLst>
          </p:cNvPr>
          <p:cNvSpPr/>
          <p:nvPr/>
        </p:nvSpPr>
        <p:spPr>
          <a:xfrm>
            <a:off x="252248" y="3859457"/>
            <a:ext cx="8818179" cy="863649"/>
          </a:xfrm>
          <a:prstGeom prst="rect">
            <a:avLst/>
          </a:prstGeom>
          <a:solidFill>
            <a:srgbClr val="FFFFFF"/>
          </a:solidFill>
          <a:ln/>
        </p:spPr>
        <p:txBody>
          <a:bodyPr/>
          <a:lstStyle/>
          <a:p>
            <a:endParaRPr lang="en-US" dirty="0"/>
          </a:p>
        </p:txBody>
      </p:sp>
      <p:sp>
        <p:nvSpPr>
          <p:cNvPr id="31" name="Shape 19">
            <a:extLst>
              <a:ext uri="{FF2B5EF4-FFF2-40B4-BE49-F238E27FC236}">
                <a16:creationId xmlns:a16="http://schemas.microsoft.com/office/drawing/2014/main" id="{2189DA74-AF89-E991-3991-2B385B36DD74}"/>
              </a:ext>
            </a:extLst>
          </p:cNvPr>
          <p:cNvSpPr/>
          <p:nvPr/>
        </p:nvSpPr>
        <p:spPr>
          <a:xfrm>
            <a:off x="252248" y="3859457"/>
            <a:ext cx="78384" cy="863649"/>
          </a:xfrm>
          <a:prstGeom prst="rect">
            <a:avLst/>
          </a:prstGeom>
          <a:solidFill>
            <a:srgbClr val="5B6BAA"/>
          </a:solidFill>
          <a:ln/>
        </p:spPr>
        <p:txBody>
          <a:bodyPr/>
          <a:lstStyle/>
          <a:p>
            <a:endParaRPr lang="en-US"/>
          </a:p>
        </p:txBody>
      </p:sp>
      <p:sp>
        <p:nvSpPr>
          <p:cNvPr id="32" name="Shape 20">
            <a:extLst>
              <a:ext uri="{FF2B5EF4-FFF2-40B4-BE49-F238E27FC236}">
                <a16:creationId xmlns:a16="http://schemas.microsoft.com/office/drawing/2014/main" id="{B11A07DE-3D25-5779-807B-E21D2DC2F5BE}"/>
              </a:ext>
            </a:extLst>
          </p:cNvPr>
          <p:cNvSpPr/>
          <p:nvPr/>
        </p:nvSpPr>
        <p:spPr>
          <a:xfrm>
            <a:off x="546187" y="3949577"/>
            <a:ext cx="685858" cy="262850"/>
          </a:xfrm>
          <a:prstGeom prst="rect">
            <a:avLst/>
          </a:prstGeom>
          <a:solidFill>
            <a:srgbClr val="5B6BAA"/>
          </a:solidFill>
          <a:ln/>
        </p:spPr>
        <p:txBody>
          <a:bodyPr/>
          <a:lstStyle/>
          <a:p>
            <a:endParaRPr lang="en-US"/>
          </a:p>
        </p:txBody>
      </p:sp>
      <p:sp>
        <p:nvSpPr>
          <p:cNvPr id="33" name="Text 21">
            <a:extLst>
              <a:ext uri="{FF2B5EF4-FFF2-40B4-BE49-F238E27FC236}">
                <a16:creationId xmlns:a16="http://schemas.microsoft.com/office/drawing/2014/main" id="{C24B362A-7835-1042-CD08-44AC2817E511}"/>
              </a:ext>
            </a:extLst>
          </p:cNvPr>
          <p:cNvSpPr/>
          <p:nvPr/>
        </p:nvSpPr>
        <p:spPr>
          <a:xfrm>
            <a:off x="546187" y="3949577"/>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ATE</a:t>
            </a:r>
            <a:endParaRPr lang="en-US" sz="1300" dirty="0"/>
          </a:p>
        </p:txBody>
      </p:sp>
      <p:sp>
        <p:nvSpPr>
          <p:cNvPr id="34" name="Text 22">
            <a:extLst>
              <a:ext uri="{FF2B5EF4-FFF2-40B4-BE49-F238E27FC236}">
                <a16:creationId xmlns:a16="http://schemas.microsoft.com/office/drawing/2014/main" id="{78A28E58-CDED-EDDB-90A0-4A1CDFD09B79}"/>
              </a:ext>
            </a:extLst>
          </p:cNvPr>
          <p:cNvSpPr/>
          <p:nvPr/>
        </p:nvSpPr>
        <p:spPr>
          <a:xfrm>
            <a:off x="1379015" y="3934557"/>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a:t>
            </a:r>
            <a:endParaRPr lang="en-US" sz="1400" dirty="0"/>
          </a:p>
        </p:txBody>
      </p:sp>
      <mc:AlternateContent xmlns:mc="http://schemas.openxmlformats.org/markup-compatibility/2006">
        <mc:Choice xmlns:a14="http://schemas.microsoft.com/office/drawing/2010/main" Requires="a14">
          <p:sp>
            <p:nvSpPr>
              <p:cNvPr id="35" name="Text 23">
                <a:extLst>
                  <a:ext uri="{FF2B5EF4-FFF2-40B4-BE49-F238E27FC236}">
                    <a16:creationId xmlns:a16="http://schemas.microsoft.com/office/drawing/2014/main" id="{21D274E5-2D03-9AA7-D2FE-F511A8085371}"/>
                  </a:ext>
                </a:extLst>
              </p:cNvPr>
              <p:cNvSpPr/>
              <p:nvPr/>
            </p:nvSpPr>
            <p:spPr>
              <a:xfrm>
                <a:off x="5151236" y="3897007"/>
                <a:ext cx="3723231" cy="337950"/>
              </a:xfrm>
              <a:prstGeom prst="rect">
                <a:avLst/>
              </a:prstGeom>
              <a:solidFill>
                <a:srgbClr val="F0F2FA"/>
              </a:solidFill>
              <a:ln/>
            </p:spPr>
            <p:txBody>
              <a:bodyPr wrap="square" lIns="0" tIns="0" rIns="0" bIns="0" rtlCol="0" anchor="ctr"/>
              <a:lstStyle/>
              <a:p>
                <a:pPr algn="ctr"/>
                <a:r>
                  <a:rPr lang="en-US" sz="1300" dirty="0">
                    <a:solidFill>
                      <a:srgbClr val="1E2761"/>
                    </a:solidFill>
                    <a:latin typeface="Consolas" pitchFamily="34" charset="0"/>
                    <a:cs typeface="Consolas" pitchFamily="34" charset="-120"/>
                  </a:rPr>
                  <a:t>ATE = </a:t>
                </a:r>
                <a14:m>
                  <m:oMath xmlns:m="http://schemas.openxmlformats.org/officeDocument/2006/math">
                    <m:r>
                      <a:rPr lang="en-US" sz="13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300" dirty="0">
                    <a:solidFill>
                      <a:srgbClr val="1E2761"/>
                    </a:solidFill>
                    <a:latin typeface="Consolas" pitchFamily="34" charset="0"/>
                    <a:cs typeface="Consolas" pitchFamily="34" charset="-120"/>
                  </a:rPr>
                  <a:t> </a:t>
                </a:r>
                <a14:m>
                  <m:oMath xmlns:m="http://schemas.openxmlformats.org/officeDocument/2006/math">
                    <m:r>
                      <a:rPr lang="en-US" sz="1300" i="1" dirty="0" smtClean="0">
                        <a:solidFill>
                          <a:srgbClr val="1E2761"/>
                        </a:solidFill>
                        <a:latin typeface="Cambria Math" panose="02040503050406030204" pitchFamily="18" charset="0"/>
                        <a:ea typeface="Cambria Math" panose="02040503050406030204" pitchFamily="18" charset="0"/>
                        <a:cs typeface="Consolas" pitchFamily="34" charset="-120"/>
                      </a:rPr>
                      <m:t>∙</m:t>
                    </m:r>
                  </m:oMath>
                </a14:m>
                <a:r>
                  <a:rPr lang="en-US" sz="1300" dirty="0">
                    <a:solidFill>
                      <a:srgbClr val="1E2761"/>
                    </a:solidFill>
                    <a:latin typeface="Consolas" pitchFamily="34" charset="0"/>
                    <a:cs typeface="Consolas" pitchFamily="34" charset="-120"/>
                  </a:rPr>
                  <a:t> ATT + (1-</a:t>
                </a:r>
                <a14:m>
                  <m:oMath xmlns:m="http://schemas.openxmlformats.org/officeDocument/2006/math">
                    <m:r>
                      <a:rPr lang="en-US" sz="13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300" dirty="0"/>
                  <a:t>) </a:t>
                </a:r>
                <a14:m>
                  <m:oMath xmlns:m="http://schemas.openxmlformats.org/officeDocument/2006/math">
                    <m:r>
                      <a:rPr lang="en-US" sz="1300" i="1" dirty="0">
                        <a:solidFill>
                          <a:srgbClr val="1E2761"/>
                        </a:solidFill>
                        <a:latin typeface="Cambria Math" panose="02040503050406030204" pitchFamily="18" charset="0"/>
                        <a:ea typeface="Cambria Math" panose="02040503050406030204" pitchFamily="18" charset="0"/>
                        <a:cs typeface="Consolas" pitchFamily="34" charset="-120"/>
                      </a:rPr>
                      <m:t>∙</m:t>
                    </m:r>
                  </m:oMath>
                </a14:m>
                <a:r>
                  <a:rPr lang="en-US" sz="1300" dirty="0"/>
                  <a:t> ATU </a:t>
                </a:r>
              </a:p>
            </p:txBody>
          </p:sp>
        </mc:Choice>
        <mc:Fallback>
          <p:sp>
            <p:nvSpPr>
              <p:cNvPr id="35" name="Text 23">
                <a:extLst>
                  <a:ext uri="{FF2B5EF4-FFF2-40B4-BE49-F238E27FC236}">
                    <a16:creationId xmlns:a16="http://schemas.microsoft.com/office/drawing/2014/main" id="{21D274E5-2D03-9AA7-D2FE-F511A8085371}"/>
                  </a:ext>
                </a:extLst>
              </p:cNvPr>
              <p:cNvSpPr>
                <a:spLocks noRot="1" noChangeAspect="1" noMove="1" noResize="1" noEditPoints="1" noAdjustHandles="1" noChangeArrowheads="1" noChangeShapeType="1" noTextEdit="1"/>
              </p:cNvSpPr>
              <p:nvPr/>
            </p:nvSpPr>
            <p:spPr>
              <a:xfrm>
                <a:off x="5151236" y="3897007"/>
                <a:ext cx="3723231" cy="337950"/>
              </a:xfrm>
              <a:prstGeom prst="rect">
                <a:avLst/>
              </a:prstGeom>
              <a:blipFill>
                <a:blip r:embed="rId3"/>
                <a:stretch>
                  <a:fillRect b="-7143"/>
                </a:stretch>
              </a:blipFill>
              <a:ln/>
            </p:spPr>
            <p:txBody>
              <a:bodyPr/>
              <a:lstStyle/>
              <a:p>
                <a:r>
                  <a:rPr lang="en-US">
                    <a:noFill/>
                  </a:rPr>
                  <a:t> </a:t>
                </a:r>
              </a:p>
            </p:txBody>
          </p:sp>
        </mc:Fallback>
      </mc:AlternateContent>
      <p:sp>
        <p:nvSpPr>
          <p:cNvPr id="36" name="Text 24">
            <a:extLst>
              <a:ext uri="{FF2B5EF4-FFF2-40B4-BE49-F238E27FC236}">
                <a16:creationId xmlns:a16="http://schemas.microsoft.com/office/drawing/2014/main" id="{C198E28F-AFCE-ACB5-99D5-518451E13C43}"/>
              </a:ext>
            </a:extLst>
          </p:cNvPr>
          <p:cNvSpPr/>
          <p:nvPr/>
        </p:nvSpPr>
        <p:spPr>
          <a:xfrm>
            <a:off x="1379015" y="4272506"/>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across the entire population</a:t>
            </a:r>
            <a:endParaRPr lang="en-US" sz="1200" dirty="0"/>
          </a:p>
        </p:txBody>
      </p:sp>
      <mc:AlternateContent xmlns:mc="http://schemas.openxmlformats.org/markup-compatibility/2006">
        <mc:Choice xmlns:a14="http://schemas.microsoft.com/office/drawing/2010/main" Requires="a14">
          <p:sp>
            <p:nvSpPr>
              <p:cNvPr id="37" name="Text 23">
                <a:extLst>
                  <a:ext uri="{FF2B5EF4-FFF2-40B4-BE49-F238E27FC236}">
                    <a16:creationId xmlns:a16="http://schemas.microsoft.com/office/drawing/2014/main" id="{6952C716-67CB-C58C-B3D0-9000A4355032}"/>
                  </a:ext>
                </a:extLst>
              </p:cNvPr>
              <p:cNvSpPr/>
              <p:nvPr/>
            </p:nvSpPr>
            <p:spPr>
              <a:xfrm>
                <a:off x="5151236" y="4310056"/>
                <a:ext cx="3723231" cy="337950"/>
              </a:xfrm>
              <a:prstGeom prst="rect">
                <a:avLst/>
              </a:prstGeom>
              <a:noFill/>
              <a:ln/>
            </p:spPr>
            <p:txBody>
              <a:bodyPr wrap="square" lIns="0" tIns="0" rIns="0" bIns="0" rtlCol="0" anchor="ctr"/>
              <a:lstStyle/>
              <a:p>
                <a:pPr algn="ctr"/>
                <a14:m>
                  <m:oMath xmlns:m="http://schemas.openxmlformats.org/officeDocument/2006/math">
                    <m:r>
                      <a:rPr lang="en-US" sz="12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200" dirty="0">
                    <a:solidFill>
                      <a:srgbClr val="1E2761"/>
                    </a:solidFill>
                    <a:latin typeface="Consolas" pitchFamily="34" charset="0"/>
                    <a:cs typeface="Consolas" pitchFamily="34" charset="-120"/>
                  </a:rPr>
                  <a:t> =share treated</a:t>
                </a:r>
                <a:endParaRPr lang="en-US" sz="1200" dirty="0"/>
              </a:p>
            </p:txBody>
          </p:sp>
        </mc:Choice>
        <mc:Fallback>
          <p:sp>
            <p:nvSpPr>
              <p:cNvPr id="37" name="Text 23">
                <a:extLst>
                  <a:ext uri="{FF2B5EF4-FFF2-40B4-BE49-F238E27FC236}">
                    <a16:creationId xmlns:a16="http://schemas.microsoft.com/office/drawing/2014/main" id="{6952C716-67CB-C58C-B3D0-9000A4355032}"/>
                  </a:ext>
                </a:extLst>
              </p:cNvPr>
              <p:cNvSpPr>
                <a:spLocks noRot="1" noChangeAspect="1" noMove="1" noResize="1" noEditPoints="1" noAdjustHandles="1" noChangeArrowheads="1" noChangeShapeType="1" noTextEdit="1"/>
              </p:cNvSpPr>
              <p:nvPr/>
            </p:nvSpPr>
            <p:spPr>
              <a:xfrm>
                <a:off x="5151236" y="4310056"/>
                <a:ext cx="3723231" cy="337950"/>
              </a:xfrm>
              <a:prstGeom prst="rect">
                <a:avLst/>
              </a:prstGeom>
              <a:blipFill>
                <a:blip r:embed="rId4"/>
                <a:stretch>
                  <a:fillRect b="-3704"/>
                </a:stretch>
              </a:blipFill>
              <a:ln/>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Example: Surgery vs. Chemo — Full Potential Outcomes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Imagine we could observe BOTH potential outcomes (post-treatment life span in years):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0" y="1371600"/>
          <a:ext cx="6400800" cy="28651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δᵢ = Y¹−Y⁰</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25D8-B162-368D-9520-1F22BC506B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6EAA64-2CDC-5301-323F-C34ADEDB6A92}"/>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0822FFCE-A049-6FE3-7C73-A59A3EF4298A}"/>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Computing the ATE </a:t>
            </a:r>
            <a:endParaRPr lang="en-US" sz="2600" dirty="0"/>
          </a:p>
        </p:txBody>
      </p:sp>
      <p:sp>
        <p:nvSpPr>
          <p:cNvPr id="4" name="Shape 2">
            <a:extLst>
              <a:ext uri="{FF2B5EF4-FFF2-40B4-BE49-F238E27FC236}">
                <a16:creationId xmlns:a16="http://schemas.microsoft.com/office/drawing/2014/main" id="{C7835B75-16EE-4EB9-D607-C69AAEEBAFDF}"/>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43ECAE4F-FB63-E5DA-CC3A-C5F4EE497AFE}"/>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29266384-09C4-6A90-AF65-7075A2FCDD0F}"/>
              </a:ext>
            </a:extLst>
          </p:cNvPr>
          <p:cNvSpPr/>
          <p:nvPr/>
        </p:nvSpPr>
        <p:spPr>
          <a:xfrm>
            <a:off x="304800" y="823214"/>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cs typeface="Calibri" pitchFamily="34" charset="-120"/>
              </a:rPr>
              <a:t>Let’s manually compute the ATE (we’ll do it in Python later)  </a:t>
            </a:r>
            <a:endParaRPr lang="en-US" sz="1300" dirty="0"/>
          </a:p>
        </p:txBody>
      </p:sp>
      <p:graphicFrame>
        <p:nvGraphicFramePr>
          <p:cNvPr id="8" name="Table 0">
            <a:extLst>
              <a:ext uri="{FF2B5EF4-FFF2-40B4-BE49-F238E27FC236}">
                <a16:creationId xmlns:a16="http://schemas.microsoft.com/office/drawing/2014/main" id="{E2E4E3DA-6540-FB11-A30E-31F4D8D9C61D}"/>
              </a:ext>
            </a:extLst>
          </p:cNvPr>
          <p:cNvGraphicFramePr>
            <a:graphicFrameLocks noGrp="1"/>
          </p:cNvGraphicFramePr>
          <p:nvPr>
            <p:extLst>
              <p:ext uri="{D42A27DB-BD31-4B8C-83A1-F6EECF244321}">
                <p14:modId xmlns:p14="http://schemas.microsoft.com/office/powerpoint/2010/main" val="3440237299"/>
              </p:ext>
            </p:extLst>
          </p:nvPr>
        </p:nvGraphicFramePr>
        <p:xfrm>
          <a:off x="6126480" y="1076452"/>
          <a:ext cx="2854960" cy="2865120"/>
        </p:xfrm>
        <a:graphic>
          <a:graphicData uri="http://schemas.openxmlformats.org/drawingml/2006/table">
            <a:tbl>
              <a:tblPr/>
              <a:tblGrid>
                <a:gridCol w="711200">
                  <a:extLst>
                    <a:ext uri="{9D8B030D-6E8A-4147-A177-3AD203B41FA5}">
                      <a16:colId xmlns:a16="http://schemas.microsoft.com/office/drawing/2014/main" val="20000"/>
                    </a:ext>
                  </a:extLst>
                </a:gridCol>
                <a:gridCol w="92456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7" name="Shape 5">
            <a:extLst>
              <a:ext uri="{FF2B5EF4-FFF2-40B4-BE49-F238E27FC236}">
                <a16:creationId xmlns:a16="http://schemas.microsoft.com/office/drawing/2014/main" id="{F35546F0-B112-DA58-9424-B9C9A8398525}"/>
              </a:ext>
            </a:extLst>
          </p:cNvPr>
          <p:cNvSpPr/>
          <p:nvPr/>
        </p:nvSpPr>
        <p:spPr>
          <a:xfrm>
            <a:off x="182880" y="4205986"/>
            <a:ext cx="8229600" cy="457200"/>
          </a:xfrm>
          <a:prstGeom prst="rect">
            <a:avLst/>
          </a:prstGeom>
          <a:solidFill>
            <a:srgbClr val="E8F4E8"/>
          </a:solidFill>
          <a:ln/>
        </p:spPr>
        <p:txBody>
          <a:bodyPr/>
          <a:lstStyle/>
          <a:p>
            <a:endParaRPr lang="en-US"/>
          </a:p>
        </p:txBody>
      </p:sp>
      <p:sp>
        <p:nvSpPr>
          <p:cNvPr id="9" name="Text 6">
            <a:extLst>
              <a:ext uri="{FF2B5EF4-FFF2-40B4-BE49-F238E27FC236}">
                <a16:creationId xmlns:a16="http://schemas.microsoft.com/office/drawing/2014/main" id="{EFA62DF5-6DE8-2EE8-BF50-456AAB32A1AE}"/>
              </a:ext>
            </a:extLst>
          </p:cNvPr>
          <p:cNvSpPr/>
          <p:nvPr/>
        </p:nvSpPr>
        <p:spPr>
          <a:xfrm>
            <a:off x="304800" y="4190492"/>
            <a:ext cx="8229600" cy="41148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ATE = E[Y¹] − E[Y⁰] = 5.6 − 5.0 = 0.6         on average, surgery increases life expectancy by 0.6 years compared to chemo.</a:t>
            </a:r>
            <a:endParaRPr lang="en-US" sz="1300" dirty="0"/>
          </a:p>
        </p:txBody>
      </p:sp>
      <p:sp>
        <p:nvSpPr>
          <p:cNvPr id="10" name="Text 6">
            <a:extLst>
              <a:ext uri="{FF2B5EF4-FFF2-40B4-BE49-F238E27FC236}">
                <a16:creationId xmlns:a16="http://schemas.microsoft.com/office/drawing/2014/main" id="{900BFEC8-87CC-C8F1-144C-248019C488A6}"/>
              </a:ext>
            </a:extLst>
          </p:cNvPr>
          <p:cNvSpPr/>
          <p:nvPr/>
        </p:nvSpPr>
        <p:spPr>
          <a:xfrm>
            <a:off x="304800" y="1143254"/>
            <a:ext cx="5648960" cy="3081274"/>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ATE = E[Y¹] − E[Y⁰]</a:t>
            </a:r>
          </a:p>
          <a:p>
            <a:pPr marL="0" indent="0">
              <a:buNone/>
            </a:pPr>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E[Y¹] = the average outcome if everyone in the population receives treatment.</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E[Y¹]=(7+5+5+7+4+10+1+5+3+9)/10 = 5.6  (if everyone gets surgery the average life span is 5.6 years) </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E[Y⁰]= the average outcome if no one receives treatment</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 E[Y⁰]=(1+6+1+8+2+1+10+6+7+8)/10 =5 (if no one gets surgery and they all get chemo instead the average life span is 5 years).</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ATE answers the question: on average, how much would outcomes change if we gave the treatment to everyone instead of no one? </a:t>
            </a:r>
          </a:p>
        </p:txBody>
      </p:sp>
      <p:cxnSp>
        <p:nvCxnSpPr>
          <p:cNvPr id="12" name="Straight Arrow Connector 11">
            <a:extLst>
              <a:ext uri="{FF2B5EF4-FFF2-40B4-BE49-F238E27FC236}">
                <a16:creationId xmlns:a16="http://schemas.microsoft.com/office/drawing/2014/main" id="{41A9351A-27D5-A20F-A865-05E47172D907}"/>
              </a:ext>
            </a:extLst>
          </p:cNvPr>
          <p:cNvCxnSpPr/>
          <p:nvPr/>
        </p:nvCxnSpPr>
        <p:spPr>
          <a:xfrm>
            <a:off x="2702560" y="4399280"/>
            <a:ext cx="2235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889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C427-0AA2-2531-CAB8-59DD473F43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7C6188-1EC5-CDF6-C466-FEF3E3CFB275}"/>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4D151BEB-F682-8831-B7BF-CCE84F1C2F1C}"/>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ATE’s intuition</a:t>
            </a:r>
            <a:endParaRPr lang="en-US" sz="2600" dirty="0"/>
          </a:p>
        </p:txBody>
      </p:sp>
      <p:sp>
        <p:nvSpPr>
          <p:cNvPr id="4" name="Shape 2">
            <a:extLst>
              <a:ext uri="{FF2B5EF4-FFF2-40B4-BE49-F238E27FC236}">
                <a16:creationId xmlns:a16="http://schemas.microsoft.com/office/drawing/2014/main" id="{21429926-AC46-8280-A006-8AF3E27BD1FB}"/>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38F8245F-65D2-8B11-54D0-C4596FF20793}"/>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a:extLst>
              <a:ext uri="{FF2B5EF4-FFF2-40B4-BE49-F238E27FC236}">
                <a16:creationId xmlns:a16="http://schemas.microsoft.com/office/drawing/2014/main" id="{37226125-CA0E-3287-3C25-5457E70ABF36}"/>
              </a:ext>
            </a:extLst>
          </p:cNvPr>
          <p:cNvSpPr/>
          <p:nvPr/>
        </p:nvSpPr>
        <p:spPr>
          <a:xfrm>
            <a:off x="457200" y="1005840"/>
            <a:ext cx="8229600" cy="1188720"/>
          </a:xfrm>
          <a:prstGeom prst="rect">
            <a:avLst/>
          </a:prstGeom>
          <a:solidFill>
            <a:srgbClr val="FFFFFF"/>
          </a:solidFill>
          <a:ln/>
        </p:spPr>
        <p:txBody>
          <a:bodyPr/>
          <a:lstStyle/>
          <a:p>
            <a:endParaRPr lang="en-US"/>
          </a:p>
        </p:txBody>
      </p:sp>
      <p:sp>
        <p:nvSpPr>
          <p:cNvPr id="7" name="Shape 5">
            <a:extLst>
              <a:ext uri="{FF2B5EF4-FFF2-40B4-BE49-F238E27FC236}">
                <a16:creationId xmlns:a16="http://schemas.microsoft.com/office/drawing/2014/main" id="{2298A5C5-AE51-1E11-A860-58006E881DE9}"/>
              </a:ext>
            </a:extLst>
          </p:cNvPr>
          <p:cNvSpPr/>
          <p:nvPr/>
        </p:nvSpPr>
        <p:spPr>
          <a:xfrm>
            <a:off x="457200" y="1005840"/>
            <a:ext cx="73152" cy="1188720"/>
          </a:xfrm>
          <a:prstGeom prst="rect">
            <a:avLst/>
          </a:prstGeom>
          <a:solidFill>
            <a:srgbClr val="E8943A"/>
          </a:solidFill>
          <a:ln/>
        </p:spPr>
        <p:txBody>
          <a:bodyPr/>
          <a:lstStyle/>
          <a:p>
            <a:endParaRPr lang="en-US"/>
          </a:p>
        </p:txBody>
      </p:sp>
      <p:sp>
        <p:nvSpPr>
          <p:cNvPr id="8" name="Text 6">
            <a:extLst>
              <a:ext uri="{FF2B5EF4-FFF2-40B4-BE49-F238E27FC236}">
                <a16:creationId xmlns:a16="http://schemas.microsoft.com/office/drawing/2014/main" id="{B73BB168-C8F0-47CA-D652-51D1D5006102}"/>
              </a:ext>
            </a:extLst>
          </p:cNvPr>
          <p:cNvSpPr/>
          <p:nvPr/>
        </p:nvSpPr>
        <p:spPr>
          <a:xfrm>
            <a:off x="731520" y="1097280"/>
            <a:ext cx="7680960" cy="114300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cs typeface="Consolas" pitchFamily="34" charset="-120"/>
              </a:rPr>
              <a:t>ATE is population level comparison (not individual). </a:t>
            </a:r>
          </a:p>
          <a:p>
            <a:pPr marL="0" indent="0">
              <a:buNone/>
            </a:pPr>
            <a:endParaRPr lang="en-US" sz="1500" b="1" dirty="0">
              <a:solidFill>
                <a:srgbClr val="1E2761"/>
              </a:solidFill>
              <a:latin typeface="Consolas" pitchFamily="34" charset="0"/>
              <a:cs typeface="Consolas" pitchFamily="34" charset="-120"/>
            </a:endParaRPr>
          </a:p>
          <a:p>
            <a:pPr marL="0" indent="0">
              <a:buNone/>
            </a:pPr>
            <a:r>
              <a:rPr lang="en-US" sz="1500" b="1" dirty="0">
                <a:solidFill>
                  <a:srgbClr val="1E2761"/>
                </a:solidFill>
                <a:latin typeface="Consolas" pitchFamily="34" charset="0"/>
                <a:cs typeface="Consolas" pitchFamily="34" charset="-120"/>
              </a:rPr>
              <a:t>The ATE compares two hypothetical worlds:</a:t>
            </a:r>
          </a:p>
        </p:txBody>
      </p:sp>
      <p:sp>
        <p:nvSpPr>
          <p:cNvPr id="9" name="Shape 7">
            <a:extLst>
              <a:ext uri="{FF2B5EF4-FFF2-40B4-BE49-F238E27FC236}">
                <a16:creationId xmlns:a16="http://schemas.microsoft.com/office/drawing/2014/main" id="{C47973BD-F8FD-3FCD-7E7E-CFACA75927BD}"/>
              </a:ext>
            </a:extLst>
          </p:cNvPr>
          <p:cNvSpPr/>
          <p:nvPr/>
        </p:nvSpPr>
        <p:spPr>
          <a:xfrm>
            <a:off x="457200" y="2423160"/>
            <a:ext cx="8229600" cy="1463040"/>
          </a:xfrm>
          <a:prstGeom prst="rect">
            <a:avLst/>
          </a:prstGeom>
          <a:solidFill>
            <a:srgbClr val="FFF3E0"/>
          </a:solidFill>
          <a:ln/>
        </p:spPr>
        <p:txBody>
          <a:bodyPr/>
          <a:lstStyle/>
          <a:p>
            <a:endParaRPr lang="en-US"/>
          </a:p>
        </p:txBody>
      </p:sp>
      <p:sp>
        <p:nvSpPr>
          <p:cNvPr id="10" name="Text 8">
            <a:extLst>
              <a:ext uri="{FF2B5EF4-FFF2-40B4-BE49-F238E27FC236}">
                <a16:creationId xmlns:a16="http://schemas.microsoft.com/office/drawing/2014/main" id="{A0294552-9687-D0FB-A452-DF6A1892A7F8}"/>
              </a:ext>
            </a:extLst>
          </p:cNvPr>
          <p:cNvSpPr/>
          <p:nvPr/>
        </p:nvSpPr>
        <p:spPr>
          <a:xfrm>
            <a:off x="731520" y="2514600"/>
            <a:ext cx="7680960" cy="1280160"/>
          </a:xfrm>
          <a:prstGeom prst="rect">
            <a:avLst/>
          </a:prstGeom>
          <a:noFill/>
          <a:ln/>
        </p:spPr>
        <p:txBody>
          <a:bodyPr wrap="square" lIns="0" tIns="0" rIns="0" bIns="0" rtlCol="0" anchor="ctr"/>
          <a:lstStyle/>
          <a:p>
            <a:r>
              <a:rPr lang="en-US" sz="1400" b="1" dirty="0">
                <a:solidFill>
                  <a:srgbClr val="E8943A"/>
                </a:solidFill>
                <a:latin typeface="Calibri" pitchFamily="34" charset="0"/>
                <a:ea typeface="Calibri" pitchFamily="34" charset="-122"/>
                <a:cs typeface="Calibri" pitchFamily="34" charset="-120"/>
              </a:rPr>
              <a:t>World 1:   </a:t>
            </a:r>
            <a:r>
              <a:rPr lang="en-US" sz="1400" dirty="0">
                <a:solidFill>
                  <a:srgbClr val="2B2B2B"/>
                </a:solidFill>
                <a:latin typeface="Calibri" pitchFamily="34" charset="0"/>
                <a:ea typeface="Calibri" pitchFamily="34" charset="-122"/>
                <a:cs typeface="Calibri" pitchFamily="34" charset="-120"/>
              </a:rPr>
              <a:t>E[Y¹]:  where everyone is treated</a:t>
            </a:r>
            <a:endParaRPr lang="en-US" sz="1400" dirty="0">
              <a:solidFill>
                <a:srgbClr val="E8943A"/>
              </a:solidFill>
              <a:latin typeface="Calibri" pitchFamily="34" charset="0"/>
              <a:ea typeface="Calibri" pitchFamily="34" charset="-122"/>
              <a:cs typeface="Calibri" pitchFamily="34" charset="-120"/>
            </a:endParaRPr>
          </a:p>
          <a:p>
            <a:endParaRPr lang="en-US" sz="1400" b="1" dirty="0">
              <a:solidFill>
                <a:srgbClr val="E8943A"/>
              </a:solidFill>
              <a:latin typeface="Calibri" pitchFamily="34" charset="0"/>
              <a:cs typeface="Calibri" pitchFamily="34" charset="-120"/>
            </a:endParaRPr>
          </a:p>
          <a:p>
            <a:r>
              <a:rPr lang="en-US" sz="1400" b="1" dirty="0">
                <a:solidFill>
                  <a:srgbClr val="E8943A"/>
                </a:solidFill>
                <a:latin typeface="Calibri" pitchFamily="34" charset="0"/>
                <a:ea typeface="Calibri" pitchFamily="34" charset="-122"/>
                <a:cs typeface="Calibri" pitchFamily="34" charset="-120"/>
              </a:rPr>
              <a:t> World 2:  </a:t>
            </a:r>
            <a:r>
              <a:rPr lang="en-US" sz="1400" dirty="0">
                <a:solidFill>
                  <a:srgbClr val="2B2B2B"/>
                </a:solidFill>
                <a:latin typeface="Calibri" pitchFamily="34" charset="0"/>
                <a:ea typeface="Calibri" pitchFamily="34" charset="-122"/>
                <a:cs typeface="Calibri" pitchFamily="34" charset="-120"/>
              </a:rPr>
              <a:t>E[Y</a:t>
            </a:r>
            <a:r>
              <a:rPr lang="en-US" sz="1400" baseline="30000" dirty="0">
                <a:solidFill>
                  <a:srgbClr val="2B2B2B"/>
                </a:solidFill>
                <a:latin typeface="Calibri" pitchFamily="34" charset="0"/>
                <a:ea typeface="Calibri" pitchFamily="34" charset="-122"/>
                <a:cs typeface="Calibri" pitchFamily="34" charset="-120"/>
              </a:rPr>
              <a:t>0</a:t>
            </a:r>
            <a:r>
              <a:rPr lang="en-US" sz="1400" dirty="0">
                <a:solidFill>
                  <a:srgbClr val="2B2B2B"/>
                </a:solidFill>
                <a:latin typeface="Calibri" pitchFamily="34" charset="0"/>
                <a:ea typeface="Calibri" pitchFamily="34" charset="-122"/>
                <a:cs typeface="Calibri" pitchFamily="34" charset="-120"/>
              </a:rPr>
              <a:t>]:  where no one is treated </a:t>
            </a:r>
            <a:endParaRPr lang="en-US" sz="1400" dirty="0">
              <a:solidFill>
                <a:srgbClr val="E8943A"/>
              </a:solidFill>
              <a:latin typeface="Calibri" pitchFamily="34" charset="0"/>
              <a:ea typeface="Calibri" pitchFamily="34" charset="-122"/>
              <a:cs typeface="Calibri" pitchFamily="34" charset="-120"/>
            </a:endParaRPr>
          </a:p>
          <a:p>
            <a:endParaRPr lang="en-US" sz="1400" dirty="0"/>
          </a:p>
          <a:p>
            <a:r>
              <a:rPr lang="en-US" sz="1400" dirty="0"/>
              <a:t>Remember that for each individual, we never observe both outcomes, but the ATE average across the whole population</a:t>
            </a:r>
          </a:p>
        </p:txBody>
      </p:sp>
      <p:sp>
        <p:nvSpPr>
          <p:cNvPr id="11" name="Shape 9">
            <a:extLst>
              <a:ext uri="{FF2B5EF4-FFF2-40B4-BE49-F238E27FC236}">
                <a16:creationId xmlns:a16="http://schemas.microsoft.com/office/drawing/2014/main" id="{1AAD6EAF-A449-C098-A61B-EBC7FCE84CB7}"/>
              </a:ext>
            </a:extLst>
          </p:cNvPr>
          <p:cNvSpPr/>
          <p:nvPr/>
        </p:nvSpPr>
        <p:spPr>
          <a:xfrm>
            <a:off x="457200" y="4114800"/>
            <a:ext cx="8229600" cy="502920"/>
          </a:xfrm>
          <a:prstGeom prst="rect">
            <a:avLst/>
          </a:prstGeom>
          <a:solidFill>
            <a:srgbClr val="E8F0FE"/>
          </a:solidFill>
          <a:ln/>
        </p:spPr>
        <p:txBody>
          <a:bodyPr/>
          <a:lstStyle/>
          <a:p>
            <a:endParaRPr lang="en-US"/>
          </a:p>
        </p:txBody>
      </p:sp>
      <p:sp>
        <p:nvSpPr>
          <p:cNvPr id="12" name="Text 10">
            <a:extLst>
              <a:ext uri="{FF2B5EF4-FFF2-40B4-BE49-F238E27FC236}">
                <a16:creationId xmlns:a16="http://schemas.microsoft.com/office/drawing/2014/main" id="{84964E1E-01D4-933B-33C2-FA00BA318BB6}"/>
              </a:ext>
            </a:extLst>
          </p:cNvPr>
          <p:cNvSpPr/>
          <p:nvPr/>
        </p:nvSpPr>
        <p:spPr>
          <a:xfrm>
            <a:off x="731520" y="4160520"/>
            <a:ext cx="768096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Key insight: ATE is the answer to a policy question: What would happen if we changed the treatment status for everyone?</a:t>
            </a:r>
            <a:endParaRPr lang="en-US" sz="1200" dirty="0"/>
          </a:p>
        </p:txBody>
      </p:sp>
    </p:spTree>
    <p:extLst>
      <p:ext uri="{BB962C8B-B14F-4D97-AF65-F5344CB8AC3E}">
        <p14:creationId xmlns:p14="http://schemas.microsoft.com/office/powerpoint/2010/main" val="163402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30A30BB-A4D5-6578-1C13-8077E61C8C6D}"/>
              </a:ext>
            </a:extLst>
          </p:cNvPr>
          <p:cNvSpPr/>
          <p:nvPr/>
        </p:nvSpPr>
        <p:spPr>
          <a:xfrm>
            <a:off x="4658360" y="3769360"/>
            <a:ext cx="4246880" cy="883920"/>
          </a:xfrm>
          <a:prstGeom prst="rect">
            <a:avLst/>
          </a:prstGeom>
          <a:solidFill>
            <a:schemeClr val="accent2">
              <a:lumMod val="40000"/>
              <a:lumOff val="60000"/>
              <a:alpha val="458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AE6190A1-C7C8-CFB7-823A-175C8C1D6BF0}"/>
              </a:ext>
            </a:extLst>
          </p:cNvPr>
          <p:cNvSpPr txBox="1"/>
          <p:nvPr/>
        </p:nvSpPr>
        <p:spPr>
          <a:xfrm>
            <a:off x="4658360" y="1453753"/>
            <a:ext cx="4485640" cy="3323987"/>
          </a:xfrm>
          <a:prstGeom prst="rect">
            <a:avLst/>
          </a:prstGeom>
          <a:noFill/>
        </p:spPr>
        <p:txBody>
          <a:bodyPr wrap="square" rtlCol="0">
            <a:spAutoFit/>
          </a:bodyPr>
          <a:lstStyle/>
          <a:p>
            <a:r>
              <a:rPr lang="en-US" sz="1400" b="1" dirty="0"/>
              <a:t>This is what happens in practice. </a:t>
            </a:r>
          </a:p>
          <a:p>
            <a:endParaRPr lang="en-US" sz="1400" b="1" dirty="0"/>
          </a:p>
          <a:p>
            <a:r>
              <a:rPr lang="en-US" sz="1400" i="1" dirty="0"/>
              <a:t>Patients are not randomly assigned, rather patients receive the treatment doctors believe is best for them.</a:t>
            </a:r>
          </a:p>
          <a:p>
            <a:br>
              <a:rPr lang="en-US" sz="1400" dirty="0"/>
            </a:br>
            <a:r>
              <a:rPr lang="en-US" sz="1400" b="1" dirty="0"/>
              <a:t>We only observe one outcome per person. </a:t>
            </a:r>
          </a:p>
          <a:p>
            <a:r>
              <a:rPr lang="en-US" sz="1400" dirty="0"/>
              <a:t>The counterfactual is never observed.</a:t>
            </a:r>
          </a:p>
          <a:p>
            <a:endParaRPr lang="en-US" sz="1400" dirty="0"/>
          </a:p>
          <a:p>
            <a:r>
              <a:rPr lang="en-US" sz="1400" dirty="0"/>
              <a:t>So instead of seeing both outcomes, we only observe data like the table on the left.</a:t>
            </a:r>
          </a:p>
          <a:p>
            <a:endParaRPr lang="en-US" sz="1400" dirty="0"/>
          </a:p>
          <a:p>
            <a:r>
              <a:rPr lang="en-US" sz="1400" b="1" dirty="0"/>
              <a:t>Q:</a:t>
            </a:r>
            <a:r>
              <a:rPr lang="en-US" sz="1400" dirty="0"/>
              <a:t> How do we now estimate the effect of the treatment?</a:t>
            </a:r>
            <a:br>
              <a:rPr lang="en-US" sz="1400" dirty="0"/>
            </a:br>
            <a:endParaRPr lang="en-US" sz="1400" dirty="0"/>
          </a:p>
          <a:p>
            <a:r>
              <a:rPr lang="en-US" sz="1400" b="1" dirty="0"/>
              <a:t>A:</a:t>
            </a:r>
            <a:r>
              <a:rPr lang="en-US" sz="1400" dirty="0"/>
              <a:t> We compare average outcomes across groups.</a:t>
            </a:r>
          </a:p>
          <a:p>
            <a:endParaRPr lang="en-US" sz="1400" dirty="0"/>
          </a:p>
        </p:txBody>
      </p:sp>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"Perfect Doctor" — What We Actually Observe</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325120" y="868680"/>
            <a:ext cx="8493760" cy="59436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Now assume the perfect doctor who assigns each patient to their </a:t>
            </a:r>
            <a:r>
              <a:rPr lang="en-US" sz="1400" b="1" i="1" dirty="0">
                <a:solidFill>
                  <a:srgbClr val="2B2B2B"/>
                </a:solidFill>
                <a:latin typeface="Calibri" pitchFamily="34" charset="0"/>
                <a:ea typeface="Calibri" pitchFamily="34" charset="-122"/>
                <a:cs typeface="Calibri" pitchFamily="34" charset="-120"/>
              </a:rPr>
              <a:t>best</a:t>
            </a:r>
            <a:r>
              <a:rPr lang="en-US" sz="1400" dirty="0">
                <a:solidFill>
                  <a:srgbClr val="2B2B2B"/>
                </a:solidFill>
                <a:latin typeface="Calibri" pitchFamily="34" charset="0"/>
                <a:ea typeface="Calibri" pitchFamily="34" charset="-122"/>
                <a:cs typeface="Calibri" pitchFamily="34" charset="-120"/>
              </a:rPr>
              <a:t> treatment (surgery if Y¹&gt;Y⁰, chemo if Y¹&lt;Y⁰).</a:t>
            </a:r>
            <a:endParaRPr lang="en-US" sz="1400" dirty="0"/>
          </a:p>
          <a:p>
            <a:pPr marL="0" indent="0">
              <a:buNone/>
            </a:pPr>
            <a:r>
              <a:rPr lang="en-US" sz="1400" dirty="0">
                <a:solidFill>
                  <a:srgbClr val="2B2B2B"/>
                </a:solidFill>
                <a:latin typeface="Calibri" pitchFamily="34" charset="0"/>
                <a:ea typeface="Calibri" pitchFamily="34" charset="-122"/>
                <a:cs typeface="Calibri" pitchFamily="34" charset="-120"/>
              </a:rPr>
              <a:t>After the assignment, we only see the observed outcome, the counterfactual vanishes: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988025224"/>
              </p:ext>
            </p:extLst>
          </p:nvPr>
        </p:nvGraphicFramePr>
        <p:xfrm>
          <a:off x="238760" y="1626854"/>
          <a:ext cx="4114800" cy="28651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 (observed)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A92F-DB49-0F63-C5BA-1B8C2634F985}"/>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35808F8-80A2-8FC8-32C0-1978EEA649A1}"/>
              </a:ext>
            </a:extLst>
          </p:cNvPr>
          <p:cNvSpPr/>
          <p:nvPr/>
        </p:nvSpPr>
        <p:spPr>
          <a:xfrm>
            <a:off x="136205" y="3621090"/>
            <a:ext cx="5086584" cy="1015662"/>
          </a:xfrm>
          <a:prstGeom prst="rect">
            <a:avLst/>
          </a:prstGeom>
          <a:solidFill>
            <a:schemeClr val="accent2">
              <a:lumMod val="40000"/>
              <a:lumOff val="60000"/>
              <a:alpha val="458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FC61E3B7-D724-4A8E-7508-82DE60299FE2}"/>
              </a:ext>
            </a:extLst>
          </p:cNvPr>
          <p:cNvSpPr txBox="1"/>
          <p:nvPr/>
        </p:nvSpPr>
        <p:spPr>
          <a:xfrm>
            <a:off x="231495" y="1453753"/>
            <a:ext cx="8796758" cy="1600438"/>
          </a:xfrm>
          <a:prstGeom prst="rect">
            <a:avLst/>
          </a:prstGeom>
          <a:noFill/>
        </p:spPr>
        <p:txBody>
          <a:bodyPr wrap="square" rtlCol="0">
            <a:spAutoFit/>
          </a:bodyPr>
          <a:lstStyle/>
          <a:p>
            <a:r>
              <a:rPr lang="en-US" sz="1400" b="1" dirty="0"/>
              <a:t>The SDO is defined as follows: </a:t>
            </a:r>
          </a:p>
          <a:p>
            <a:endParaRPr lang="en-US" sz="1400" b="1" dirty="0"/>
          </a:p>
          <a:p>
            <a:r>
              <a:rPr lang="en-US" sz="1400" b="1" dirty="0"/>
              <a:t>SDO = E[Y | D = 1] − E[Y | D = 0] 	         </a:t>
            </a:r>
            <a:r>
              <a:rPr lang="en-US" sz="1400" dirty="0"/>
              <a:t>SDO = average outcome with treatment - average outcome w/out treatment</a:t>
            </a:r>
          </a:p>
          <a:p>
            <a:endParaRPr lang="en-US" sz="1400" b="1" dirty="0"/>
          </a:p>
          <a:p>
            <a:r>
              <a:rPr lang="en-US" sz="1400" dirty="0"/>
              <a:t>Rewrite SDO using the potential outcomes notation: </a:t>
            </a:r>
          </a:p>
          <a:p>
            <a:endParaRPr lang="en-US" sz="1400" dirty="0"/>
          </a:p>
          <a:p>
            <a:r>
              <a:rPr lang="en-US" sz="1400" dirty="0"/>
              <a:t>SDO = E[Y¹ | D = 1] − E[Y⁰ | D = 0]</a:t>
            </a:r>
          </a:p>
        </p:txBody>
      </p:sp>
      <p:sp>
        <p:nvSpPr>
          <p:cNvPr id="2" name="Shape 0">
            <a:extLst>
              <a:ext uri="{FF2B5EF4-FFF2-40B4-BE49-F238E27FC236}">
                <a16:creationId xmlns:a16="http://schemas.microsoft.com/office/drawing/2014/main" id="{F7116153-6BEE-6A6B-8EF8-2E1E9752FF94}"/>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DD4145E9-4ED8-5321-05D4-AF6A07EAA366}"/>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What is the Simple Difference in Outcomes(SDO)?</a:t>
            </a:r>
            <a:endParaRPr lang="en-US" sz="2600" dirty="0"/>
          </a:p>
        </p:txBody>
      </p:sp>
      <p:sp>
        <p:nvSpPr>
          <p:cNvPr id="4" name="Shape 2">
            <a:extLst>
              <a:ext uri="{FF2B5EF4-FFF2-40B4-BE49-F238E27FC236}">
                <a16:creationId xmlns:a16="http://schemas.microsoft.com/office/drawing/2014/main" id="{0535F5B0-F1F2-C4B2-5FD0-D45827EC674D}"/>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D6C859ED-AE4C-0914-F0F0-5654781A774E}"/>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280868AF-E9CB-5F0A-2934-BEA1395EC5BF}"/>
              </a:ext>
            </a:extLst>
          </p:cNvPr>
          <p:cNvSpPr/>
          <p:nvPr/>
        </p:nvSpPr>
        <p:spPr>
          <a:xfrm>
            <a:off x="325120" y="868680"/>
            <a:ext cx="8493760" cy="59436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The comparison in average outcomes across groups is known as the Simple Difference in Outcomes (SDO).</a:t>
            </a:r>
          </a:p>
          <a:p>
            <a:r>
              <a:rPr lang="en-US" sz="1400" dirty="0">
                <a:solidFill>
                  <a:srgbClr val="2B2B2B"/>
                </a:solidFill>
                <a:latin typeface="Calibri" pitchFamily="34" charset="0"/>
                <a:ea typeface="Calibri" pitchFamily="34" charset="-122"/>
                <a:cs typeface="Calibri" pitchFamily="34" charset="-120"/>
              </a:rPr>
              <a:t>This is what we can compute from the data.</a:t>
            </a:r>
          </a:p>
          <a:p>
            <a:endParaRPr lang="en-US" sz="1400" dirty="0">
              <a:solidFill>
                <a:srgbClr val="2B2B2B"/>
              </a:solidFill>
              <a:latin typeface="Calibri" pitchFamily="34" charset="0"/>
              <a:ea typeface="Calibri" pitchFamily="34" charset="-122"/>
              <a:cs typeface="Calibri" pitchFamily="34" charset="-120"/>
            </a:endParaRPr>
          </a:p>
        </p:txBody>
      </p:sp>
      <p:cxnSp>
        <p:nvCxnSpPr>
          <p:cNvPr id="8" name="Straight Arrow Connector 7">
            <a:extLst>
              <a:ext uri="{FF2B5EF4-FFF2-40B4-BE49-F238E27FC236}">
                <a16:creationId xmlns:a16="http://schemas.microsoft.com/office/drawing/2014/main" id="{947BE799-C28F-BA24-7465-38DCB28E82DA}"/>
              </a:ext>
            </a:extLst>
          </p:cNvPr>
          <p:cNvCxnSpPr>
            <a:cxnSpLocks/>
          </p:cNvCxnSpPr>
          <p:nvPr/>
        </p:nvCxnSpPr>
        <p:spPr>
          <a:xfrm>
            <a:off x="2707576" y="2060294"/>
            <a:ext cx="619695"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6B014F-DF81-ECBF-8F69-AF36A4F6C4EA}"/>
              </a:ext>
            </a:extLst>
          </p:cNvPr>
          <p:cNvSpPr txBox="1"/>
          <p:nvPr/>
        </p:nvSpPr>
        <p:spPr>
          <a:xfrm>
            <a:off x="231494" y="3209449"/>
            <a:ext cx="6273478" cy="1015663"/>
          </a:xfrm>
          <a:prstGeom prst="rect">
            <a:avLst/>
          </a:prstGeom>
          <a:noFill/>
        </p:spPr>
        <p:txBody>
          <a:bodyPr wrap="square">
            <a:spAutoFit/>
          </a:bodyPr>
          <a:lstStyle/>
          <a:p>
            <a:r>
              <a:rPr lang="en-US" sz="1400" dirty="0"/>
              <a:t>Add and subtract the missing counterfactual </a:t>
            </a:r>
            <a:r>
              <a:rPr lang="en-US" sz="1400" dirty="0">
                <a:solidFill>
                  <a:srgbClr val="FF0000"/>
                </a:solidFill>
              </a:rPr>
              <a:t>E[Y⁰ | D = 1]</a:t>
            </a:r>
            <a:r>
              <a:rPr lang="en-US" sz="1400" dirty="0"/>
              <a:t> to get the following</a:t>
            </a:r>
          </a:p>
          <a:p>
            <a:endParaRPr lang="en-US" sz="1400" dirty="0"/>
          </a:p>
          <a:p>
            <a:r>
              <a:rPr lang="en-US" sz="1400" dirty="0"/>
              <a:t>SDO = (E[Y¹ | D = 1] </a:t>
            </a:r>
            <a:r>
              <a:rPr lang="en-US" sz="1400" dirty="0">
                <a:solidFill>
                  <a:srgbClr val="FF0000"/>
                </a:solidFill>
              </a:rPr>
              <a:t>− E[Y⁰ | D = 1]</a:t>
            </a:r>
            <a:r>
              <a:rPr lang="en-US" sz="1400" dirty="0"/>
              <a:t>) + (</a:t>
            </a:r>
            <a:r>
              <a:rPr lang="en-US" sz="1400" dirty="0">
                <a:solidFill>
                  <a:srgbClr val="FF0000"/>
                </a:solidFill>
              </a:rPr>
              <a:t>E[Y⁰ | D = 1]</a:t>
            </a:r>
            <a:r>
              <a:rPr lang="en-US" sz="1400" dirty="0"/>
              <a:t> − E[Y⁰ | D = 0])</a:t>
            </a:r>
          </a:p>
          <a:p>
            <a:endParaRPr lang="en-US" dirty="0"/>
          </a:p>
        </p:txBody>
      </p:sp>
      <p:sp>
        <p:nvSpPr>
          <p:cNvPr id="15" name="Left Brace 14">
            <a:extLst>
              <a:ext uri="{FF2B5EF4-FFF2-40B4-BE49-F238E27FC236}">
                <a16:creationId xmlns:a16="http://schemas.microsoft.com/office/drawing/2014/main" id="{88A41328-240D-45F5-1C05-FC30DC7FFF89}"/>
              </a:ext>
            </a:extLst>
          </p:cNvPr>
          <p:cNvSpPr/>
          <p:nvPr/>
        </p:nvSpPr>
        <p:spPr>
          <a:xfrm rot="16200000">
            <a:off x="1612311" y="3019909"/>
            <a:ext cx="338216" cy="2108766"/>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a:extLst>
              <a:ext uri="{FF2B5EF4-FFF2-40B4-BE49-F238E27FC236}">
                <a16:creationId xmlns:a16="http://schemas.microsoft.com/office/drawing/2014/main" id="{1270BC55-1A03-769B-BD8B-9DDF8D68B204}"/>
              </a:ext>
            </a:extLst>
          </p:cNvPr>
          <p:cNvSpPr/>
          <p:nvPr/>
        </p:nvSpPr>
        <p:spPr>
          <a:xfrm rot="16200000">
            <a:off x="3854401" y="3010765"/>
            <a:ext cx="319928" cy="2108765"/>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E472C2BD-E242-68A6-36DC-B9AEB3AD4616}"/>
              </a:ext>
            </a:extLst>
          </p:cNvPr>
          <p:cNvSpPr txBox="1"/>
          <p:nvPr/>
        </p:nvSpPr>
        <p:spPr>
          <a:xfrm>
            <a:off x="0" y="4235106"/>
            <a:ext cx="3290736" cy="292388"/>
          </a:xfrm>
          <a:prstGeom prst="rect">
            <a:avLst/>
          </a:prstGeom>
          <a:noFill/>
        </p:spPr>
        <p:txBody>
          <a:bodyPr wrap="square" rtlCol="0">
            <a:spAutoFit/>
          </a:bodyPr>
          <a:lstStyle/>
          <a:p>
            <a:pPr algn="ctr"/>
            <a:r>
              <a:rPr lang="en-US" sz="1300" dirty="0"/>
              <a:t>Average Treatment on Treated (ATT) </a:t>
            </a:r>
          </a:p>
        </p:txBody>
      </p:sp>
      <p:sp>
        <p:nvSpPr>
          <p:cNvPr id="7" name="TextBox 6">
            <a:extLst>
              <a:ext uri="{FF2B5EF4-FFF2-40B4-BE49-F238E27FC236}">
                <a16:creationId xmlns:a16="http://schemas.microsoft.com/office/drawing/2014/main" id="{445DDDB9-78B4-4E59-68A4-5349FF44FE88}"/>
              </a:ext>
            </a:extLst>
          </p:cNvPr>
          <p:cNvSpPr txBox="1"/>
          <p:nvPr/>
        </p:nvSpPr>
        <p:spPr>
          <a:xfrm>
            <a:off x="3000560" y="4238271"/>
            <a:ext cx="2125962" cy="292388"/>
          </a:xfrm>
          <a:prstGeom prst="rect">
            <a:avLst/>
          </a:prstGeom>
          <a:noFill/>
        </p:spPr>
        <p:txBody>
          <a:bodyPr wrap="square" rtlCol="0">
            <a:spAutoFit/>
          </a:bodyPr>
          <a:lstStyle/>
          <a:p>
            <a:pPr algn="ctr"/>
            <a:r>
              <a:rPr lang="en-US" sz="1300" dirty="0"/>
              <a:t>Selection Bias </a:t>
            </a:r>
          </a:p>
        </p:txBody>
      </p:sp>
    </p:spTree>
    <p:extLst>
      <p:ext uri="{BB962C8B-B14F-4D97-AF65-F5344CB8AC3E}">
        <p14:creationId xmlns:p14="http://schemas.microsoft.com/office/powerpoint/2010/main" val="217629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7F00-50B4-4669-21C7-165E0903E11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DDFB782-053D-A859-8E40-2BE4B8E4F665}"/>
              </a:ext>
            </a:extLst>
          </p:cNvPr>
          <p:cNvSpPr/>
          <p:nvPr/>
        </p:nvSpPr>
        <p:spPr>
          <a:xfrm>
            <a:off x="3057181" y="881103"/>
            <a:ext cx="5473976" cy="297869"/>
          </a:xfrm>
          <a:prstGeom prst="rect">
            <a:avLst/>
          </a:prstGeom>
          <a:solidFill>
            <a:schemeClr val="accent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a:extLst>
              <a:ext uri="{FF2B5EF4-FFF2-40B4-BE49-F238E27FC236}">
                <a16:creationId xmlns:a16="http://schemas.microsoft.com/office/drawing/2014/main" id="{F22C61EB-A70E-7AC6-61EF-8367B2506473}"/>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7235D1BD-D831-04E3-43A1-10663B44788D}"/>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SDO and ATE </a:t>
            </a:r>
            <a:endParaRPr lang="en-US" sz="2600" dirty="0"/>
          </a:p>
        </p:txBody>
      </p:sp>
      <p:sp>
        <p:nvSpPr>
          <p:cNvPr id="4" name="Shape 2">
            <a:extLst>
              <a:ext uri="{FF2B5EF4-FFF2-40B4-BE49-F238E27FC236}">
                <a16:creationId xmlns:a16="http://schemas.microsoft.com/office/drawing/2014/main" id="{0CE78C5C-9EB0-4C71-EF7E-F0F9DFD1539A}"/>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86EE1E49-3519-7B75-493C-3E57A98D6F21}"/>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9" name="TextBox 8">
            <a:extLst>
              <a:ext uri="{FF2B5EF4-FFF2-40B4-BE49-F238E27FC236}">
                <a16:creationId xmlns:a16="http://schemas.microsoft.com/office/drawing/2014/main" id="{3A7C5619-EB86-BBE3-F0A3-F1ACEFECAC3A}"/>
              </a:ext>
            </a:extLst>
          </p:cNvPr>
          <p:cNvSpPr txBox="1"/>
          <p:nvPr/>
        </p:nvSpPr>
        <p:spPr>
          <a:xfrm>
            <a:off x="135554" y="881103"/>
            <a:ext cx="8796758" cy="307777"/>
          </a:xfrm>
          <a:prstGeom prst="rect">
            <a:avLst/>
          </a:prstGeom>
          <a:noFill/>
        </p:spPr>
        <p:txBody>
          <a:bodyPr wrap="square" rtlCol="0">
            <a:spAutoFit/>
          </a:bodyPr>
          <a:lstStyle/>
          <a:p>
            <a:r>
              <a:rPr lang="en-US" sz="1400" dirty="0"/>
              <a:t>From the previous slide we obtain that: </a:t>
            </a:r>
            <a:r>
              <a:rPr lang="en-US" sz="1400" b="1" dirty="0"/>
              <a:t>SDO =  AVERAGE TREATMENT ON THE TREATRED (ATT) + SELECTION BIAS </a:t>
            </a:r>
            <a:r>
              <a:rPr lang="en-US" sz="1400" dirty="0"/>
              <a:t> </a:t>
            </a:r>
          </a:p>
        </p:txBody>
      </p:sp>
      <p:sp>
        <p:nvSpPr>
          <p:cNvPr id="7" name="TextBox 6">
            <a:extLst>
              <a:ext uri="{FF2B5EF4-FFF2-40B4-BE49-F238E27FC236}">
                <a16:creationId xmlns:a16="http://schemas.microsoft.com/office/drawing/2014/main" id="{5A25F70D-BF2E-26F5-F483-7EF2053D7DCC}"/>
              </a:ext>
            </a:extLst>
          </p:cNvPr>
          <p:cNvSpPr txBox="1"/>
          <p:nvPr/>
        </p:nvSpPr>
        <p:spPr>
          <a:xfrm>
            <a:off x="3699250" y="2384218"/>
            <a:ext cx="3509934" cy="338554"/>
          </a:xfrm>
          <a:prstGeom prst="rect">
            <a:avLst/>
          </a:prstGeom>
          <a:solidFill>
            <a:srgbClr val="FFFF00"/>
          </a:solidFill>
        </p:spPr>
        <p:txBody>
          <a:bodyPr wrap="square" rtlCol="0">
            <a:spAutoFit/>
          </a:bodyPr>
          <a:lstStyle/>
          <a:p>
            <a:r>
              <a:rPr lang="en-US" sz="1600" dirty="0"/>
              <a:t>SDO = ATE + Selection Bias + HTE Bias   </a:t>
            </a:r>
          </a:p>
        </p:txBody>
      </p:sp>
      <p:sp>
        <p:nvSpPr>
          <p:cNvPr id="10" name="TextBox 9">
            <a:extLst>
              <a:ext uri="{FF2B5EF4-FFF2-40B4-BE49-F238E27FC236}">
                <a16:creationId xmlns:a16="http://schemas.microsoft.com/office/drawing/2014/main" id="{362CE832-4AE6-BA2E-7E57-2B39DA3840D7}"/>
              </a:ext>
            </a:extLst>
          </p:cNvPr>
          <p:cNvSpPr txBox="1"/>
          <p:nvPr/>
        </p:nvSpPr>
        <p:spPr>
          <a:xfrm>
            <a:off x="135554" y="1178972"/>
            <a:ext cx="8796758" cy="1092607"/>
          </a:xfrm>
          <a:prstGeom prst="rect">
            <a:avLst/>
          </a:prstGeom>
          <a:noFill/>
        </p:spPr>
        <p:txBody>
          <a:bodyPr wrap="square" rtlCol="0">
            <a:spAutoFit/>
          </a:bodyPr>
          <a:lstStyle/>
          <a:p>
            <a:pPr>
              <a:spcAft>
                <a:spcPts val="600"/>
              </a:spcAft>
            </a:pPr>
            <a:r>
              <a:rPr lang="en-US" sz="1500" dirty="0"/>
              <a:t>The simple difference in outcomes (SDO) gives us the treatment effect for the treated, plus any pre-existing differences between groups.</a:t>
            </a:r>
          </a:p>
          <a:p>
            <a:pPr>
              <a:spcAft>
                <a:spcPts val="600"/>
              </a:spcAft>
            </a:pPr>
            <a:r>
              <a:rPr lang="en-US" sz="1500" dirty="0"/>
              <a:t>This definition of the SDO is useful but usually what we want is the ATE (the average effect for everyone). To obtain this we add and subtract ATE from the SDO definition above: </a:t>
            </a:r>
          </a:p>
        </p:txBody>
      </p:sp>
      <p:grpSp>
        <p:nvGrpSpPr>
          <p:cNvPr id="12" name="Group 11">
            <a:extLst>
              <a:ext uri="{FF2B5EF4-FFF2-40B4-BE49-F238E27FC236}">
                <a16:creationId xmlns:a16="http://schemas.microsoft.com/office/drawing/2014/main" id="{200E745F-7BBC-8E9B-3912-2792E8277CBB}"/>
              </a:ext>
            </a:extLst>
          </p:cNvPr>
          <p:cNvGrpSpPr/>
          <p:nvPr/>
        </p:nvGrpSpPr>
        <p:grpSpPr>
          <a:xfrm>
            <a:off x="244568" y="2362274"/>
            <a:ext cx="2948628" cy="580951"/>
            <a:chOff x="2385425" y="2233573"/>
            <a:chExt cx="2948628" cy="580951"/>
          </a:xfrm>
        </p:grpSpPr>
        <p:sp>
          <p:nvSpPr>
            <p:cNvPr id="15" name="Left Brace 14">
              <a:extLst>
                <a:ext uri="{FF2B5EF4-FFF2-40B4-BE49-F238E27FC236}">
                  <a16:creationId xmlns:a16="http://schemas.microsoft.com/office/drawing/2014/main" id="{4D7DC196-C11E-F56C-C58A-F3A359BC594B}"/>
                </a:ext>
              </a:extLst>
            </p:cNvPr>
            <p:cNvSpPr/>
            <p:nvPr/>
          </p:nvSpPr>
          <p:spPr>
            <a:xfrm rot="16200000">
              <a:off x="4790163" y="2178531"/>
              <a:ext cx="104975" cy="710775"/>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TextBox 16">
              <a:extLst>
                <a:ext uri="{FF2B5EF4-FFF2-40B4-BE49-F238E27FC236}">
                  <a16:creationId xmlns:a16="http://schemas.microsoft.com/office/drawing/2014/main" id="{FE583295-2762-40BB-777B-BA4D37284014}"/>
                </a:ext>
              </a:extLst>
            </p:cNvPr>
            <p:cNvSpPr txBox="1"/>
            <p:nvPr/>
          </p:nvSpPr>
          <p:spPr>
            <a:xfrm>
              <a:off x="4432433" y="2522136"/>
              <a:ext cx="820433" cy="292388"/>
            </a:xfrm>
            <a:prstGeom prst="rect">
              <a:avLst/>
            </a:prstGeom>
            <a:noFill/>
          </p:spPr>
          <p:txBody>
            <a:bodyPr wrap="square" rtlCol="0">
              <a:spAutoFit/>
            </a:bodyPr>
            <a:lstStyle/>
            <a:p>
              <a:pPr algn="ctr"/>
              <a:r>
                <a:rPr lang="en-US" sz="1300" dirty="0"/>
                <a:t>HTE Bias</a:t>
              </a:r>
            </a:p>
          </p:txBody>
        </p:sp>
        <p:sp>
          <p:nvSpPr>
            <p:cNvPr id="11" name="TextBox 10">
              <a:extLst>
                <a:ext uri="{FF2B5EF4-FFF2-40B4-BE49-F238E27FC236}">
                  <a16:creationId xmlns:a16="http://schemas.microsoft.com/office/drawing/2014/main" id="{B8443E9C-0667-1D3C-B8AE-3D0921F98BFD}"/>
                </a:ext>
              </a:extLst>
            </p:cNvPr>
            <p:cNvSpPr txBox="1"/>
            <p:nvPr/>
          </p:nvSpPr>
          <p:spPr>
            <a:xfrm>
              <a:off x="2385425" y="2233573"/>
              <a:ext cx="2948628" cy="307777"/>
            </a:xfrm>
            <a:prstGeom prst="rect">
              <a:avLst/>
            </a:prstGeom>
            <a:noFill/>
          </p:spPr>
          <p:txBody>
            <a:bodyPr wrap="none" rtlCol="0">
              <a:spAutoFit/>
            </a:bodyPr>
            <a:lstStyle/>
            <a:p>
              <a:r>
                <a:rPr lang="en-US" sz="1400" dirty="0"/>
                <a:t>SDO = ATE + Selection Bias + ATT - ATE</a:t>
              </a:r>
            </a:p>
          </p:txBody>
        </p:sp>
      </p:grpSp>
      <p:sp>
        <p:nvSpPr>
          <p:cNvPr id="13" name="Right Arrow 12">
            <a:extLst>
              <a:ext uri="{FF2B5EF4-FFF2-40B4-BE49-F238E27FC236}">
                <a16:creationId xmlns:a16="http://schemas.microsoft.com/office/drawing/2014/main" id="{7631C28C-C441-5F4F-1B77-517A5047A7E3}"/>
              </a:ext>
            </a:extLst>
          </p:cNvPr>
          <p:cNvSpPr/>
          <p:nvPr/>
        </p:nvSpPr>
        <p:spPr>
          <a:xfrm>
            <a:off x="3193196" y="2420752"/>
            <a:ext cx="410407" cy="216554"/>
          </a:xfrm>
          <a:prstGeom prst="rightArrow">
            <a:avLst/>
          </a:prstGeom>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1FC4BE7-6322-DAA3-3BAC-A312EB00A395}"/>
              </a:ext>
            </a:extLst>
          </p:cNvPr>
          <p:cNvSpPr txBox="1"/>
          <p:nvPr/>
        </p:nvSpPr>
        <p:spPr>
          <a:xfrm>
            <a:off x="135554" y="3025834"/>
            <a:ext cx="8796758" cy="523220"/>
          </a:xfrm>
          <a:prstGeom prst="rect">
            <a:avLst/>
          </a:prstGeom>
          <a:solidFill>
            <a:schemeClr val="accent5">
              <a:lumMod val="40000"/>
              <a:lumOff val="60000"/>
            </a:schemeClr>
          </a:solidFill>
        </p:spPr>
        <p:txBody>
          <a:bodyPr wrap="square" rtlCol="0">
            <a:spAutoFit/>
          </a:bodyPr>
          <a:lstStyle/>
          <a:p>
            <a:pPr marL="285750" indent="-285750">
              <a:buFont typeface="Arial" panose="020B0604020202020204" pitchFamily="34" charset="0"/>
              <a:buChar char="•"/>
            </a:pPr>
            <a:r>
              <a:rPr lang="en-US" sz="1400" b="1" dirty="0"/>
              <a:t>Selection Bias: </a:t>
            </a:r>
            <a:r>
              <a:rPr lang="en-US" sz="1400" dirty="0"/>
              <a:t>treated vs untreated differ even without treatment</a:t>
            </a:r>
          </a:p>
          <a:p>
            <a:pPr marL="285750" indent="-285750">
              <a:buFont typeface="Arial" panose="020B0604020202020204" pitchFamily="34" charset="0"/>
              <a:buChar char="•"/>
            </a:pPr>
            <a:r>
              <a:rPr lang="en-US" sz="1400" b="1" dirty="0"/>
              <a:t>HTE Bias: </a:t>
            </a:r>
            <a:r>
              <a:rPr lang="en-US" sz="1400" dirty="0"/>
              <a:t>people with larger gains are more likely to be treated</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EAB8A975-9C23-7786-9A39-C54FE3E1EDFE}"/>
                  </a:ext>
                </a:extLst>
              </p:cNvPr>
              <p:cNvSpPr txBox="1"/>
              <p:nvPr/>
            </p:nvSpPr>
            <p:spPr>
              <a:xfrm>
                <a:off x="26851" y="3698227"/>
                <a:ext cx="8796758" cy="830997"/>
              </a:xfrm>
              <a:prstGeom prst="rect">
                <a:avLst/>
              </a:prstGeom>
              <a:noFill/>
            </p:spPr>
            <p:txBody>
              <a:bodyPr wrap="square" rtlCol="0">
                <a:spAutoFit/>
              </a:bodyPr>
              <a:lstStyle/>
              <a:p>
                <a:r>
                  <a:rPr lang="en-US" sz="1600" dirty="0"/>
                  <a:t>Even if the Selection Bias is zero, </a:t>
                </a:r>
                <a14:m>
                  <m:oMath xmlns:m="http://schemas.openxmlformats.org/officeDocument/2006/math">
                    <m:r>
                      <m:rPr>
                        <m:sty m:val="p"/>
                      </m:rPr>
                      <a:rPr lang="en-US" sz="1600" b="0" i="1" smtClean="0">
                        <a:latin typeface="Cambria Math" panose="02040503050406030204" pitchFamily="18" charset="0"/>
                      </a:rPr>
                      <m:t>SDO</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ATE</m:t>
                    </m:r>
                    <m:r>
                      <a:rPr lang="en-US" sz="1600" b="0" i="1" smtClean="0">
                        <a:latin typeface="Cambria Math" panose="02040503050406030204" pitchFamily="18" charset="0"/>
                        <a:ea typeface="Cambria Math" panose="02040503050406030204" pitchFamily="18" charset="0"/>
                      </a:rPr>
                      <m:t> </m:t>
                    </m:r>
                  </m:oMath>
                </a14:m>
                <a:r>
                  <a:rPr lang="en-US" sz="1600" dirty="0"/>
                  <a:t> when treatment effects are heterogenous</a:t>
                </a:r>
              </a:p>
              <a:p>
                <a:endParaRPr lang="en-US" sz="1600" dirty="0"/>
              </a:p>
              <a:p>
                <a:r>
                  <a:rPr lang="en-US" sz="1600" dirty="0"/>
                  <a:t>If people who benefit the more are more likely to be treated, then ATT &gt; ATE and the HTE Bias is positive  </a:t>
                </a:r>
              </a:p>
            </p:txBody>
          </p:sp>
        </mc:Choice>
        <mc:Fallback>
          <p:sp>
            <p:nvSpPr>
              <p:cNvPr id="22" name="TextBox 21">
                <a:extLst>
                  <a:ext uri="{FF2B5EF4-FFF2-40B4-BE49-F238E27FC236}">
                    <a16:creationId xmlns:a16="http://schemas.microsoft.com/office/drawing/2014/main" id="{EAB8A975-9C23-7786-9A39-C54FE3E1EDFE}"/>
                  </a:ext>
                </a:extLst>
              </p:cNvPr>
              <p:cNvSpPr txBox="1">
                <a:spLocks noRot="1" noChangeAspect="1" noMove="1" noResize="1" noEditPoints="1" noAdjustHandles="1" noChangeArrowheads="1" noChangeShapeType="1" noTextEdit="1"/>
              </p:cNvSpPr>
              <p:nvPr/>
            </p:nvSpPr>
            <p:spPr>
              <a:xfrm>
                <a:off x="26851" y="3698227"/>
                <a:ext cx="8796758" cy="830997"/>
              </a:xfrm>
              <a:prstGeom prst="rect">
                <a:avLst/>
              </a:prstGeom>
              <a:blipFill>
                <a:blip r:embed="rId3"/>
                <a:stretch>
                  <a:fillRect l="-288" t="-3030" r="-1153" b="-7576"/>
                </a:stretch>
              </a:blipFill>
            </p:spPr>
            <p:txBody>
              <a:bodyPr/>
              <a:lstStyle/>
              <a:p>
                <a:r>
                  <a:rPr lang="en-US">
                    <a:noFill/>
                  </a:rPr>
                  <a:t> </a:t>
                </a:r>
              </a:p>
            </p:txBody>
          </p:sp>
        </mc:Fallback>
      </mc:AlternateContent>
    </p:spTree>
    <p:extLst>
      <p:ext uri="{BB962C8B-B14F-4D97-AF65-F5344CB8AC3E}">
        <p14:creationId xmlns:p14="http://schemas.microsoft.com/office/powerpoint/2010/main" val="1153867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592A2-11E9-B0D8-BB76-4F472B52E87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9A36E3A-E6EE-5FC5-56B1-84EF8288AA2E}"/>
              </a:ext>
            </a:extLst>
          </p:cNvPr>
          <p:cNvSpPr/>
          <p:nvPr/>
        </p:nvSpPr>
        <p:spPr>
          <a:xfrm>
            <a:off x="3241040" y="3718560"/>
            <a:ext cx="2661920" cy="538480"/>
          </a:xfrm>
          <a:prstGeom prst="rect">
            <a:avLst/>
          </a:pr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ape 0">
            <a:extLst>
              <a:ext uri="{FF2B5EF4-FFF2-40B4-BE49-F238E27FC236}">
                <a16:creationId xmlns:a16="http://schemas.microsoft.com/office/drawing/2014/main" id="{0C36C5BA-C599-6C2F-7130-387FFFF37A9C}"/>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1A7F9A8D-B015-3658-0B4B-AF73AB048F03}"/>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HTE BIAS, ATT and ATU </a:t>
            </a:r>
            <a:endParaRPr lang="en-US" sz="2600" dirty="0"/>
          </a:p>
        </p:txBody>
      </p:sp>
      <p:sp>
        <p:nvSpPr>
          <p:cNvPr id="4" name="Shape 2">
            <a:extLst>
              <a:ext uri="{FF2B5EF4-FFF2-40B4-BE49-F238E27FC236}">
                <a16:creationId xmlns:a16="http://schemas.microsoft.com/office/drawing/2014/main" id="{19DCB46C-85D4-6843-26FD-9148CAE07034}"/>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0A4D5C0A-801C-8EF3-ABB0-965FFFC130F7}"/>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10" name="TextBox 9">
            <a:extLst>
              <a:ext uri="{FF2B5EF4-FFF2-40B4-BE49-F238E27FC236}">
                <a16:creationId xmlns:a16="http://schemas.microsoft.com/office/drawing/2014/main" id="{46C558AA-076D-AB7A-DC39-F87864F6AA84}"/>
              </a:ext>
            </a:extLst>
          </p:cNvPr>
          <p:cNvSpPr txBox="1"/>
          <p:nvPr/>
        </p:nvSpPr>
        <p:spPr>
          <a:xfrm>
            <a:off x="135554" y="876239"/>
            <a:ext cx="8796758" cy="3877985"/>
          </a:xfrm>
          <a:prstGeom prst="rect">
            <a:avLst/>
          </a:prstGeom>
          <a:noFill/>
        </p:spPr>
        <p:txBody>
          <a:bodyPr wrap="square" rtlCol="0">
            <a:spAutoFit/>
          </a:bodyPr>
          <a:lstStyle/>
          <a:p>
            <a:pPr>
              <a:spcAft>
                <a:spcPts val="600"/>
              </a:spcAft>
            </a:pPr>
            <a:r>
              <a:rPr lang="en-US" dirty="0"/>
              <a:t>We can also express the HTE Bias as a function of the ATT and ATU, because these two are observed and computed in the data.</a:t>
            </a:r>
          </a:p>
          <a:p>
            <a:pPr>
              <a:spcAft>
                <a:spcPts val="600"/>
              </a:spcAft>
            </a:pPr>
            <a:r>
              <a:rPr lang="en-US" dirty="0"/>
              <a:t>From before we have that:  </a:t>
            </a:r>
          </a:p>
          <a:p>
            <a:pPr algn="ctr">
              <a:spcAft>
                <a:spcPts val="600"/>
              </a:spcAft>
            </a:pPr>
            <a:r>
              <a:rPr lang="en-US" dirty="0"/>
              <a:t>HTE Bias = ATT – ATE</a:t>
            </a:r>
          </a:p>
          <a:p>
            <a:pPr>
              <a:spcAft>
                <a:spcPts val="600"/>
              </a:spcAft>
            </a:pPr>
            <a:r>
              <a:rPr lang="en-US" dirty="0"/>
              <a:t>Remember that: </a:t>
            </a:r>
          </a:p>
          <a:p>
            <a:pPr algn="ctr">
              <a:spcAft>
                <a:spcPts val="600"/>
              </a:spcAft>
            </a:pPr>
            <a:r>
              <a:rPr lang="en-US" dirty="0"/>
              <a:t>ATE = </a:t>
            </a:r>
            <a:r>
              <a:rPr lang="el-GR" dirty="0"/>
              <a:t>π · </a:t>
            </a:r>
            <a:r>
              <a:rPr lang="en-US" dirty="0"/>
              <a:t>ATT + (1 − </a:t>
            </a:r>
            <a:r>
              <a:rPr lang="el-GR" dirty="0"/>
              <a:t>π) · </a:t>
            </a:r>
            <a:r>
              <a:rPr lang="en-US" dirty="0"/>
              <a:t>ATU</a:t>
            </a:r>
          </a:p>
          <a:p>
            <a:pPr>
              <a:spcAft>
                <a:spcPts val="600"/>
              </a:spcAft>
            </a:pPr>
            <a:r>
              <a:rPr lang="en-US" dirty="0"/>
              <a:t>Substitute ATE: </a:t>
            </a:r>
          </a:p>
          <a:p>
            <a:pPr algn="ctr"/>
            <a:r>
              <a:rPr lang="en-US" dirty="0"/>
              <a:t>HTE = ATT − [</a:t>
            </a:r>
            <a:r>
              <a:rPr lang="el-GR" dirty="0"/>
              <a:t>π </a:t>
            </a:r>
            <a:r>
              <a:rPr lang="en-US" dirty="0"/>
              <a:t>ATT + (1 − </a:t>
            </a:r>
            <a:r>
              <a:rPr lang="el-GR" dirty="0"/>
              <a:t>π) </a:t>
            </a:r>
            <a:r>
              <a:rPr lang="en-US" dirty="0"/>
              <a:t>ATU]  </a:t>
            </a:r>
          </a:p>
          <a:p>
            <a:r>
              <a:rPr lang="en-US" dirty="0"/>
              <a:t>Simplify: </a:t>
            </a:r>
          </a:p>
          <a:p>
            <a:pPr algn="ctr"/>
            <a:r>
              <a:rPr lang="en-US" b="1" dirty="0"/>
              <a:t>HTE = (1 − </a:t>
            </a:r>
            <a:r>
              <a:rPr lang="el-GR" b="1" dirty="0"/>
              <a:t>π)(</a:t>
            </a:r>
            <a:r>
              <a:rPr lang="en-US" b="1" dirty="0"/>
              <a:t>ATT − ATU)</a:t>
            </a:r>
          </a:p>
          <a:p>
            <a:endParaRPr lang="en-US" b="1" dirty="0"/>
          </a:p>
          <a:p>
            <a:r>
              <a:rPr lang="en-US" b="1" dirty="0"/>
              <a:t>We now can compute the HTE with real world data. </a:t>
            </a:r>
          </a:p>
        </p:txBody>
      </p:sp>
    </p:spTree>
    <p:extLst>
      <p:ext uri="{BB962C8B-B14F-4D97-AF65-F5344CB8AC3E}">
        <p14:creationId xmlns:p14="http://schemas.microsoft.com/office/powerpoint/2010/main" val="97282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E4AA9-0379-267F-D229-601AB371E0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37CCFC-D3B6-6723-F546-48653EC44236}"/>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5D9E5762-5A19-92F0-F162-F2D576646F49}"/>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Computing ATT</a:t>
            </a:r>
            <a:endParaRPr lang="en-US" sz="2600" dirty="0"/>
          </a:p>
        </p:txBody>
      </p:sp>
      <p:sp>
        <p:nvSpPr>
          <p:cNvPr id="4" name="Shape 2">
            <a:extLst>
              <a:ext uri="{FF2B5EF4-FFF2-40B4-BE49-F238E27FC236}">
                <a16:creationId xmlns:a16="http://schemas.microsoft.com/office/drawing/2014/main" id="{B13D007C-F8DE-AAF3-FE31-221ACEADC3F7}"/>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AB9575BA-7550-E16C-697F-48C0ABC47CD1}"/>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5CE68CF1-C3E9-7D02-8420-00C6249F073A}"/>
              </a:ext>
            </a:extLst>
          </p:cNvPr>
          <p:cNvSpPr/>
          <p:nvPr/>
        </p:nvSpPr>
        <p:spPr>
          <a:xfrm>
            <a:off x="226060" y="88138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Let’s use the potential outcomes table to compute ATT. </a:t>
            </a:r>
            <a:endParaRPr lang="en-US" sz="1300" dirty="0"/>
          </a:p>
        </p:txBody>
      </p:sp>
      <p:graphicFrame>
        <p:nvGraphicFramePr>
          <p:cNvPr id="8" name="Table 0">
            <a:extLst>
              <a:ext uri="{FF2B5EF4-FFF2-40B4-BE49-F238E27FC236}">
                <a16:creationId xmlns:a16="http://schemas.microsoft.com/office/drawing/2014/main" id="{AACAFCBF-6AB8-ABE4-6DA6-574D4B8E05D2}"/>
              </a:ext>
            </a:extLst>
          </p:cNvPr>
          <p:cNvGraphicFramePr>
            <a:graphicFrameLocks noGrp="1"/>
          </p:cNvGraphicFramePr>
          <p:nvPr>
            <p:extLst>
              <p:ext uri="{D42A27DB-BD31-4B8C-83A1-F6EECF244321}">
                <p14:modId xmlns:p14="http://schemas.microsoft.com/office/powerpoint/2010/main" val="2901599100"/>
              </p:ext>
            </p:extLst>
          </p:nvPr>
        </p:nvGraphicFramePr>
        <p:xfrm>
          <a:off x="226060" y="1298448"/>
          <a:ext cx="3098800" cy="2865120"/>
        </p:xfrm>
        <a:graphic>
          <a:graphicData uri="http://schemas.openxmlformats.org/drawingml/2006/table">
            <a:tbl>
              <a:tblPr/>
              <a:tblGrid>
                <a:gridCol w="6858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charset="0"/>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9" name="Shape 6">
            <a:extLst>
              <a:ext uri="{FF2B5EF4-FFF2-40B4-BE49-F238E27FC236}">
                <a16:creationId xmlns:a16="http://schemas.microsoft.com/office/drawing/2014/main" id="{DE4D574E-26F8-3D0E-DED9-B6B5808672DC}"/>
              </a:ext>
            </a:extLst>
          </p:cNvPr>
          <p:cNvSpPr/>
          <p:nvPr/>
        </p:nvSpPr>
        <p:spPr>
          <a:xfrm>
            <a:off x="3454400" y="1238758"/>
            <a:ext cx="73152" cy="301752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D340A66E-E0E2-E04C-A4B9-0AA64F6540EB}"/>
              </a:ext>
            </a:extLst>
          </p:cNvPr>
          <p:cNvSpPr/>
          <p:nvPr/>
        </p:nvSpPr>
        <p:spPr>
          <a:xfrm>
            <a:off x="3657092" y="1338326"/>
            <a:ext cx="5260848" cy="2825242"/>
          </a:xfrm>
          <a:prstGeom prst="rect">
            <a:avLst/>
          </a:prstGeom>
          <a:noFill/>
          <a:ln/>
        </p:spPr>
        <p:txBody>
          <a:bodyPr wrap="square" lIns="0" tIns="0" rIns="0" bIns="0" rtlCol="0" anchor="t"/>
          <a:lstStyle/>
          <a:p>
            <a:pPr marL="0" indent="0" algn="ctr">
              <a:spcAft>
                <a:spcPts val="600"/>
              </a:spcAft>
              <a:buNone/>
            </a:pPr>
            <a:r>
              <a:rPr lang="en-US" sz="1400" b="1" dirty="0">
                <a:solidFill>
                  <a:schemeClr val="accent1"/>
                </a:solidFill>
                <a:latin typeface="Calibri" pitchFamily="34" charset="0"/>
                <a:cs typeface="Calibri" pitchFamily="34" charset="-120"/>
              </a:rPr>
              <a:t>ATT = E[Y¹ | D=1] − E[Y⁰ | D=1]</a:t>
            </a:r>
            <a:endParaRPr lang="en-US" sz="1400" b="1" dirty="0">
              <a:solidFill>
                <a:schemeClr val="accent1"/>
              </a:solidFill>
            </a:endParaRPr>
          </a:p>
          <a:p>
            <a:pPr marL="0" indent="0">
              <a:spcAft>
                <a:spcPts val="600"/>
              </a:spcAft>
              <a:buNone/>
            </a:pPr>
            <a:r>
              <a:rPr lang="en-US" sz="1400" dirty="0"/>
              <a:t>ATT asks: for the patients who actually got surgery, what is the difference between their surgery outcome and their chemo outcome?</a:t>
            </a:r>
          </a:p>
          <a:p>
            <a:pPr marL="0" indent="0">
              <a:spcAft>
                <a:spcPts val="600"/>
              </a:spcAft>
              <a:buNone/>
            </a:pPr>
            <a:r>
              <a:rPr lang="en-US" sz="1400" dirty="0"/>
              <a:t>The surgery group is patients 1, 3, 5, 6, 10.</a:t>
            </a:r>
          </a:p>
          <a:p>
            <a:pPr marL="0" indent="0">
              <a:spcAft>
                <a:spcPts val="600"/>
              </a:spcAft>
              <a:buNone/>
            </a:pPr>
            <a:r>
              <a:rPr lang="en-US" sz="1400" b="1" u="sng" dirty="0"/>
              <a:t>Step 1: </a:t>
            </a:r>
            <a:r>
              <a:rPr lang="en-US" sz="1400" dirty="0"/>
              <a:t>Pull their Y¹ values (what actually happened): 7, 5, 4, 10, 9</a:t>
            </a:r>
          </a:p>
          <a:p>
            <a:pPr marL="0" indent="0">
              <a:spcAft>
                <a:spcPts val="600"/>
              </a:spcAft>
              <a:buNone/>
            </a:pPr>
            <a:r>
              <a:rPr lang="en-US" sz="1400" b="1" dirty="0"/>
              <a:t>Average = (7 + 5 + 4 + 10 + 9) / 5 = 35 / 5 = 7.0</a:t>
            </a:r>
          </a:p>
          <a:p>
            <a:pPr marL="0" indent="0">
              <a:spcAft>
                <a:spcPts val="600"/>
              </a:spcAft>
              <a:buNone/>
            </a:pPr>
            <a:r>
              <a:rPr lang="en-US" sz="1400" b="1" u="sng" dirty="0"/>
              <a:t>Step 2: </a:t>
            </a:r>
            <a:r>
              <a:rPr lang="en-US" sz="1400" dirty="0"/>
              <a:t>Pull their Y⁰ values (the counterfactual, what would have happened under chemo): 1, 1, 2, 1, 8</a:t>
            </a:r>
          </a:p>
          <a:p>
            <a:pPr marL="0" indent="0">
              <a:spcAft>
                <a:spcPts val="600"/>
              </a:spcAft>
              <a:buNone/>
            </a:pPr>
            <a:r>
              <a:rPr lang="en-US" sz="1400" b="1" dirty="0"/>
              <a:t>Average = (1 + 1 + 2 + 1 + 8) / 5 = 13 / 5 = 2.6</a:t>
            </a:r>
          </a:p>
          <a:p>
            <a:pPr marL="0" indent="0">
              <a:spcAft>
                <a:spcPts val="600"/>
              </a:spcAft>
              <a:buNone/>
            </a:pPr>
            <a:r>
              <a:rPr lang="en-US" sz="1400" dirty="0"/>
              <a:t>Step 3: Subtract:    </a:t>
            </a:r>
            <a:r>
              <a:rPr lang="en-US" sz="1400" b="1" dirty="0"/>
              <a:t>ATT = 7.0 − 2.6 = 4.4</a:t>
            </a:r>
          </a:p>
        </p:txBody>
      </p:sp>
      <p:sp>
        <p:nvSpPr>
          <p:cNvPr id="25" name="TextBox 24">
            <a:extLst>
              <a:ext uri="{FF2B5EF4-FFF2-40B4-BE49-F238E27FC236}">
                <a16:creationId xmlns:a16="http://schemas.microsoft.com/office/drawing/2014/main" id="{35E99861-9DA3-0DF2-7C79-4AB89570AFBC}"/>
              </a:ext>
            </a:extLst>
          </p:cNvPr>
          <p:cNvSpPr txBox="1"/>
          <p:nvPr/>
        </p:nvSpPr>
        <p:spPr>
          <a:xfrm>
            <a:off x="155448" y="4262989"/>
            <a:ext cx="8899652" cy="523220"/>
          </a:xfrm>
          <a:prstGeom prst="rect">
            <a:avLst/>
          </a:prstGeom>
          <a:noFill/>
        </p:spPr>
        <p:txBody>
          <a:bodyPr wrap="square" rtlCol="0">
            <a:spAutoFit/>
          </a:bodyPr>
          <a:lstStyle/>
          <a:p>
            <a:r>
              <a:rPr lang="en-US" sz="1400" dirty="0"/>
              <a:t>Interpretation: For the patients the doctor chose to give surgery, surgery added 4.4 years of life on average compared to what chemo would have given them. The doctor picked well — these patients genuinely benefit from surgery.</a:t>
            </a:r>
          </a:p>
        </p:txBody>
      </p:sp>
    </p:spTree>
    <p:extLst>
      <p:ext uri="{BB962C8B-B14F-4D97-AF65-F5344CB8AC3E}">
        <p14:creationId xmlns:p14="http://schemas.microsoft.com/office/powerpoint/2010/main" val="1812289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4F7F-935E-184F-3810-182C2319E9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035773-28C1-2386-D30E-44D0BFCF59F1}"/>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10E3D7A9-CA7D-7538-81DD-BD6B206F928E}"/>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Computing ATU</a:t>
            </a:r>
            <a:endParaRPr lang="en-US" sz="2600" dirty="0"/>
          </a:p>
        </p:txBody>
      </p:sp>
      <p:sp>
        <p:nvSpPr>
          <p:cNvPr id="4" name="Shape 2">
            <a:extLst>
              <a:ext uri="{FF2B5EF4-FFF2-40B4-BE49-F238E27FC236}">
                <a16:creationId xmlns:a16="http://schemas.microsoft.com/office/drawing/2014/main" id="{71239732-4A32-AC50-25E7-A3AA1227B960}"/>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CEE4E2B6-DD81-A584-6058-4F92725C6453}"/>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86EFABB9-BB36-2519-C988-4C33F6FF0B3A}"/>
              </a:ext>
            </a:extLst>
          </p:cNvPr>
          <p:cNvSpPr/>
          <p:nvPr/>
        </p:nvSpPr>
        <p:spPr>
          <a:xfrm>
            <a:off x="226060" y="88138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Let’s use the potential outcomes table to compute ATU. </a:t>
            </a:r>
            <a:endParaRPr lang="en-US" sz="1300" dirty="0"/>
          </a:p>
        </p:txBody>
      </p:sp>
      <p:graphicFrame>
        <p:nvGraphicFramePr>
          <p:cNvPr id="8" name="Table 0">
            <a:extLst>
              <a:ext uri="{FF2B5EF4-FFF2-40B4-BE49-F238E27FC236}">
                <a16:creationId xmlns:a16="http://schemas.microsoft.com/office/drawing/2014/main" id="{BA7CE7CD-C8C3-7346-01B8-6CD44F638E8C}"/>
              </a:ext>
            </a:extLst>
          </p:cNvPr>
          <p:cNvGraphicFramePr>
            <a:graphicFrameLocks noGrp="1"/>
          </p:cNvGraphicFramePr>
          <p:nvPr/>
        </p:nvGraphicFramePr>
        <p:xfrm>
          <a:off x="226060" y="1298448"/>
          <a:ext cx="3098800" cy="2865120"/>
        </p:xfrm>
        <a:graphic>
          <a:graphicData uri="http://schemas.openxmlformats.org/drawingml/2006/table">
            <a:tbl>
              <a:tblPr/>
              <a:tblGrid>
                <a:gridCol w="6858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charset="0"/>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9" name="Shape 6">
            <a:extLst>
              <a:ext uri="{FF2B5EF4-FFF2-40B4-BE49-F238E27FC236}">
                <a16:creationId xmlns:a16="http://schemas.microsoft.com/office/drawing/2014/main" id="{4588FCD2-92CD-0F1F-8D4F-3C8AC004E158}"/>
              </a:ext>
            </a:extLst>
          </p:cNvPr>
          <p:cNvSpPr/>
          <p:nvPr/>
        </p:nvSpPr>
        <p:spPr>
          <a:xfrm>
            <a:off x="3454400" y="1238758"/>
            <a:ext cx="73152" cy="301752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109F9B22-674A-C05C-7C48-4D7DD779275E}"/>
              </a:ext>
            </a:extLst>
          </p:cNvPr>
          <p:cNvSpPr/>
          <p:nvPr/>
        </p:nvSpPr>
        <p:spPr>
          <a:xfrm>
            <a:off x="3657092" y="1338326"/>
            <a:ext cx="5260848" cy="2825242"/>
          </a:xfrm>
          <a:prstGeom prst="rect">
            <a:avLst/>
          </a:prstGeom>
          <a:noFill/>
          <a:ln/>
        </p:spPr>
        <p:txBody>
          <a:bodyPr wrap="square" lIns="0" tIns="0" rIns="0" bIns="0" rtlCol="0" anchor="t"/>
          <a:lstStyle/>
          <a:p>
            <a:pPr marL="0" indent="0" algn="ctr">
              <a:spcAft>
                <a:spcPts val="600"/>
              </a:spcAft>
              <a:buNone/>
            </a:pPr>
            <a:r>
              <a:rPr lang="en-US" sz="1400" b="1" dirty="0">
                <a:solidFill>
                  <a:schemeClr val="accent1"/>
                </a:solidFill>
                <a:latin typeface="Calibri" pitchFamily="34" charset="0"/>
                <a:cs typeface="Calibri" pitchFamily="34" charset="-120"/>
              </a:rPr>
              <a:t>ATU = E[Y¹ | D=0] − E[Y⁰ | D=0]</a:t>
            </a:r>
          </a:p>
          <a:p>
            <a:pPr marL="0" indent="0">
              <a:spcAft>
                <a:spcPts val="600"/>
              </a:spcAft>
              <a:buNone/>
            </a:pPr>
            <a:r>
              <a:rPr lang="en-US" sz="1400" dirty="0"/>
              <a:t>ATU asks: for the patients who actually got chemo, what would have happened if they had gotten surgery instead? The surgery group is patients 1, 3, 5, 6, 10.</a:t>
            </a:r>
          </a:p>
          <a:p>
            <a:pPr marL="0" indent="0">
              <a:spcAft>
                <a:spcPts val="600"/>
              </a:spcAft>
              <a:buNone/>
            </a:pPr>
            <a:r>
              <a:rPr lang="en-US" sz="1400" b="1" u="sng" dirty="0"/>
              <a:t>Step 1: </a:t>
            </a:r>
            <a:r>
              <a:rPr lang="en-US" sz="1400" dirty="0"/>
              <a:t>Pull their Y¹ values (the counterfactual, what would have happened under surgery): 5, 7, 1, 5, 3</a:t>
            </a:r>
          </a:p>
          <a:p>
            <a:pPr marL="0" indent="0">
              <a:spcAft>
                <a:spcPts val="600"/>
              </a:spcAft>
              <a:buNone/>
            </a:pPr>
            <a:r>
              <a:rPr lang="en-US" sz="1400" dirty="0"/>
              <a:t>Average = (5 + 7 + 1 + 5 + 3) / 5 = 21 / 5 = 4.2</a:t>
            </a:r>
          </a:p>
          <a:p>
            <a:pPr marL="0" indent="0">
              <a:spcAft>
                <a:spcPts val="600"/>
              </a:spcAft>
              <a:buNone/>
            </a:pPr>
            <a:r>
              <a:rPr lang="en-US" sz="1400" b="1" u="sng" dirty="0"/>
              <a:t>Step 2: </a:t>
            </a:r>
            <a:r>
              <a:rPr lang="en-US" sz="1400" dirty="0"/>
              <a:t>Pull their Y⁰ values (what actually happened):  6, 8, 10, 6, 7</a:t>
            </a:r>
          </a:p>
          <a:p>
            <a:pPr marL="0" indent="0">
              <a:spcAft>
                <a:spcPts val="600"/>
              </a:spcAft>
              <a:buNone/>
            </a:pPr>
            <a:r>
              <a:rPr lang="en-US" sz="1400" dirty="0"/>
              <a:t>Average = (6 + 8 + 10 + 6 + 7) / 5 = 37 / 5 = 7.4</a:t>
            </a:r>
          </a:p>
          <a:p>
            <a:pPr marL="0" indent="0">
              <a:spcAft>
                <a:spcPts val="600"/>
              </a:spcAft>
              <a:buNone/>
            </a:pPr>
            <a:r>
              <a:rPr lang="en-US" sz="1400" dirty="0"/>
              <a:t>Step 3: Subtract:    </a:t>
            </a:r>
            <a:r>
              <a:rPr lang="en-US" sz="1400" b="1" dirty="0"/>
              <a:t>ATU = 4.2 − 7.4 = -3.1</a:t>
            </a:r>
          </a:p>
        </p:txBody>
      </p:sp>
      <p:sp>
        <p:nvSpPr>
          <p:cNvPr id="25" name="TextBox 24">
            <a:extLst>
              <a:ext uri="{FF2B5EF4-FFF2-40B4-BE49-F238E27FC236}">
                <a16:creationId xmlns:a16="http://schemas.microsoft.com/office/drawing/2014/main" id="{C5CAAF1F-0486-6324-EFE3-00042FAB1A9C}"/>
              </a:ext>
            </a:extLst>
          </p:cNvPr>
          <p:cNvSpPr txBox="1"/>
          <p:nvPr/>
        </p:nvSpPr>
        <p:spPr>
          <a:xfrm>
            <a:off x="155448" y="4262989"/>
            <a:ext cx="8899652" cy="523220"/>
          </a:xfrm>
          <a:prstGeom prst="rect">
            <a:avLst/>
          </a:prstGeom>
          <a:noFill/>
        </p:spPr>
        <p:txBody>
          <a:bodyPr wrap="square" rtlCol="0">
            <a:spAutoFit/>
          </a:bodyPr>
          <a:lstStyle/>
          <a:p>
            <a:r>
              <a:rPr lang="en-US" sz="1400" dirty="0"/>
              <a:t>Interpretation: For the patients the doctor chose to give chemo, surgery would have reduced their lifespan by 3.2 years on average. Again, the doctor picked well, these patients are genuinely better off on chemo.</a:t>
            </a:r>
          </a:p>
        </p:txBody>
      </p:sp>
    </p:spTree>
    <p:extLst>
      <p:ext uri="{BB962C8B-B14F-4D97-AF65-F5344CB8AC3E}">
        <p14:creationId xmlns:p14="http://schemas.microsoft.com/office/powerpoint/2010/main" val="116627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51E8E-6A59-13AB-E2D3-6AFAAFDC5F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6830FF-C456-B383-C452-B0EE361A0F5D}"/>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F39AA050-8DE2-0B6D-DA99-FFE74DD4BE0D}"/>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"Perfect Doctor” and the SDO</a:t>
            </a:r>
            <a:endParaRPr lang="en-US" sz="2600" dirty="0"/>
          </a:p>
        </p:txBody>
      </p:sp>
      <p:sp>
        <p:nvSpPr>
          <p:cNvPr id="4" name="Shape 2">
            <a:extLst>
              <a:ext uri="{FF2B5EF4-FFF2-40B4-BE49-F238E27FC236}">
                <a16:creationId xmlns:a16="http://schemas.microsoft.com/office/drawing/2014/main" id="{C4A0B349-3839-FC9B-B2B7-B42DFB2196A5}"/>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13BA0C4B-EC2B-50F6-25B4-7ABF2E546F47}"/>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87BC7DF5-DD71-B7D3-490F-45F52EB8BAA7}"/>
              </a:ext>
            </a:extLst>
          </p:cNvPr>
          <p:cNvSpPr/>
          <p:nvPr/>
        </p:nvSpPr>
        <p:spPr>
          <a:xfrm>
            <a:off x="145915" y="868680"/>
            <a:ext cx="8998085" cy="73444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Now let’s go back to our perfect doctor where each patient is assigned to their </a:t>
            </a:r>
            <a:r>
              <a:rPr lang="en-US" sz="1400" b="1" i="1" dirty="0">
                <a:solidFill>
                  <a:srgbClr val="2B2B2B"/>
                </a:solidFill>
                <a:latin typeface="Calibri" pitchFamily="34" charset="0"/>
                <a:ea typeface="Calibri" pitchFamily="34" charset="-122"/>
                <a:cs typeface="Calibri" pitchFamily="34" charset="-120"/>
              </a:rPr>
              <a:t>best</a:t>
            </a:r>
            <a:r>
              <a:rPr lang="en-US" sz="1400" dirty="0">
                <a:solidFill>
                  <a:srgbClr val="2B2B2B"/>
                </a:solidFill>
                <a:latin typeface="Calibri" pitchFamily="34" charset="0"/>
                <a:ea typeface="Calibri" pitchFamily="34" charset="-122"/>
                <a:cs typeface="Calibri" pitchFamily="34" charset="-120"/>
              </a:rPr>
              <a:t> treatment (surgery if Y¹&gt;Y⁰, chemo if Y¹&lt;Y⁰) and compute the SDO. </a:t>
            </a:r>
          </a:p>
        </p:txBody>
      </p:sp>
      <p:graphicFrame>
        <p:nvGraphicFramePr>
          <p:cNvPr id="9" name="Table 0">
            <a:extLst>
              <a:ext uri="{FF2B5EF4-FFF2-40B4-BE49-F238E27FC236}">
                <a16:creationId xmlns:a16="http://schemas.microsoft.com/office/drawing/2014/main" id="{84B6B152-B4FE-E01D-6F36-77D2090CCF69}"/>
              </a:ext>
            </a:extLst>
          </p:cNvPr>
          <p:cNvGraphicFramePr>
            <a:graphicFrameLocks noGrp="1"/>
          </p:cNvGraphicFramePr>
          <p:nvPr/>
        </p:nvGraphicFramePr>
        <p:xfrm>
          <a:off x="457200" y="1691640"/>
          <a:ext cx="4114800" cy="28651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 (observed)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8" name="Shape 5">
            <a:extLst>
              <a:ext uri="{FF2B5EF4-FFF2-40B4-BE49-F238E27FC236}">
                <a16:creationId xmlns:a16="http://schemas.microsoft.com/office/drawing/2014/main" id="{2851C074-3B18-32A4-B455-B604E671BA09}"/>
              </a:ext>
            </a:extLst>
          </p:cNvPr>
          <p:cNvSpPr/>
          <p:nvPr/>
        </p:nvSpPr>
        <p:spPr>
          <a:xfrm>
            <a:off x="5102352" y="1703070"/>
            <a:ext cx="3657600" cy="2743200"/>
          </a:xfrm>
          <a:prstGeom prst="rect">
            <a:avLst/>
          </a:prstGeom>
          <a:solidFill>
            <a:srgbClr val="FFFFFF"/>
          </a:solidFill>
          <a:ln/>
        </p:spPr>
        <p:txBody>
          <a:bodyPr/>
          <a:lstStyle/>
          <a:p>
            <a:endParaRPr lang="en-US" dirty="0"/>
          </a:p>
        </p:txBody>
      </p:sp>
      <p:sp>
        <p:nvSpPr>
          <p:cNvPr id="7" name="Shape 6">
            <a:extLst>
              <a:ext uri="{FF2B5EF4-FFF2-40B4-BE49-F238E27FC236}">
                <a16:creationId xmlns:a16="http://schemas.microsoft.com/office/drawing/2014/main" id="{32189674-E5FF-1216-C94D-A52F323C1FF4}"/>
              </a:ext>
            </a:extLst>
          </p:cNvPr>
          <p:cNvSpPr/>
          <p:nvPr/>
        </p:nvSpPr>
        <p:spPr>
          <a:xfrm>
            <a:off x="5029200" y="1691640"/>
            <a:ext cx="73152" cy="274320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1C089579-8D13-01A1-7A0A-D20C85E3BF73}"/>
              </a:ext>
            </a:extLst>
          </p:cNvPr>
          <p:cNvSpPr/>
          <p:nvPr/>
        </p:nvSpPr>
        <p:spPr>
          <a:xfrm>
            <a:off x="5303520" y="1828800"/>
            <a:ext cx="141224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Surgery group mean :</a:t>
            </a:r>
            <a:endParaRPr lang="en-US" sz="1200" dirty="0"/>
          </a:p>
        </p:txBody>
      </p:sp>
      <p:sp>
        <p:nvSpPr>
          <p:cNvPr id="11" name="Text 8">
            <a:extLst>
              <a:ext uri="{FF2B5EF4-FFF2-40B4-BE49-F238E27FC236}">
                <a16:creationId xmlns:a16="http://schemas.microsoft.com/office/drawing/2014/main" id="{5F5C084B-0A45-70C2-89EC-B5530A1A3F19}"/>
              </a:ext>
            </a:extLst>
          </p:cNvPr>
          <p:cNvSpPr/>
          <p:nvPr/>
        </p:nvSpPr>
        <p:spPr>
          <a:xfrm>
            <a:off x="6715760" y="1828800"/>
            <a:ext cx="1899920" cy="292608"/>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 (7+5+4+10+9)/5 =7.0</a:t>
            </a:r>
            <a:endParaRPr lang="en-US" sz="1300" dirty="0"/>
          </a:p>
        </p:txBody>
      </p:sp>
      <p:sp>
        <p:nvSpPr>
          <p:cNvPr id="12" name="Text 9">
            <a:extLst>
              <a:ext uri="{FF2B5EF4-FFF2-40B4-BE49-F238E27FC236}">
                <a16:creationId xmlns:a16="http://schemas.microsoft.com/office/drawing/2014/main" id="{1C7E5147-1CFB-8DCA-79BB-62BB2E3975C3}"/>
              </a:ext>
            </a:extLst>
          </p:cNvPr>
          <p:cNvSpPr/>
          <p:nvPr/>
        </p:nvSpPr>
        <p:spPr>
          <a:xfrm>
            <a:off x="5303520" y="2157984"/>
            <a:ext cx="1339088"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Chemo group mean:</a:t>
            </a:r>
            <a:endParaRPr lang="en-US" sz="1200" dirty="0"/>
          </a:p>
        </p:txBody>
      </p:sp>
      <p:sp>
        <p:nvSpPr>
          <p:cNvPr id="13" name="Text 10">
            <a:extLst>
              <a:ext uri="{FF2B5EF4-FFF2-40B4-BE49-F238E27FC236}">
                <a16:creationId xmlns:a16="http://schemas.microsoft.com/office/drawing/2014/main" id="{890F234C-8A45-303B-317E-B35521AC9876}"/>
              </a:ext>
            </a:extLst>
          </p:cNvPr>
          <p:cNvSpPr/>
          <p:nvPr/>
        </p:nvSpPr>
        <p:spPr>
          <a:xfrm>
            <a:off x="6604000" y="2157984"/>
            <a:ext cx="2011680" cy="292608"/>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 (6+8+10+6+7)/5 = 7.4</a:t>
            </a:r>
            <a:endParaRPr lang="en-US" sz="1300" dirty="0"/>
          </a:p>
        </p:txBody>
      </p:sp>
      <p:sp>
        <p:nvSpPr>
          <p:cNvPr id="14" name="Text 11">
            <a:extLst>
              <a:ext uri="{FF2B5EF4-FFF2-40B4-BE49-F238E27FC236}">
                <a16:creationId xmlns:a16="http://schemas.microsoft.com/office/drawing/2014/main" id="{8E22E375-916E-4E92-CF04-365A68AB72F3}"/>
              </a:ext>
            </a:extLst>
          </p:cNvPr>
          <p:cNvSpPr/>
          <p:nvPr/>
        </p:nvSpPr>
        <p:spPr>
          <a:xfrm>
            <a:off x="5303520" y="2487168"/>
            <a:ext cx="2286000" cy="292608"/>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SDO = 7.0 − 7.4 =</a:t>
            </a:r>
            <a:endParaRPr lang="en-US" sz="1200" dirty="0"/>
          </a:p>
        </p:txBody>
      </p:sp>
      <p:sp>
        <p:nvSpPr>
          <p:cNvPr id="15" name="Text 12">
            <a:extLst>
              <a:ext uri="{FF2B5EF4-FFF2-40B4-BE49-F238E27FC236}">
                <a16:creationId xmlns:a16="http://schemas.microsoft.com/office/drawing/2014/main" id="{BE9086A0-B64F-7DC8-7853-100911E4E1E9}"/>
              </a:ext>
            </a:extLst>
          </p:cNvPr>
          <p:cNvSpPr/>
          <p:nvPr/>
        </p:nvSpPr>
        <p:spPr>
          <a:xfrm>
            <a:off x="7498080" y="2487168"/>
            <a:ext cx="1005840" cy="292608"/>
          </a:xfrm>
          <a:prstGeom prst="rect">
            <a:avLst/>
          </a:prstGeom>
          <a:noFill/>
          <a:ln/>
        </p:spPr>
        <p:txBody>
          <a:bodyPr wrap="square" lIns="0" tIns="0" rIns="0" bIns="0" rtlCol="0" anchor="ctr"/>
          <a:lstStyle/>
          <a:p>
            <a:pPr marL="0" indent="0" algn="r">
              <a:buNone/>
            </a:pPr>
            <a:r>
              <a:rPr lang="en-US" sz="1300" b="1" dirty="0">
                <a:solidFill>
                  <a:srgbClr val="C0392B"/>
                </a:solidFill>
                <a:latin typeface="Consolas" pitchFamily="34" charset="0"/>
                <a:ea typeface="Consolas" pitchFamily="34" charset="-122"/>
                <a:cs typeface="Consolas" pitchFamily="34" charset="-120"/>
              </a:rPr>
              <a:t>−0.4</a:t>
            </a:r>
            <a:endParaRPr lang="en-US" sz="1300" dirty="0"/>
          </a:p>
        </p:txBody>
      </p:sp>
      <p:sp>
        <p:nvSpPr>
          <p:cNvPr id="16" name="Text 13">
            <a:extLst>
              <a:ext uri="{FF2B5EF4-FFF2-40B4-BE49-F238E27FC236}">
                <a16:creationId xmlns:a16="http://schemas.microsoft.com/office/drawing/2014/main" id="{722458F9-A365-94CD-1632-3478B16C01F0}"/>
              </a:ext>
            </a:extLst>
          </p:cNvPr>
          <p:cNvSpPr/>
          <p:nvPr/>
        </p:nvSpPr>
        <p:spPr>
          <a:xfrm>
            <a:off x="5303520" y="2816352"/>
            <a:ext cx="2286000" cy="292608"/>
          </a:xfrm>
          <a:prstGeom prst="rect">
            <a:avLst/>
          </a:prstGeom>
          <a:noFill/>
          <a:ln/>
        </p:spPr>
        <p:txBody>
          <a:bodyPr wrap="square" lIns="0" tIns="0" rIns="0" bIns="0" rtlCol="0" anchor="ctr"/>
          <a:lstStyle/>
          <a:p>
            <a:pPr marL="0" indent="0">
              <a:buNone/>
            </a:pPr>
            <a:endParaRPr lang="en-US" sz="1200" dirty="0"/>
          </a:p>
        </p:txBody>
      </p:sp>
      <p:sp>
        <p:nvSpPr>
          <p:cNvPr id="17" name="Text 14">
            <a:extLst>
              <a:ext uri="{FF2B5EF4-FFF2-40B4-BE49-F238E27FC236}">
                <a16:creationId xmlns:a16="http://schemas.microsoft.com/office/drawing/2014/main" id="{DA0181AF-3459-F3DD-D3BA-514971119451}"/>
              </a:ext>
            </a:extLst>
          </p:cNvPr>
          <p:cNvSpPr/>
          <p:nvPr/>
        </p:nvSpPr>
        <p:spPr>
          <a:xfrm>
            <a:off x="7498080" y="2816352"/>
            <a:ext cx="1005840" cy="292608"/>
          </a:xfrm>
          <a:prstGeom prst="rect">
            <a:avLst/>
          </a:prstGeom>
          <a:noFill/>
          <a:ln/>
        </p:spPr>
        <p:txBody>
          <a:bodyPr wrap="square" lIns="0" tIns="0" rIns="0" bIns="0" rtlCol="0" anchor="ctr"/>
          <a:lstStyle/>
          <a:p>
            <a:pPr marL="0" indent="0" algn="r">
              <a:buNone/>
            </a:pPr>
            <a:endParaRPr lang="en-US" sz="1300" dirty="0"/>
          </a:p>
        </p:txBody>
      </p:sp>
      <p:sp>
        <p:nvSpPr>
          <p:cNvPr id="18" name="Text 15">
            <a:extLst>
              <a:ext uri="{FF2B5EF4-FFF2-40B4-BE49-F238E27FC236}">
                <a16:creationId xmlns:a16="http://schemas.microsoft.com/office/drawing/2014/main" id="{B038AFB3-CD9D-C26F-4734-C9EEB71BA6C5}"/>
              </a:ext>
            </a:extLst>
          </p:cNvPr>
          <p:cNvSpPr/>
          <p:nvPr/>
        </p:nvSpPr>
        <p:spPr>
          <a:xfrm>
            <a:off x="5303520" y="3145536"/>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True ATE:</a:t>
            </a:r>
            <a:endParaRPr lang="en-US" sz="1200" dirty="0"/>
          </a:p>
        </p:txBody>
      </p:sp>
      <p:sp>
        <p:nvSpPr>
          <p:cNvPr id="19" name="Text 16">
            <a:extLst>
              <a:ext uri="{FF2B5EF4-FFF2-40B4-BE49-F238E27FC236}">
                <a16:creationId xmlns:a16="http://schemas.microsoft.com/office/drawing/2014/main" id="{076811EF-C2CA-72CE-7F4C-414F6DE35662}"/>
              </a:ext>
            </a:extLst>
          </p:cNvPr>
          <p:cNvSpPr/>
          <p:nvPr/>
        </p:nvSpPr>
        <p:spPr>
          <a:xfrm>
            <a:off x="7498080" y="3145536"/>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0.6</a:t>
            </a:r>
            <a:endParaRPr lang="en-US" sz="1300" dirty="0"/>
          </a:p>
        </p:txBody>
      </p:sp>
      <p:sp>
        <p:nvSpPr>
          <p:cNvPr id="20" name="Text 17">
            <a:extLst>
              <a:ext uri="{FF2B5EF4-FFF2-40B4-BE49-F238E27FC236}">
                <a16:creationId xmlns:a16="http://schemas.microsoft.com/office/drawing/2014/main" id="{62C6A126-4C28-47A4-1072-54A3E924B014}"/>
              </a:ext>
            </a:extLst>
          </p:cNvPr>
          <p:cNvSpPr/>
          <p:nvPr/>
        </p:nvSpPr>
        <p:spPr>
          <a:xfrm>
            <a:off x="5303520" y="3474720"/>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ATT:</a:t>
            </a:r>
            <a:endParaRPr lang="en-US" sz="1200" dirty="0"/>
          </a:p>
        </p:txBody>
      </p:sp>
      <p:sp>
        <p:nvSpPr>
          <p:cNvPr id="21" name="Text 18">
            <a:extLst>
              <a:ext uri="{FF2B5EF4-FFF2-40B4-BE49-F238E27FC236}">
                <a16:creationId xmlns:a16="http://schemas.microsoft.com/office/drawing/2014/main" id="{0E56FE46-38FA-C347-F883-06EE10CFEEF4}"/>
              </a:ext>
            </a:extLst>
          </p:cNvPr>
          <p:cNvSpPr/>
          <p:nvPr/>
        </p:nvSpPr>
        <p:spPr>
          <a:xfrm>
            <a:off x="7498080" y="3474720"/>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4.4</a:t>
            </a:r>
            <a:endParaRPr lang="en-US" sz="1300" dirty="0"/>
          </a:p>
        </p:txBody>
      </p:sp>
      <p:sp>
        <p:nvSpPr>
          <p:cNvPr id="22" name="Text 19">
            <a:extLst>
              <a:ext uri="{FF2B5EF4-FFF2-40B4-BE49-F238E27FC236}">
                <a16:creationId xmlns:a16="http://schemas.microsoft.com/office/drawing/2014/main" id="{7CE12ADB-95A0-CE21-6EB8-412FB43A66C5}"/>
              </a:ext>
            </a:extLst>
          </p:cNvPr>
          <p:cNvSpPr/>
          <p:nvPr/>
        </p:nvSpPr>
        <p:spPr>
          <a:xfrm>
            <a:off x="5303520" y="3803904"/>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ATU:</a:t>
            </a:r>
            <a:endParaRPr lang="en-US" sz="1200" dirty="0"/>
          </a:p>
        </p:txBody>
      </p:sp>
      <p:sp>
        <p:nvSpPr>
          <p:cNvPr id="23" name="Text 20">
            <a:extLst>
              <a:ext uri="{FF2B5EF4-FFF2-40B4-BE49-F238E27FC236}">
                <a16:creationId xmlns:a16="http://schemas.microsoft.com/office/drawing/2014/main" id="{E570993A-BF93-9E1E-5293-3F7D5A64DCA7}"/>
              </a:ext>
            </a:extLst>
          </p:cNvPr>
          <p:cNvSpPr/>
          <p:nvPr/>
        </p:nvSpPr>
        <p:spPr>
          <a:xfrm>
            <a:off x="7498080" y="3803904"/>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−3.2</a:t>
            </a:r>
            <a:endParaRPr lang="en-US" sz="1300" dirty="0"/>
          </a:p>
        </p:txBody>
      </p:sp>
    </p:spTree>
    <p:extLst>
      <p:ext uri="{BB962C8B-B14F-4D97-AF65-F5344CB8AC3E}">
        <p14:creationId xmlns:p14="http://schemas.microsoft.com/office/powerpoint/2010/main" val="2171248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0D41-2FB6-FBCE-E02A-A526C3F9044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8BD9339-C29C-4526-D339-47C917E4C214}"/>
              </a:ext>
            </a:extLst>
          </p:cNvPr>
          <p:cNvSpPr/>
          <p:nvPr/>
        </p:nvSpPr>
        <p:spPr>
          <a:xfrm>
            <a:off x="3022600" y="3037341"/>
            <a:ext cx="1968500" cy="427727"/>
          </a:xfrm>
          <a:prstGeom prst="rect">
            <a:avLst/>
          </a:pr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ape 0">
            <a:extLst>
              <a:ext uri="{FF2B5EF4-FFF2-40B4-BE49-F238E27FC236}">
                <a16:creationId xmlns:a16="http://schemas.microsoft.com/office/drawing/2014/main" id="{412E9871-5628-BB8D-CEB2-C24C76645C94}"/>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988A3319-E70B-4E1F-B6E1-9B690692C7CE}"/>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Verify ATT and ATU </a:t>
            </a:r>
            <a:endParaRPr lang="en-US" sz="2600" dirty="0"/>
          </a:p>
        </p:txBody>
      </p:sp>
      <p:sp>
        <p:nvSpPr>
          <p:cNvPr id="4" name="Shape 2">
            <a:extLst>
              <a:ext uri="{FF2B5EF4-FFF2-40B4-BE49-F238E27FC236}">
                <a16:creationId xmlns:a16="http://schemas.microsoft.com/office/drawing/2014/main" id="{BE955327-8D62-F5F2-7C1D-DF2CD0F0DE7C}"/>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F803A06F-F6BE-A624-ADEE-4871FD6ED32C}"/>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10" name="TextBox 9">
            <a:extLst>
              <a:ext uri="{FF2B5EF4-FFF2-40B4-BE49-F238E27FC236}">
                <a16:creationId xmlns:a16="http://schemas.microsoft.com/office/drawing/2014/main" id="{4AD9922A-B832-8E70-5822-B5B764905FBF}"/>
              </a:ext>
            </a:extLst>
          </p:cNvPr>
          <p:cNvSpPr txBox="1"/>
          <p:nvPr/>
        </p:nvSpPr>
        <p:spPr>
          <a:xfrm>
            <a:off x="135554" y="876239"/>
            <a:ext cx="8796758" cy="2062103"/>
          </a:xfrm>
          <a:prstGeom prst="rect">
            <a:avLst/>
          </a:prstGeom>
          <a:noFill/>
        </p:spPr>
        <p:txBody>
          <a:bodyPr wrap="square" rtlCol="0">
            <a:spAutoFit/>
          </a:bodyPr>
          <a:lstStyle/>
          <a:p>
            <a:pPr>
              <a:spcAft>
                <a:spcPts val="600"/>
              </a:spcAft>
            </a:pPr>
            <a:r>
              <a:rPr lang="en-US" dirty="0"/>
              <a:t>In slide 8 we computed the ATE directly to be -0.6 </a:t>
            </a:r>
          </a:p>
          <a:p>
            <a:pPr>
              <a:spcAft>
                <a:spcPts val="600"/>
              </a:spcAft>
            </a:pPr>
            <a:r>
              <a:rPr lang="en-US" dirty="0"/>
              <a:t>Now, let’s verify and show that the ATE can be computed as a Weighted Average between ATT and ATU</a:t>
            </a:r>
          </a:p>
          <a:p>
            <a:pPr>
              <a:spcAft>
                <a:spcPts val="600"/>
              </a:spcAft>
            </a:pPr>
            <a:endParaRPr lang="en-US" dirty="0"/>
          </a:p>
          <a:p>
            <a:pPr>
              <a:spcAft>
                <a:spcPts val="600"/>
              </a:spcAft>
            </a:pPr>
            <a:endParaRPr lang="en-US" dirty="0"/>
          </a:p>
          <a:p>
            <a:pPr>
              <a:spcAft>
                <a:spcPts val="600"/>
              </a:spcAft>
            </a:pPr>
            <a:endParaRPr lang="en-US" dirty="0"/>
          </a:p>
        </p:txBody>
      </p:sp>
      <p:sp>
        <p:nvSpPr>
          <p:cNvPr id="7" name="TextBox 6">
            <a:extLst>
              <a:ext uri="{FF2B5EF4-FFF2-40B4-BE49-F238E27FC236}">
                <a16:creationId xmlns:a16="http://schemas.microsoft.com/office/drawing/2014/main" id="{D7A482C8-5FE8-04C7-4725-38F96FD96868}"/>
              </a:ext>
            </a:extLst>
          </p:cNvPr>
          <p:cNvSpPr txBox="1"/>
          <p:nvPr/>
        </p:nvSpPr>
        <p:spPr>
          <a:xfrm>
            <a:off x="3111500" y="2015619"/>
            <a:ext cx="3289300" cy="1431161"/>
          </a:xfrm>
          <a:prstGeom prst="rect">
            <a:avLst/>
          </a:prstGeom>
          <a:noFill/>
        </p:spPr>
        <p:txBody>
          <a:bodyPr wrap="square">
            <a:spAutoFit/>
          </a:bodyPr>
          <a:lstStyle/>
          <a:p>
            <a:pPr>
              <a:spcAft>
                <a:spcPts val="600"/>
              </a:spcAft>
            </a:pPr>
            <a:r>
              <a:rPr lang="en-US" dirty="0"/>
              <a:t> ATE = </a:t>
            </a:r>
            <a:r>
              <a:rPr lang="el-GR" dirty="0"/>
              <a:t>π · </a:t>
            </a:r>
            <a:r>
              <a:rPr lang="en-US" dirty="0"/>
              <a:t>ATT + (1 − </a:t>
            </a:r>
            <a:r>
              <a:rPr lang="el-GR" dirty="0"/>
              <a:t>π) · </a:t>
            </a:r>
            <a:r>
              <a:rPr lang="en-US" dirty="0"/>
              <a:t>ATU</a:t>
            </a:r>
          </a:p>
          <a:p>
            <a:pPr>
              <a:spcAft>
                <a:spcPts val="600"/>
              </a:spcAft>
            </a:pPr>
            <a:r>
              <a:rPr lang="en-US" dirty="0"/>
              <a:t>        = 0.5 × 4.4 + 0.5 × (−3.2)</a:t>
            </a:r>
          </a:p>
          <a:p>
            <a:pPr>
              <a:spcAft>
                <a:spcPts val="600"/>
              </a:spcAft>
            </a:pPr>
            <a:r>
              <a:rPr lang="en-US" dirty="0"/>
              <a:t>        = 2.2 + (−1.6)</a:t>
            </a:r>
          </a:p>
          <a:p>
            <a:pPr>
              <a:spcAft>
                <a:spcPts val="600"/>
              </a:spcAft>
            </a:pPr>
            <a:r>
              <a:rPr lang="en-US" dirty="0"/>
              <a:t>ATE  = 0.6  ✓</a:t>
            </a:r>
          </a:p>
        </p:txBody>
      </p:sp>
      <p:sp>
        <p:nvSpPr>
          <p:cNvPr id="11" name="TextBox 10">
            <a:extLst>
              <a:ext uri="{FF2B5EF4-FFF2-40B4-BE49-F238E27FC236}">
                <a16:creationId xmlns:a16="http://schemas.microsoft.com/office/drawing/2014/main" id="{4EDD70BB-1B26-7F77-D714-977D7C889AF9}"/>
              </a:ext>
            </a:extLst>
          </p:cNvPr>
          <p:cNvSpPr txBox="1"/>
          <p:nvPr/>
        </p:nvSpPr>
        <p:spPr>
          <a:xfrm>
            <a:off x="135554" y="3754556"/>
            <a:ext cx="8796758" cy="646331"/>
          </a:xfrm>
          <a:prstGeom prst="rect">
            <a:avLst/>
          </a:prstGeom>
          <a:noFill/>
        </p:spPr>
        <p:txBody>
          <a:bodyPr wrap="square">
            <a:spAutoFit/>
          </a:bodyPr>
          <a:lstStyle/>
          <a:p>
            <a:pPr>
              <a:spcAft>
                <a:spcPts val="600"/>
              </a:spcAft>
            </a:pPr>
            <a:r>
              <a:rPr lang="en-US" dirty="0"/>
              <a:t>Notice: The ATT and ATU have opposite signs. Surgery helps some people and hurts others. The ATE of 0.6 is a mild positive average, but it masks enormous heterogeneity underneath.</a:t>
            </a:r>
          </a:p>
        </p:txBody>
      </p:sp>
    </p:spTree>
    <p:extLst>
      <p:ext uri="{BB962C8B-B14F-4D97-AF65-F5344CB8AC3E}">
        <p14:creationId xmlns:p14="http://schemas.microsoft.com/office/powerpoint/2010/main" val="2231862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SDO Decomposition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simple difference in outcomes contains THREE components:</a:t>
            </a:r>
            <a:endParaRPr lang="en-US" sz="1400" dirty="0"/>
          </a:p>
        </p:txBody>
      </p:sp>
      <p:sp>
        <p:nvSpPr>
          <p:cNvPr id="7" name="Shape 5"/>
          <p:cNvSpPr/>
          <p:nvPr/>
        </p:nvSpPr>
        <p:spPr>
          <a:xfrm>
            <a:off x="457200" y="1463040"/>
            <a:ext cx="8229600" cy="658368"/>
          </a:xfrm>
          <a:prstGeom prst="rect">
            <a:avLst/>
          </a:prstGeom>
          <a:solidFill>
            <a:srgbClr val="F0F0F0"/>
          </a:solidFill>
          <a:ln/>
        </p:spPr>
        <p:txBody>
          <a:bodyPr/>
          <a:lstStyle/>
          <a:p>
            <a:endParaRPr lang="en-US"/>
          </a:p>
        </p:txBody>
      </p:sp>
      <p:sp>
        <p:nvSpPr>
          <p:cNvPr id="8" name="Shape 6"/>
          <p:cNvSpPr/>
          <p:nvPr/>
        </p:nvSpPr>
        <p:spPr>
          <a:xfrm>
            <a:off x="457200" y="1463040"/>
            <a:ext cx="73152" cy="658368"/>
          </a:xfrm>
          <a:prstGeom prst="rect">
            <a:avLst/>
          </a:prstGeom>
          <a:solidFill>
            <a:srgbClr val="2B2B2B"/>
          </a:solidFill>
          <a:ln/>
        </p:spPr>
        <p:txBody>
          <a:bodyPr/>
          <a:lstStyle/>
          <a:p>
            <a:endParaRPr lang="en-US"/>
          </a:p>
        </p:txBody>
      </p:sp>
      <p:sp>
        <p:nvSpPr>
          <p:cNvPr id="9" name="Text 7"/>
          <p:cNvSpPr/>
          <p:nvPr/>
        </p:nvSpPr>
        <p:spPr>
          <a:xfrm>
            <a:off x="731520" y="1463040"/>
            <a:ext cx="2560320" cy="658368"/>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SDO =</a:t>
            </a:r>
            <a:endParaRPr lang="en-US" sz="1500" dirty="0"/>
          </a:p>
        </p:txBody>
      </p:sp>
      <p:sp>
        <p:nvSpPr>
          <p:cNvPr id="10" name="Text 8"/>
          <p:cNvSpPr/>
          <p:nvPr/>
        </p:nvSpPr>
        <p:spPr>
          <a:xfrm>
            <a:off x="3200400" y="1463040"/>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E[Y¹|D=1] − E[Y⁰|D=0]</a:t>
            </a:r>
            <a:endParaRPr lang="en-US" sz="1300" dirty="0"/>
          </a:p>
        </p:txBody>
      </p:sp>
      <p:sp>
        <p:nvSpPr>
          <p:cNvPr id="11" name="Text 9"/>
          <p:cNvSpPr/>
          <p:nvPr/>
        </p:nvSpPr>
        <p:spPr>
          <a:xfrm>
            <a:off x="6400800" y="1463040"/>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What we can compute from data</a:t>
            </a:r>
            <a:endParaRPr lang="en-US" sz="1000" dirty="0"/>
          </a:p>
        </p:txBody>
      </p:sp>
      <p:sp>
        <p:nvSpPr>
          <p:cNvPr id="12" name="Shape 10"/>
          <p:cNvSpPr/>
          <p:nvPr/>
        </p:nvSpPr>
        <p:spPr>
          <a:xfrm>
            <a:off x="457200" y="2212848"/>
            <a:ext cx="8229600" cy="658368"/>
          </a:xfrm>
          <a:prstGeom prst="rect">
            <a:avLst/>
          </a:prstGeom>
          <a:solidFill>
            <a:srgbClr val="E8F8E8"/>
          </a:solidFill>
          <a:ln/>
        </p:spPr>
        <p:txBody>
          <a:bodyPr/>
          <a:lstStyle/>
          <a:p>
            <a:endParaRPr lang="en-US"/>
          </a:p>
        </p:txBody>
      </p:sp>
      <p:sp>
        <p:nvSpPr>
          <p:cNvPr id="13" name="Shape 11"/>
          <p:cNvSpPr/>
          <p:nvPr/>
        </p:nvSpPr>
        <p:spPr>
          <a:xfrm>
            <a:off x="457200" y="2212848"/>
            <a:ext cx="73152" cy="658368"/>
          </a:xfrm>
          <a:prstGeom prst="rect">
            <a:avLst/>
          </a:prstGeom>
          <a:solidFill>
            <a:srgbClr val="27AE60"/>
          </a:solidFill>
          <a:ln/>
        </p:spPr>
        <p:txBody>
          <a:bodyPr/>
          <a:lstStyle/>
          <a:p>
            <a:endParaRPr lang="en-US"/>
          </a:p>
        </p:txBody>
      </p:sp>
      <p:sp>
        <p:nvSpPr>
          <p:cNvPr id="14" name="Text 12"/>
          <p:cNvSpPr/>
          <p:nvPr/>
        </p:nvSpPr>
        <p:spPr>
          <a:xfrm>
            <a:off x="731520" y="2212848"/>
            <a:ext cx="2560320" cy="658368"/>
          </a:xfrm>
          <a:prstGeom prst="rect">
            <a:avLst/>
          </a:prstGeom>
          <a:noFill/>
          <a:ln/>
        </p:spPr>
        <p:txBody>
          <a:bodyPr wrap="square" lIns="0" tIns="0" rIns="0" bIns="0" rtlCol="0" anchor="ctr"/>
          <a:lstStyle/>
          <a:p>
            <a:pPr marL="0" indent="0">
              <a:buNone/>
            </a:pPr>
            <a:r>
              <a:rPr lang="en-US" sz="1500" b="1" dirty="0">
                <a:solidFill>
                  <a:srgbClr val="27AE60"/>
                </a:solidFill>
                <a:latin typeface="Calibri" pitchFamily="34" charset="0"/>
                <a:ea typeface="Calibri" pitchFamily="34" charset="-122"/>
                <a:cs typeface="Calibri" pitchFamily="34" charset="-120"/>
              </a:rPr>
              <a:t>= ATE</a:t>
            </a:r>
            <a:endParaRPr lang="en-US" sz="1500" dirty="0"/>
          </a:p>
        </p:txBody>
      </p:sp>
      <p:sp>
        <p:nvSpPr>
          <p:cNvPr id="15" name="Text 13"/>
          <p:cNvSpPr/>
          <p:nvPr/>
        </p:nvSpPr>
        <p:spPr>
          <a:xfrm>
            <a:off x="3200400" y="2212848"/>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E[Y¹] − E[Y⁰]</a:t>
            </a:r>
            <a:endParaRPr lang="en-US" sz="1300" dirty="0"/>
          </a:p>
        </p:txBody>
      </p:sp>
      <p:sp>
        <p:nvSpPr>
          <p:cNvPr id="16" name="Text 14"/>
          <p:cNvSpPr/>
          <p:nvPr/>
        </p:nvSpPr>
        <p:spPr>
          <a:xfrm>
            <a:off x="6400800" y="2212848"/>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What we WANT</a:t>
            </a:r>
            <a:endParaRPr lang="en-US" sz="1000" dirty="0"/>
          </a:p>
        </p:txBody>
      </p:sp>
      <p:sp>
        <p:nvSpPr>
          <p:cNvPr id="17" name="Shape 15"/>
          <p:cNvSpPr/>
          <p:nvPr/>
        </p:nvSpPr>
        <p:spPr>
          <a:xfrm>
            <a:off x="457200" y="2962656"/>
            <a:ext cx="8229600" cy="658368"/>
          </a:xfrm>
          <a:prstGeom prst="rect">
            <a:avLst/>
          </a:prstGeom>
          <a:solidFill>
            <a:srgbClr val="FDE8E8"/>
          </a:solidFill>
          <a:ln/>
        </p:spPr>
        <p:txBody>
          <a:bodyPr/>
          <a:lstStyle/>
          <a:p>
            <a:endParaRPr lang="en-US"/>
          </a:p>
        </p:txBody>
      </p:sp>
      <p:sp>
        <p:nvSpPr>
          <p:cNvPr id="18" name="Shape 16"/>
          <p:cNvSpPr/>
          <p:nvPr/>
        </p:nvSpPr>
        <p:spPr>
          <a:xfrm>
            <a:off x="457200" y="2962656"/>
            <a:ext cx="73152" cy="658368"/>
          </a:xfrm>
          <a:prstGeom prst="rect">
            <a:avLst/>
          </a:prstGeom>
          <a:solidFill>
            <a:srgbClr val="C0392B"/>
          </a:solidFill>
          <a:ln/>
        </p:spPr>
        <p:txBody>
          <a:bodyPr/>
          <a:lstStyle/>
          <a:p>
            <a:endParaRPr lang="en-US"/>
          </a:p>
        </p:txBody>
      </p:sp>
      <p:sp>
        <p:nvSpPr>
          <p:cNvPr id="19" name="Text 17"/>
          <p:cNvSpPr/>
          <p:nvPr/>
        </p:nvSpPr>
        <p:spPr>
          <a:xfrm>
            <a:off x="731520" y="2962656"/>
            <a:ext cx="2560320" cy="658368"/>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 Selection Bias</a:t>
            </a:r>
            <a:endParaRPr lang="en-US" sz="1500" dirty="0"/>
          </a:p>
        </p:txBody>
      </p:sp>
      <p:sp>
        <p:nvSpPr>
          <p:cNvPr id="20" name="Text 18"/>
          <p:cNvSpPr/>
          <p:nvPr/>
        </p:nvSpPr>
        <p:spPr>
          <a:xfrm>
            <a:off x="3200400" y="2962656"/>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E[Y⁰|D=1] − E[Y⁰|D=0]</a:t>
            </a:r>
            <a:endParaRPr lang="en-US" sz="1300" dirty="0"/>
          </a:p>
        </p:txBody>
      </p:sp>
      <p:sp>
        <p:nvSpPr>
          <p:cNvPr id="21" name="Text 19"/>
          <p:cNvSpPr/>
          <p:nvPr/>
        </p:nvSpPr>
        <p:spPr>
          <a:xfrm>
            <a:off x="6400800" y="2962656"/>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Baseline difference between groups</a:t>
            </a:r>
            <a:endParaRPr lang="en-US" sz="1000" dirty="0"/>
          </a:p>
        </p:txBody>
      </p:sp>
      <p:sp>
        <p:nvSpPr>
          <p:cNvPr id="22" name="Shape 20"/>
          <p:cNvSpPr/>
          <p:nvPr/>
        </p:nvSpPr>
        <p:spPr>
          <a:xfrm>
            <a:off x="457200" y="3712464"/>
            <a:ext cx="8229600" cy="658368"/>
          </a:xfrm>
          <a:prstGeom prst="rect">
            <a:avLst/>
          </a:prstGeom>
          <a:solidFill>
            <a:srgbClr val="FFF3E0"/>
          </a:solidFill>
          <a:ln/>
        </p:spPr>
        <p:txBody>
          <a:bodyPr/>
          <a:lstStyle/>
          <a:p>
            <a:endParaRPr lang="en-US"/>
          </a:p>
        </p:txBody>
      </p:sp>
      <p:sp>
        <p:nvSpPr>
          <p:cNvPr id="23" name="Shape 21"/>
          <p:cNvSpPr/>
          <p:nvPr/>
        </p:nvSpPr>
        <p:spPr>
          <a:xfrm>
            <a:off x="457200" y="3712464"/>
            <a:ext cx="73152" cy="658368"/>
          </a:xfrm>
          <a:prstGeom prst="rect">
            <a:avLst/>
          </a:prstGeom>
          <a:solidFill>
            <a:srgbClr val="E8943A"/>
          </a:solidFill>
          <a:ln/>
        </p:spPr>
        <p:txBody>
          <a:bodyPr/>
          <a:lstStyle/>
          <a:p>
            <a:endParaRPr lang="en-US"/>
          </a:p>
        </p:txBody>
      </p:sp>
      <p:sp>
        <p:nvSpPr>
          <p:cNvPr id="24" name="Text 22"/>
          <p:cNvSpPr/>
          <p:nvPr/>
        </p:nvSpPr>
        <p:spPr>
          <a:xfrm>
            <a:off x="731520" y="3712464"/>
            <a:ext cx="2560320" cy="658368"/>
          </a:xfrm>
          <a:prstGeom prst="rect">
            <a:avLst/>
          </a:prstGeom>
          <a:noFill/>
          <a:ln/>
        </p:spPr>
        <p:txBody>
          <a:bodyPr wrap="square" lIns="0" tIns="0" rIns="0" bIns="0" rtlCol="0" anchor="ctr"/>
          <a:lstStyle/>
          <a:p>
            <a:pPr marL="0" indent="0">
              <a:buNone/>
            </a:pPr>
            <a:r>
              <a:rPr lang="en-US" sz="1500" b="1" dirty="0">
                <a:solidFill>
                  <a:srgbClr val="E8943A"/>
                </a:solidFill>
                <a:latin typeface="Calibri" pitchFamily="34" charset="0"/>
                <a:ea typeface="Calibri" pitchFamily="34" charset="-122"/>
                <a:cs typeface="Calibri" pitchFamily="34" charset="-120"/>
              </a:rPr>
              <a:t>+ HTE Bias</a:t>
            </a:r>
            <a:endParaRPr lang="en-US" sz="1500" dirty="0"/>
          </a:p>
        </p:txBody>
      </p:sp>
      <p:sp>
        <p:nvSpPr>
          <p:cNvPr id="25" name="Text 23"/>
          <p:cNvSpPr/>
          <p:nvPr/>
        </p:nvSpPr>
        <p:spPr>
          <a:xfrm>
            <a:off x="3200400" y="3712464"/>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(1−π)(ATT − ATU)</a:t>
            </a:r>
            <a:endParaRPr lang="en-US" sz="1300" dirty="0"/>
          </a:p>
        </p:txBody>
      </p:sp>
      <p:sp>
        <p:nvSpPr>
          <p:cNvPr id="26" name="Text 24"/>
          <p:cNvSpPr/>
          <p:nvPr/>
        </p:nvSpPr>
        <p:spPr>
          <a:xfrm>
            <a:off x="6400800" y="3712464"/>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Different returns to treatment</a:t>
            </a:r>
            <a:endParaRPr lang="en-US" sz="1000" dirty="0"/>
          </a:p>
        </p:txBody>
      </p:sp>
      <p:sp>
        <p:nvSpPr>
          <p:cNvPr id="27" name="Shape 25"/>
          <p:cNvSpPr/>
          <p:nvPr/>
        </p:nvSpPr>
        <p:spPr>
          <a:xfrm>
            <a:off x="457200" y="4526280"/>
            <a:ext cx="8229600" cy="201168"/>
          </a:xfrm>
          <a:prstGeom prst="rect">
            <a:avLst/>
          </a:prstGeom>
          <a:solidFill>
            <a:srgbClr val="141C3D"/>
          </a:solidFill>
          <a:ln/>
        </p:spPr>
        <p:txBody>
          <a:bodyPr/>
          <a:lstStyle/>
          <a:p>
            <a:endParaRPr lang="en-US"/>
          </a:p>
        </p:txBody>
      </p:sp>
      <p:sp>
        <p:nvSpPr>
          <p:cNvPr id="28" name="Text 26"/>
          <p:cNvSpPr/>
          <p:nvPr/>
        </p:nvSpPr>
        <p:spPr>
          <a:xfrm>
            <a:off x="640080" y="4526280"/>
            <a:ext cx="7772400" cy="201168"/>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−0.4  =  0.6  +  (−4.8)  +  3.8        ✓   It checks out!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Selection Bias?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1280160"/>
          </a:xfrm>
          <a:prstGeom prst="rect">
            <a:avLst/>
          </a:prstGeom>
          <a:solidFill>
            <a:srgbClr val="FFFFFF"/>
          </a:solidFill>
          <a:ln/>
        </p:spPr>
        <p:txBody>
          <a:bodyPr/>
          <a:lstStyle/>
          <a:p>
            <a:endParaRPr lang="en-US"/>
          </a:p>
        </p:txBody>
      </p:sp>
      <p:sp>
        <p:nvSpPr>
          <p:cNvPr id="7" name="Shape 5"/>
          <p:cNvSpPr/>
          <p:nvPr/>
        </p:nvSpPr>
        <p:spPr>
          <a:xfrm>
            <a:off x="457200" y="1005840"/>
            <a:ext cx="73152" cy="1280160"/>
          </a:xfrm>
          <a:prstGeom prst="rect">
            <a:avLst/>
          </a:prstGeom>
          <a:solidFill>
            <a:srgbClr val="C0392B"/>
          </a:solidFill>
          <a:ln/>
        </p:spPr>
        <p:txBody>
          <a:bodyPr/>
          <a:lstStyle/>
          <a:p>
            <a:endParaRPr lang="en-US"/>
          </a:p>
        </p:txBody>
      </p:sp>
      <p:sp>
        <p:nvSpPr>
          <p:cNvPr id="8" name="Text 6"/>
          <p:cNvSpPr/>
          <p:nvPr/>
        </p:nvSpPr>
        <p:spPr>
          <a:xfrm>
            <a:off x="731520" y="1097280"/>
            <a:ext cx="7680960" cy="109728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ea typeface="Consolas" pitchFamily="34" charset="-122"/>
                <a:cs typeface="Consolas" pitchFamily="34" charset="-120"/>
              </a:rPr>
              <a:t>Selection Bias  =  E[Y⁰ | D=1] − E[Y⁰ | D=0]</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The difference between the treatment and control groups that would exist even if neither group received treatment. It measures how the groups differ at baseline.</a:t>
            </a:r>
            <a:endParaRPr lang="en-US" sz="1500" dirty="0"/>
          </a:p>
        </p:txBody>
      </p:sp>
      <p:sp>
        <p:nvSpPr>
          <p:cNvPr id="9" name="Shape 7"/>
          <p:cNvSpPr/>
          <p:nvPr/>
        </p:nvSpPr>
        <p:spPr>
          <a:xfrm>
            <a:off x="457200" y="2514600"/>
            <a:ext cx="8229600" cy="1097280"/>
          </a:xfrm>
          <a:prstGeom prst="rect">
            <a:avLst/>
          </a:prstGeom>
          <a:solidFill>
            <a:srgbClr val="FDE8E8"/>
          </a:solidFill>
          <a:ln/>
        </p:spPr>
        <p:txBody>
          <a:bodyPr/>
          <a:lstStyle/>
          <a:p>
            <a:endParaRPr lang="en-US"/>
          </a:p>
        </p:txBody>
      </p:sp>
      <p:sp>
        <p:nvSpPr>
          <p:cNvPr id="10" name="Text 8"/>
          <p:cNvSpPr/>
          <p:nvPr/>
        </p:nvSpPr>
        <p:spPr>
          <a:xfrm>
            <a:off x="731520" y="2606040"/>
            <a:ext cx="7680960" cy="91440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In our example: </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E[Y⁰|D=1] = 2.6 (chemo outcome for the surgery group)</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E[Y⁰|D=0] = 7.4 (chemo outcome for the chemo group)</a:t>
            </a:r>
            <a:endParaRPr lang="en-US" sz="1400" dirty="0"/>
          </a:p>
          <a:p>
            <a:pPr marL="0" indent="0">
              <a:buNone/>
            </a:pPr>
            <a:r>
              <a:rPr lang="en-US" sz="1400" b="1" dirty="0">
                <a:solidFill>
                  <a:srgbClr val="C0392B"/>
                </a:solidFill>
                <a:latin typeface="Calibri" pitchFamily="34" charset="0"/>
                <a:ea typeface="Calibri" pitchFamily="34" charset="-122"/>
                <a:cs typeface="Calibri" pitchFamily="34" charset="-120"/>
              </a:rPr>
              <a:t>Selection Bias = 2.6 − 7.4 = −4.8</a:t>
            </a:r>
            <a:endParaRPr lang="en-US" sz="1400" dirty="0"/>
          </a:p>
        </p:txBody>
      </p:sp>
      <p:sp>
        <p:nvSpPr>
          <p:cNvPr id="11" name="Shape 9"/>
          <p:cNvSpPr/>
          <p:nvPr/>
        </p:nvSpPr>
        <p:spPr>
          <a:xfrm>
            <a:off x="457200" y="3840480"/>
            <a:ext cx="8229600" cy="777240"/>
          </a:xfrm>
          <a:prstGeom prst="rect">
            <a:avLst/>
          </a:prstGeom>
          <a:solidFill>
            <a:srgbClr val="FFF8F0"/>
          </a:solidFill>
          <a:ln/>
        </p:spPr>
        <p:txBody>
          <a:bodyPr/>
          <a:lstStyle/>
          <a:p>
            <a:endParaRPr lang="en-US"/>
          </a:p>
        </p:txBody>
      </p:sp>
      <p:sp>
        <p:nvSpPr>
          <p:cNvPr id="12" name="Shape 10"/>
          <p:cNvSpPr/>
          <p:nvPr/>
        </p:nvSpPr>
        <p:spPr>
          <a:xfrm>
            <a:off x="457200" y="3840480"/>
            <a:ext cx="73152" cy="777240"/>
          </a:xfrm>
          <a:prstGeom prst="rect">
            <a:avLst/>
          </a:prstGeom>
          <a:solidFill>
            <a:srgbClr val="E8943A"/>
          </a:solidFill>
          <a:ln/>
        </p:spPr>
        <p:txBody>
          <a:bodyPr/>
          <a:lstStyle/>
          <a:p>
            <a:endParaRPr lang="en-US"/>
          </a:p>
        </p:txBody>
      </p:sp>
      <p:sp>
        <p:nvSpPr>
          <p:cNvPr id="13" name="Text 11"/>
          <p:cNvSpPr/>
          <p:nvPr/>
        </p:nvSpPr>
        <p:spPr>
          <a:xfrm>
            <a:off x="731520" y="3913632"/>
            <a:ext cx="7680960" cy="594360"/>
          </a:xfrm>
          <a:prstGeom prst="rect">
            <a:avLst/>
          </a:prstGeom>
          <a:noFill/>
          <a:ln/>
        </p:spPr>
        <p:txBody>
          <a:bodyPr wrap="square" lIns="0" tIns="0" rIns="0" bIns="0" rtlCol="0" anchor="ctr"/>
          <a:lstStyle/>
          <a:p>
            <a:pPr marL="0" indent="0">
              <a:buNone/>
            </a:pPr>
            <a:r>
              <a:rPr lang="en-US" sz="1300" b="1" dirty="0">
                <a:solidFill>
                  <a:srgbClr val="E8943A"/>
                </a:solidFill>
                <a:latin typeface="Calibri" pitchFamily="34" charset="0"/>
                <a:ea typeface="Calibri" pitchFamily="34" charset="-122"/>
                <a:cs typeface="Calibri" pitchFamily="34" charset="-120"/>
              </a:rPr>
              <a:t>Intuition: </a:t>
            </a:r>
            <a:r>
              <a:rPr lang="en-US" sz="1300" dirty="0">
                <a:solidFill>
                  <a:srgbClr val="2B2B2B"/>
                </a:solidFill>
                <a:latin typeface="Calibri" pitchFamily="34" charset="0"/>
                <a:ea typeface="Calibri" pitchFamily="34" charset="-122"/>
                <a:cs typeface="Calibri" pitchFamily="34" charset="-120"/>
              </a:rPr>
              <a:t>The "perfect doctor" sent the sickest patients (those who would do poorly on chemo) to surgery. So the surgery group has fundamentally worse baseline prognosis.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Heterogeneous Treatment Effect Bias?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1188720"/>
          </a:xfrm>
          <a:prstGeom prst="rect">
            <a:avLst/>
          </a:prstGeom>
          <a:solidFill>
            <a:srgbClr val="FFFFFF"/>
          </a:solidFill>
          <a:ln/>
        </p:spPr>
        <p:txBody>
          <a:bodyPr/>
          <a:lstStyle/>
          <a:p>
            <a:endParaRPr lang="en-US"/>
          </a:p>
        </p:txBody>
      </p:sp>
      <p:sp>
        <p:nvSpPr>
          <p:cNvPr id="7" name="Shape 5"/>
          <p:cNvSpPr/>
          <p:nvPr/>
        </p:nvSpPr>
        <p:spPr>
          <a:xfrm>
            <a:off x="457200" y="1005840"/>
            <a:ext cx="73152" cy="1188720"/>
          </a:xfrm>
          <a:prstGeom prst="rect">
            <a:avLst/>
          </a:prstGeom>
          <a:solidFill>
            <a:srgbClr val="E8943A"/>
          </a:solidFill>
          <a:ln/>
        </p:spPr>
        <p:txBody>
          <a:bodyPr/>
          <a:lstStyle/>
          <a:p>
            <a:endParaRPr lang="en-US"/>
          </a:p>
        </p:txBody>
      </p:sp>
      <p:sp>
        <p:nvSpPr>
          <p:cNvPr id="8" name="Text 6"/>
          <p:cNvSpPr/>
          <p:nvPr/>
        </p:nvSpPr>
        <p:spPr>
          <a:xfrm>
            <a:off x="731520" y="1097280"/>
            <a:ext cx="7680960" cy="100584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ea typeface="Consolas" pitchFamily="34" charset="-122"/>
                <a:cs typeface="Consolas" pitchFamily="34" charset="-120"/>
              </a:rPr>
              <a:t>HTE Bias  =  (1 − π)(ATT − ATU)</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This bias exists when the treatment effect differs between people who chose to be treated and those who did not — and the target parameter is ATE, not ATT.</a:t>
            </a:r>
            <a:endParaRPr lang="en-US" sz="1500" dirty="0"/>
          </a:p>
        </p:txBody>
      </p:sp>
      <p:sp>
        <p:nvSpPr>
          <p:cNvPr id="9" name="Shape 7"/>
          <p:cNvSpPr/>
          <p:nvPr/>
        </p:nvSpPr>
        <p:spPr>
          <a:xfrm>
            <a:off x="457200" y="2423160"/>
            <a:ext cx="8229600" cy="1463040"/>
          </a:xfrm>
          <a:prstGeom prst="rect">
            <a:avLst/>
          </a:prstGeom>
          <a:solidFill>
            <a:srgbClr val="FFF3E0"/>
          </a:solidFill>
          <a:ln/>
        </p:spPr>
        <p:txBody>
          <a:bodyPr/>
          <a:lstStyle/>
          <a:p>
            <a:endParaRPr lang="en-US"/>
          </a:p>
        </p:txBody>
      </p:sp>
      <p:sp>
        <p:nvSpPr>
          <p:cNvPr id="10" name="Text 8"/>
          <p:cNvSpPr/>
          <p:nvPr/>
        </p:nvSpPr>
        <p:spPr>
          <a:xfrm>
            <a:off x="731520" y="2514600"/>
            <a:ext cx="7680960" cy="128016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In our example:</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ATT = 4.4  (surgery helps the surgery group a lot)</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ATU = −3.2  (surgery would HURT the chemo group)</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π = 0.5  (half in each group)</a:t>
            </a:r>
            <a:endParaRPr lang="en-US" sz="1400" dirty="0"/>
          </a:p>
          <a:p>
            <a:pPr marL="0" indent="0">
              <a:buNone/>
            </a:pPr>
            <a:r>
              <a:rPr lang="en-US" sz="1400" b="1" dirty="0">
                <a:solidFill>
                  <a:srgbClr val="E8943A"/>
                </a:solidFill>
                <a:latin typeface="Calibri" pitchFamily="34" charset="0"/>
                <a:ea typeface="Calibri" pitchFamily="34" charset="-122"/>
                <a:cs typeface="Calibri" pitchFamily="34" charset="-120"/>
              </a:rPr>
              <a:t>HTE Bias = (1 − 0.5)(4.4 − (−3.2)) = 0.5 × 7.6 = 3.8</a:t>
            </a:r>
            <a:endParaRPr lang="en-US" sz="1400" dirty="0"/>
          </a:p>
        </p:txBody>
      </p:sp>
      <p:sp>
        <p:nvSpPr>
          <p:cNvPr id="11" name="Shape 9"/>
          <p:cNvSpPr/>
          <p:nvPr/>
        </p:nvSpPr>
        <p:spPr>
          <a:xfrm>
            <a:off x="457200" y="4114800"/>
            <a:ext cx="8229600" cy="502920"/>
          </a:xfrm>
          <a:prstGeom prst="rect">
            <a:avLst/>
          </a:prstGeom>
          <a:solidFill>
            <a:srgbClr val="E8F0FE"/>
          </a:solidFill>
          <a:ln/>
        </p:spPr>
        <p:txBody>
          <a:bodyPr/>
          <a:lstStyle/>
          <a:p>
            <a:endParaRPr lang="en-US"/>
          </a:p>
        </p:txBody>
      </p:sp>
      <p:sp>
        <p:nvSpPr>
          <p:cNvPr id="12" name="Text 10"/>
          <p:cNvSpPr/>
          <p:nvPr/>
        </p:nvSpPr>
        <p:spPr>
          <a:xfrm>
            <a:off x="731520" y="4160520"/>
            <a:ext cx="768096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Key insight: </a:t>
            </a:r>
            <a:r>
              <a:rPr lang="en-US" sz="1200" dirty="0">
                <a:solidFill>
                  <a:srgbClr val="2B2B2B"/>
                </a:solidFill>
                <a:latin typeface="Calibri" pitchFamily="34" charset="0"/>
                <a:ea typeface="Calibri" pitchFamily="34" charset="-122"/>
                <a:cs typeface="Calibri" pitchFamily="34" charset="-120"/>
              </a:rPr>
              <a:t>Even without selection bias, if we target ATE but ATT ≠ ATU, we still get the wrong answer. People sort into treatment based on their expected gains.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Why Naïve Comparisons Fail: The Economics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Economic reasoning tells us that selection bias is nearly inevitable in observational data:</a:t>
            </a:r>
            <a:endParaRPr lang="en-US" sz="1400" dirty="0"/>
          </a:p>
        </p:txBody>
      </p:sp>
      <p:sp>
        <p:nvSpPr>
          <p:cNvPr id="7" name="Shape 5"/>
          <p:cNvSpPr/>
          <p:nvPr/>
        </p:nvSpPr>
        <p:spPr>
          <a:xfrm>
            <a:off x="457200" y="1508760"/>
            <a:ext cx="8229600" cy="640080"/>
          </a:xfrm>
          <a:prstGeom prst="rect">
            <a:avLst/>
          </a:prstGeom>
          <a:solidFill>
            <a:srgbClr val="FFFFFF"/>
          </a:solidFill>
          <a:ln/>
        </p:spPr>
        <p:txBody>
          <a:bodyPr/>
          <a:lstStyle/>
          <a:p>
            <a:endParaRPr lang="en-US"/>
          </a:p>
        </p:txBody>
      </p:sp>
      <p:sp>
        <p:nvSpPr>
          <p:cNvPr id="8" name="Shape 6"/>
          <p:cNvSpPr/>
          <p:nvPr/>
        </p:nvSpPr>
        <p:spPr>
          <a:xfrm>
            <a:off x="457200" y="1508760"/>
            <a:ext cx="73152" cy="640080"/>
          </a:xfrm>
          <a:prstGeom prst="rect">
            <a:avLst/>
          </a:prstGeom>
          <a:solidFill>
            <a:srgbClr val="3A4F9A"/>
          </a:solidFill>
          <a:ln/>
        </p:spPr>
        <p:txBody>
          <a:bodyPr/>
          <a:lstStyle/>
          <a:p>
            <a:endParaRPr lang="en-US"/>
          </a:p>
        </p:txBody>
      </p:sp>
      <p:sp>
        <p:nvSpPr>
          <p:cNvPr id="9" name="Text 7"/>
          <p:cNvSpPr/>
          <p:nvPr/>
        </p:nvSpPr>
        <p:spPr>
          <a:xfrm>
            <a:off x="731520" y="150876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Job training</a:t>
            </a:r>
            <a:endParaRPr lang="en-US" sz="1300" dirty="0"/>
          </a:p>
        </p:txBody>
      </p:sp>
      <p:sp>
        <p:nvSpPr>
          <p:cNvPr id="10" name="Text 8"/>
          <p:cNvSpPr/>
          <p:nvPr/>
        </p:nvSpPr>
        <p:spPr>
          <a:xfrm>
            <a:off x="2560320" y="150876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Workers who enroll may be more motivated — they'd do better even without the program.</a:t>
            </a:r>
            <a:endParaRPr lang="en-US" sz="1200" dirty="0"/>
          </a:p>
        </p:txBody>
      </p:sp>
      <p:sp>
        <p:nvSpPr>
          <p:cNvPr id="11" name="Shape 9"/>
          <p:cNvSpPr/>
          <p:nvPr/>
        </p:nvSpPr>
        <p:spPr>
          <a:xfrm>
            <a:off x="457200" y="2240280"/>
            <a:ext cx="8229600" cy="640080"/>
          </a:xfrm>
          <a:prstGeom prst="rect">
            <a:avLst/>
          </a:prstGeom>
          <a:solidFill>
            <a:srgbClr val="F5F6FA"/>
          </a:solidFill>
          <a:ln/>
        </p:spPr>
        <p:txBody>
          <a:bodyPr/>
          <a:lstStyle/>
          <a:p>
            <a:endParaRPr lang="en-US"/>
          </a:p>
        </p:txBody>
      </p:sp>
      <p:sp>
        <p:nvSpPr>
          <p:cNvPr id="12" name="Shape 10"/>
          <p:cNvSpPr/>
          <p:nvPr/>
        </p:nvSpPr>
        <p:spPr>
          <a:xfrm>
            <a:off x="457200" y="2240280"/>
            <a:ext cx="73152" cy="640080"/>
          </a:xfrm>
          <a:prstGeom prst="rect">
            <a:avLst/>
          </a:prstGeom>
          <a:solidFill>
            <a:srgbClr val="3A4F9A"/>
          </a:solidFill>
          <a:ln/>
        </p:spPr>
        <p:txBody>
          <a:bodyPr/>
          <a:lstStyle/>
          <a:p>
            <a:endParaRPr lang="en-US"/>
          </a:p>
        </p:txBody>
      </p:sp>
      <p:sp>
        <p:nvSpPr>
          <p:cNvPr id="13" name="Text 11"/>
          <p:cNvSpPr/>
          <p:nvPr/>
        </p:nvSpPr>
        <p:spPr>
          <a:xfrm>
            <a:off x="731520" y="224028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College premium</a:t>
            </a:r>
            <a:endParaRPr lang="en-US" sz="1300" dirty="0"/>
          </a:p>
        </p:txBody>
      </p:sp>
      <p:sp>
        <p:nvSpPr>
          <p:cNvPr id="14" name="Text 12"/>
          <p:cNvSpPr/>
          <p:nvPr/>
        </p:nvSpPr>
        <p:spPr>
          <a:xfrm>
            <a:off x="2560320" y="224028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Students who attend college differ in ability, family resources, ambition from those who don't.</a:t>
            </a:r>
            <a:endParaRPr lang="en-US" sz="1200" dirty="0"/>
          </a:p>
        </p:txBody>
      </p:sp>
      <p:sp>
        <p:nvSpPr>
          <p:cNvPr id="15" name="Shape 13"/>
          <p:cNvSpPr/>
          <p:nvPr/>
        </p:nvSpPr>
        <p:spPr>
          <a:xfrm>
            <a:off x="457200" y="2971800"/>
            <a:ext cx="8229600" cy="640080"/>
          </a:xfrm>
          <a:prstGeom prst="rect">
            <a:avLst/>
          </a:prstGeom>
          <a:solidFill>
            <a:srgbClr val="FFFFFF"/>
          </a:solidFill>
          <a:ln/>
        </p:spPr>
        <p:txBody>
          <a:bodyPr/>
          <a:lstStyle/>
          <a:p>
            <a:endParaRPr lang="en-US"/>
          </a:p>
        </p:txBody>
      </p:sp>
      <p:sp>
        <p:nvSpPr>
          <p:cNvPr id="16" name="Shape 14"/>
          <p:cNvSpPr/>
          <p:nvPr/>
        </p:nvSpPr>
        <p:spPr>
          <a:xfrm>
            <a:off x="457200" y="2971800"/>
            <a:ext cx="73152" cy="640080"/>
          </a:xfrm>
          <a:prstGeom prst="rect">
            <a:avLst/>
          </a:prstGeom>
          <a:solidFill>
            <a:srgbClr val="3A4F9A"/>
          </a:solidFill>
          <a:ln/>
        </p:spPr>
        <p:txBody>
          <a:bodyPr/>
          <a:lstStyle/>
          <a:p>
            <a:endParaRPr lang="en-US"/>
          </a:p>
        </p:txBody>
      </p:sp>
      <p:sp>
        <p:nvSpPr>
          <p:cNvPr id="17" name="Text 15"/>
          <p:cNvSpPr/>
          <p:nvPr/>
        </p:nvSpPr>
        <p:spPr>
          <a:xfrm>
            <a:off x="731520" y="297180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Hospital quality</a:t>
            </a:r>
            <a:endParaRPr lang="en-US" sz="1300" dirty="0"/>
          </a:p>
        </p:txBody>
      </p:sp>
      <p:sp>
        <p:nvSpPr>
          <p:cNvPr id="18" name="Text 16"/>
          <p:cNvSpPr/>
          <p:nvPr/>
        </p:nvSpPr>
        <p:spPr>
          <a:xfrm>
            <a:off x="2560320" y="297180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Sicker patients go to better hospitals — comparing outcomes makes good hospitals look bad.</a:t>
            </a:r>
            <a:endParaRPr lang="en-US" sz="1200" dirty="0"/>
          </a:p>
        </p:txBody>
      </p:sp>
      <p:sp>
        <p:nvSpPr>
          <p:cNvPr id="19" name="Shape 17"/>
          <p:cNvSpPr/>
          <p:nvPr/>
        </p:nvSpPr>
        <p:spPr>
          <a:xfrm>
            <a:off x="457200" y="3703320"/>
            <a:ext cx="8229600" cy="640080"/>
          </a:xfrm>
          <a:prstGeom prst="rect">
            <a:avLst/>
          </a:prstGeom>
          <a:solidFill>
            <a:srgbClr val="F5F6FA"/>
          </a:solidFill>
          <a:ln/>
        </p:spPr>
        <p:txBody>
          <a:bodyPr/>
          <a:lstStyle/>
          <a:p>
            <a:endParaRPr lang="en-US"/>
          </a:p>
        </p:txBody>
      </p:sp>
      <p:sp>
        <p:nvSpPr>
          <p:cNvPr id="20" name="Shape 18"/>
          <p:cNvSpPr/>
          <p:nvPr/>
        </p:nvSpPr>
        <p:spPr>
          <a:xfrm>
            <a:off x="457200" y="3703320"/>
            <a:ext cx="73152" cy="640080"/>
          </a:xfrm>
          <a:prstGeom prst="rect">
            <a:avLst/>
          </a:prstGeom>
          <a:solidFill>
            <a:srgbClr val="3A4F9A"/>
          </a:solidFill>
          <a:ln/>
        </p:spPr>
        <p:txBody>
          <a:bodyPr/>
          <a:lstStyle/>
          <a:p>
            <a:endParaRPr lang="en-US"/>
          </a:p>
        </p:txBody>
      </p:sp>
      <p:sp>
        <p:nvSpPr>
          <p:cNvPr id="21" name="Text 19"/>
          <p:cNvSpPr/>
          <p:nvPr/>
        </p:nvSpPr>
        <p:spPr>
          <a:xfrm>
            <a:off x="731520" y="370332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Minimum wage</a:t>
            </a:r>
            <a:endParaRPr lang="en-US" sz="1300" dirty="0"/>
          </a:p>
        </p:txBody>
      </p:sp>
      <p:sp>
        <p:nvSpPr>
          <p:cNvPr id="22" name="Text 20"/>
          <p:cNvSpPr/>
          <p:nvPr/>
        </p:nvSpPr>
        <p:spPr>
          <a:xfrm>
            <a:off x="2560320" y="370332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States that raise wages differ economically from states that don't.</a:t>
            </a:r>
            <a:endParaRPr lang="en-US" sz="1200" dirty="0"/>
          </a:p>
        </p:txBody>
      </p:sp>
      <p:sp>
        <p:nvSpPr>
          <p:cNvPr id="23" name="Shape 21"/>
          <p:cNvSpPr/>
          <p:nvPr/>
        </p:nvSpPr>
        <p:spPr>
          <a:xfrm>
            <a:off x="457200" y="4526280"/>
            <a:ext cx="8229600" cy="201168"/>
          </a:xfrm>
          <a:prstGeom prst="rect">
            <a:avLst/>
          </a:prstGeom>
          <a:solidFill>
            <a:srgbClr val="E8943A"/>
          </a:solidFill>
          <a:ln/>
        </p:spPr>
        <p:txBody>
          <a:bodyPr/>
          <a:lstStyle/>
          <a:p>
            <a:endParaRPr lang="en-US"/>
          </a:p>
        </p:txBody>
      </p:sp>
      <p:sp>
        <p:nvSpPr>
          <p:cNvPr id="24" name="Text 22"/>
          <p:cNvSpPr/>
          <p:nvPr/>
        </p:nvSpPr>
        <p:spPr>
          <a:xfrm>
            <a:off x="640080" y="4526280"/>
            <a:ext cx="7772400" cy="201168"/>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Rational choice always pushes against the independence assumption.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Independence Assumption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914400"/>
          </a:xfrm>
          <a:prstGeom prst="rect">
            <a:avLst/>
          </a:prstGeom>
          <a:solidFill>
            <a:srgbClr val="FFFFFF"/>
          </a:solidFill>
          <a:ln/>
        </p:spPr>
        <p:txBody>
          <a:bodyPr/>
          <a:lstStyle/>
          <a:p>
            <a:endParaRPr lang="en-US"/>
          </a:p>
        </p:txBody>
      </p:sp>
      <p:sp>
        <p:nvSpPr>
          <p:cNvPr id="7" name="Shape 5"/>
          <p:cNvSpPr/>
          <p:nvPr/>
        </p:nvSpPr>
        <p:spPr>
          <a:xfrm>
            <a:off x="457200" y="1005840"/>
            <a:ext cx="73152" cy="914400"/>
          </a:xfrm>
          <a:prstGeom prst="rect">
            <a:avLst/>
          </a:prstGeom>
          <a:solidFill>
            <a:srgbClr val="27AE60"/>
          </a:solidFill>
          <a:ln/>
        </p:spPr>
        <p:txBody>
          <a:bodyPr/>
          <a:lstStyle/>
          <a:p>
            <a:endParaRPr lang="en-US"/>
          </a:p>
        </p:txBody>
      </p:sp>
      <p:sp>
        <p:nvSpPr>
          <p:cNvPr id="8" name="Text 6"/>
          <p:cNvSpPr/>
          <p:nvPr/>
        </p:nvSpPr>
        <p:spPr>
          <a:xfrm>
            <a:off x="731520" y="1051560"/>
            <a:ext cx="7680960" cy="822960"/>
          </a:xfrm>
          <a:prstGeom prst="rect">
            <a:avLst/>
          </a:prstGeom>
          <a:noFill/>
          <a:ln/>
        </p:spPr>
        <p:txBody>
          <a:bodyPr wrap="square" lIns="0" tIns="0" rIns="0" bIns="0" rtlCol="0" anchor="ctr"/>
          <a:lstStyle/>
          <a:p>
            <a:pPr marL="0" indent="0">
              <a:buNone/>
            </a:pPr>
            <a:r>
              <a:rPr lang="en-US" sz="1800" b="1" dirty="0">
                <a:solidFill>
                  <a:srgbClr val="1E2761"/>
                </a:solidFill>
                <a:latin typeface="Consolas" pitchFamily="34" charset="0"/>
                <a:ea typeface="Consolas" pitchFamily="34" charset="-122"/>
                <a:cs typeface="Consolas" pitchFamily="34" charset="-120"/>
              </a:rPr>
              <a:t>(Y¹, Y⁰)  ⊥  D</a:t>
            </a:r>
            <a:endParaRPr lang="en-US" sz="1800" dirty="0"/>
          </a:p>
          <a:p>
            <a:pPr marL="0" indent="0">
              <a:buNone/>
            </a:pPr>
            <a:endParaRPr lang="en-US" sz="1800" dirty="0"/>
          </a:p>
          <a:p>
            <a:pPr marL="0" indent="0">
              <a:buNone/>
            </a:pPr>
            <a:r>
              <a:rPr lang="en-US" sz="1300" dirty="0">
                <a:solidFill>
                  <a:srgbClr val="2B2B2B"/>
                </a:solidFill>
                <a:latin typeface="Calibri" pitchFamily="34" charset="0"/>
                <a:ea typeface="Calibri" pitchFamily="34" charset="-122"/>
                <a:cs typeface="Calibri" pitchFamily="34" charset="-120"/>
              </a:rPr>
              <a:t>Treatment assignment is independent of potential outcomes — treatment was assigned for reasons having NOTHING to do with expected gains.</a:t>
            </a:r>
            <a:endParaRPr lang="en-US" sz="1800" dirty="0"/>
          </a:p>
        </p:txBody>
      </p:sp>
      <p:sp>
        <p:nvSpPr>
          <p:cNvPr id="9" name="Text 7"/>
          <p:cNvSpPr/>
          <p:nvPr/>
        </p:nvSpPr>
        <p:spPr>
          <a:xfrm>
            <a:off x="457200" y="2103120"/>
            <a:ext cx="8229600" cy="32004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Under independence:</a:t>
            </a:r>
            <a:endParaRPr lang="en-US" sz="1400" dirty="0"/>
          </a:p>
        </p:txBody>
      </p:sp>
      <p:sp>
        <p:nvSpPr>
          <p:cNvPr id="10" name="Shape 8"/>
          <p:cNvSpPr/>
          <p:nvPr/>
        </p:nvSpPr>
        <p:spPr>
          <a:xfrm>
            <a:off x="457200" y="2468880"/>
            <a:ext cx="3931920" cy="1097280"/>
          </a:xfrm>
          <a:prstGeom prst="rect">
            <a:avLst/>
          </a:prstGeom>
          <a:solidFill>
            <a:srgbClr val="E8F8E8"/>
          </a:solidFill>
          <a:ln/>
        </p:spPr>
        <p:txBody>
          <a:bodyPr/>
          <a:lstStyle/>
          <a:p>
            <a:endParaRPr lang="en-US"/>
          </a:p>
        </p:txBody>
      </p:sp>
      <p:sp>
        <p:nvSpPr>
          <p:cNvPr id="11" name="Text 9"/>
          <p:cNvSpPr/>
          <p:nvPr/>
        </p:nvSpPr>
        <p:spPr>
          <a:xfrm>
            <a:off x="640080" y="2560320"/>
            <a:ext cx="3566160" cy="914400"/>
          </a:xfrm>
          <a:prstGeom prst="rect">
            <a:avLst/>
          </a:prstGeom>
          <a:noFill/>
          <a:ln/>
        </p:spPr>
        <p:txBody>
          <a:bodyPr wrap="square" lIns="0" tIns="0" rIns="0" bIns="0"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Selection bias = 0</a:t>
            </a:r>
            <a:endParaRPr lang="en-US" sz="1400" dirty="0"/>
          </a:p>
          <a:p>
            <a:pPr marL="0" indent="0">
              <a:buNone/>
            </a:pPr>
            <a:endParaRPr lang="en-US" sz="1400" dirty="0"/>
          </a:p>
          <a:p>
            <a:pPr marL="0" indent="0">
              <a:buNone/>
            </a:pPr>
            <a:r>
              <a:rPr lang="en-US" sz="1200" dirty="0">
                <a:solidFill>
                  <a:srgbClr val="2B2B2B"/>
                </a:solidFill>
                <a:latin typeface="Consolas" pitchFamily="34" charset="0"/>
                <a:ea typeface="Consolas" pitchFamily="34" charset="-122"/>
                <a:cs typeface="Consolas" pitchFamily="34" charset="-120"/>
              </a:rPr>
              <a:t>E[Y⁰|D=1] − E[Y⁰|D=0] = 0</a:t>
            </a:r>
            <a:endParaRPr lang="en-US" sz="1400" dirty="0"/>
          </a:p>
        </p:txBody>
      </p:sp>
      <p:sp>
        <p:nvSpPr>
          <p:cNvPr id="12" name="Shape 10"/>
          <p:cNvSpPr/>
          <p:nvPr/>
        </p:nvSpPr>
        <p:spPr>
          <a:xfrm>
            <a:off x="4754880" y="2468880"/>
            <a:ext cx="3931920" cy="1097280"/>
          </a:xfrm>
          <a:prstGeom prst="rect">
            <a:avLst/>
          </a:prstGeom>
          <a:solidFill>
            <a:srgbClr val="E8F8E8"/>
          </a:solidFill>
          <a:ln/>
        </p:spPr>
        <p:txBody>
          <a:bodyPr/>
          <a:lstStyle/>
          <a:p>
            <a:endParaRPr lang="en-US"/>
          </a:p>
        </p:txBody>
      </p:sp>
      <p:sp>
        <p:nvSpPr>
          <p:cNvPr id="13" name="Text 11"/>
          <p:cNvSpPr/>
          <p:nvPr/>
        </p:nvSpPr>
        <p:spPr>
          <a:xfrm>
            <a:off x="4937760" y="2560320"/>
            <a:ext cx="3566160" cy="914400"/>
          </a:xfrm>
          <a:prstGeom prst="rect">
            <a:avLst/>
          </a:prstGeom>
          <a:noFill/>
          <a:ln/>
        </p:spPr>
        <p:txBody>
          <a:bodyPr wrap="square" lIns="0" tIns="0" rIns="0" bIns="0"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HTE bias = 0</a:t>
            </a:r>
            <a:endParaRPr lang="en-US" sz="1400" dirty="0"/>
          </a:p>
          <a:p>
            <a:pPr marL="0" indent="0">
              <a:buNone/>
            </a:pPr>
            <a:endParaRPr lang="en-US" sz="1400" dirty="0"/>
          </a:p>
          <a:p>
            <a:pPr marL="0" indent="0">
              <a:buNone/>
            </a:pPr>
            <a:r>
              <a:rPr lang="en-US" sz="1200" dirty="0">
                <a:solidFill>
                  <a:srgbClr val="2B2B2B"/>
                </a:solidFill>
                <a:latin typeface="Consolas" pitchFamily="34" charset="0"/>
                <a:ea typeface="Consolas" pitchFamily="34" charset="-122"/>
                <a:cs typeface="Consolas" pitchFamily="34" charset="-120"/>
              </a:rPr>
              <a:t>ATT = ATU → (1−π)(ATT−ATU) = 0</a:t>
            </a:r>
            <a:endParaRPr lang="en-US" sz="1400" dirty="0"/>
          </a:p>
        </p:txBody>
      </p:sp>
      <p:sp>
        <p:nvSpPr>
          <p:cNvPr id="14" name="Shape 12"/>
          <p:cNvSpPr/>
          <p:nvPr/>
        </p:nvSpPr>
        <p:spPr>
          <a:xfrm>
            <a:off x="457200" y="3794760"/>
            <a:ext cx="8229600" cy="640080"/>
          </a:xfrm>
          <a:prstGeom prst="rect">
            <a:avLst/>
          </a:prstGeom>
          <a:solidFill>
            <a:srgbClr val="141C3D"/>
          </a:solidFill>
          <a:ln/>
        </p:spPr>
        <p:txBody>
          <a:bodyPr/>
          <a:lstStyle/>
          <a:p>
            <a:endParaRPr lang="en-US"/>
          </a:p>
        </p:txBody>
      </p:sp>
      <p:sp>
        <p:nvSpPr>
          <p:cNvPr id="15" name="Text 13"/>
          <p:cNvSpPr/>
          <p:nvPr/>
        </p:nvSpPr>
        <p:spPr>
          <a:xfrm>
            <a:off x="640080" y="3840480"/>
            <a:ext cx="7772400" cy="502920"/>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Therefore:   SDO  =  ATE     ← Simple comparison IS the causal effect!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Randomization: The Gold Standard</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How do we guarantee independence? Flip a coin.</a:t>
            </a:r>
            <a:endParaRPr lang="en-US" sz="1500" dirty="0"/>
          </a:p>
        </p:txBody>
      </p:sp>
      <p:sp>
        <p:nvSpPr>
          <p:cNvPr id="7" name="Shape 5"/>
          <p:cNvSpPr/>
          <p:nvPr/>
        </p:nvSpPr>
        <p:spPr>
          <a:xfrm>
            <a:off x="457200" y="1463040"/>
            <a:ext cx="8229600" cy="1280160"/>
          </a:xfrm>
          <a:prstGeom prst="rect">
            <a:avLst/>
          </a:prstGeom>
          <a:solidFill>
            <a:srgbClr val="FFFFFF"/>
          </a:solidFill>
          <a:ln/>
        </p:spPr>
        <p:txBody>
          <a:bodyPr/>
          <a:lstStyle/>
          <a:p>
            <a:endParaRPr lang="en-US"/>
          </a:p>
        </p:txBody>
      </p:sp>
      <p:sp>
        <p:nvSpPr>
          <p:cNvPr id="8" name="Text 6"/>
          <p:cNvSpPr/>
          <p:nvPr/>
        </p:nvSpPr>
        <p:spPr>
          <a:xfrm>
            <a:off x="640080" y="1554480"/>
            <a:ext cx="7772400" cy="109728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Physical randomization (coin flip, random number generator) ensures that treatment assignment is determined by chance, not by patient characteristics, doctor judgment, or self-selection.</a:t>
            </a:r>
            <a:endParaRPr lang="en-US" sz="1400" dirty="0"/>
          </a:p>
          <a:p>
            <a:pPr marL="0" indent="0">
              <a:buNone/>
            </a:pPr>
            <a:endParaRPr lang="en-US" sz="1400" dirty="0"/>
          </a:p>
          <a:p>
            <a:pPr marL="0" indent="0">
              <a:buNone/>
            </a:pPr>
            <a:r>
              <a:rPr lang="en-US" sz="1400" dirty="0">
                <a:solidFill>
                  <a:srgbClr val="2B2B2B"/>
                </a:solidFill>
                <a:latin typeface="Calibri" pitchFamily="34" charset="0"/>
                <a:ea typeface="Calibri" pitchFamily="34" charset="-122"/>
                <a:cs typeface="Calibri" pitchFamily="34" charset="-120"/>
              </a:rPr>
              <a:t>Because the assignment mechanism is known and controlled by the researcher, we can guarantee that — on average, in the population — treated and control groups are identical on ALL dimensions, observed and unobserved.</a:t>
            </a:r>
            <a:endParaRPr lang="en-US" sz="1400" dirty="0"/>
          </a:p>
        </p:txBody>
      </p:sp>
      <p:sp>
        <p:nvSpPr>
          <p:cNvPr id="9" name="Text 7"/>
          <p:cNvSpPr/>
          <p:nvPr/>
        </p:nvSpPr>
        <p:spPr>
          <a:xfrm>
            <a:off x="457200" y="2926080"/>
            <a:ext cx="82296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Landmark randomized experiments:</a:t>
            </a:r>
            <a:endParaRPr lang="en-US" sz="1400" dirty="0"/>
          </a:p>
        </p:txBody>
      </p:sp>
      <p:sp>
        <p:nvSpPr>
          <p:cNvPr id="10" name="Shape 8"/>
          <p:cNvSpPr/>
          <p:nvPr/>
        </p:nvSpPr>
        <p:spPr>
          <a:xfrm>
            <a:off x="457200" y="3337560"/>
            <a:ext cx="1097280" cy="384048"/>
          </a:xfrm>
          <a:prstGeom prst="rect">
            <a:avLst/>
          </a:prstGeom>
          <a:solidFill>
            <a:srgbClr val="3A4F9A"/>
          </a:solidFill>
          <a:ln/>
        </p:spPr>
        <p:txBody>
          <a:bodyPr/>
          <a:lstStyle/>
          <a:p>
            <a:endParaRPr lang="en-US"/>
          </a:p>
        </p:txBody>
      </p:sp>
      <p:sp>
        <p:nvSpPr>
          <p:cNvPr id="11" name="Text 9"/>
          <p:cNvSpPr/>
          <p:nvPr/>
        </p:nvSpPr>
        <p:spPr>
          <a:xfrm>
            <a:off x="457200" y="3337560"/>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1954</a:t>
            </a:r>
            <a:endParaRPr lang="en-US" sz="1100" dirty="0"/>
          </a:p>
        </p:txBody>
      </p:sp>
      <p:sp>
        <p:nvSpPr>
          <p:cNvPr id="12" name="Text 10"/>
          <p:cNvSpPr/>
          <p:nvPr/>
        </p:nvSpPr>
        <p:spPr>
          <a:xfrm>
            <a:off x="1691640" y="3337560"/>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Salk Polio Vaccine Trial</a:t>
            </a:r>
            <a:endParaRPr lang="en-US" sz="1200" dirty="0"/>
          </a:p>
        </p:txBody>
      </p:sp>
      <p:sp>
        <p:nvSpPr>
          <p:cNvPr id="13" name="Text 11"/>
          <p:cNvSpPr/>
          <p:nvPr/>
        </p:nvSpPr>
        <p:spPr>
          <a:xfrm>
            <a:off x="4434840" y="3337560"/>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200K+ children randomized → proved vaccine works</a:t>
            </a:r>
            <a:endParaRPr lang="en-US" sz="1100" dirty="0"/>
          </a:p>
        </p:txBody>
      </p:sp>
      <p:sp>
        <p:nvSpPr>
          <p:cNvPr id="14" name="Shape 12"/>
          <p:cNvSpPr/>
          <p:nvPr/>
        </p:nvSpPr>
        <p:spPr>
          <a:xfrm>
            <a:off x="457200" y="3776472"/>
            <a:ext cx="1097280" cy="384048"/>
          </a:xfrm>
          <a:prstGeom prst="rect">
            <a:avLst/>
          </a:prstGeom>
          <a:solidFill>
            <a:srgbClr val="3A4F9A"/>
          </a:solidFill>
          <a:ln/>
        </p:spPr>
        <p:txBody>
          <a:bodyPr/>
          <a:lstStyle/>
          <a:p>
            <a:endParaRPr lang="en-US"/>
          </a:p>
        </p:txBody>
      </p:sp>
      <p:sp>
        <p:nvSpPr>
          <p:cNvPr id="15" name="Text 13"/>
          <p:cNvSpPr/>
          <p:nvPr/>
        </p:nvSpPr>
        <p:spPr>
          <a:xfrm>
            <a:off x="457200" y="3776472"/>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1971–82</a:t>
            </a:r>
            <a:endParaRPr lang="en-US" sz="1100" dirty="0"/>
          </a:p>
        </p:txBody>
      </p:sp>
      <p:sp>
        <p:nvSpPr>
          <p:cNvPr id="16" name="Text 14"/>
          <p:cNvSpPr/>
          <p:nvPr/>
        </p:nvSpPr>
        <p:spPr>
          <a:xfrm>
            <a:off x="1691640" y="3776472"/>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RAND Health Insurance</a:t>
            </a:r>
            <a:endParaRPr lang="en-US" sz="1200" dirty="0"/>
          </a:p>
        </p:txBody>
      </p:sp>
      <p:sp>
        <p:nvSpPr>
          <p:cNvPr id="17" name="Text 15"/>
          <p:cNvSpPr/>
          <p:nvPr/>
        </p:nvSpPr>
        <p:spPr>
          <a:xfrm>
            <a:off x="4434840" y="3776472"/>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7,700 people → cost-sharing reduces utilization</a:t>
            </a:r>
            <a:endParaRPr lang="en-US" sz="1100" dirty="0"/>
          </a:p>
        </p:txBody>
      </p:sp>
      <p:sp>
        <p:nvSpPr>
          <p:cNvPr id="18" name="Shape 16"/>
          <p:cNvSpPr/>
          <p:nvPr/>
        </p:nvSpPr>
        <p:spPr>
          <a:xfrm>
            <a:off x="457200" y="4215384"/>
            <a:ext cx="1097280" cy="384048"/>
          </a:xfrm>
          <a:prstGeom prst="rect">
            <a:avLst/>
          </a:prstGeom>
          <a:solidFill>
            <a:srgbClr val="3A4F9A"/>
          </a:solidFill>
          <a:ln/>
        </p:spPr>
        <p:txBody>
          <a:bodyPr/>
          <a:lstStyle/>
          <a:p>
            <a:endParaRPr lang="en-US"/>
          </a:p>
        </p:txBody>
      </p:sp>
      <p:sp>
        <p:nvSpPr>
          <p:cNvPr id="19" name="Text 17"/>
          <p:cNvSpPr/>
          <p:nvPr/>
        </p:nvSpPr>
        <p:spPr>
          <a:xfrm>
            <a:off x="457200" y="4215384"/>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2008</a:t>
            </a:r>
            <a:endParaRPr lang="en-US" sz="1100" dirty="0"/>
          </a:p>
        </p:txBody>
      </p:sp>
      <p:sp>
        <p:nvSpPr>
          <p:cNvPr id="20" name="Text 18"/>
          <p:cNvSpPr/>
          <p:nvPr/>
        </p:nvSpPr>
        <p:spPr>
          <a:xfrm>
            <a:off x="1691640" y="4215384"/>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Thornton HIV Study</a:t>
            </a:r>
            <a:endParaRPr lang="en-US" sz="1200" dirty="0"/>
          </a:p>
        </p:txBody>
      </p:sp>
      <p:sp>
        <p:nvSpPr>
          <p:cNvPr id="21" name="Text 19"/>
          <p:cNvSpPr/>
          <p:nvPr/>
        </p:nvSpPr>
        <p:spPr>
          <a:xfrm>
            <a:off x="4434840" y="4215384"/>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Cash incentives → 2× more likely to learn HIV status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SUTVA: The Fine Print on Potential Outcomes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Stable Unit Treatment Value Assumption (Rubin) requires three things:</a:t>
            </a:r>
            <a:endParaRPr lang="en-US" sz="1400" dirty="0"/>
          </a:p>
        </p:txBody>
      </p:sp>
      <p:sp>
        <p:nvSpPr>
          <p:cNvPr id="7" name="Shape 5"/>
          <p:cNvSpPr/>
          <p:nvPr/>
        </p:nvSpPr>
        <p:spPr>
          <a:xfrm>
            <a:off x="457200" y="1463040"/>
            <a:ext cx="8229600" cy="914400"/>
          </a:xfrm>
          <a:prstGeom prst="rect">
            <a:avLst/>
          </a:prstGeom>
          <a:solidFill>
            <a:srgbClr val="FFFFFF"/>
          </a:solidFill>
          <a:ln/>
        </p:spPr>
        <p:txBody>
          <a:bodyPr/>
          <a:lstStyle/>
          <a:p>
            <a:endParaRPr lang="en-US"/>
          </a:p>
        </p:txBody>
      </p:sp>
      <p:sp>
        <p:nvSpPr>
          <p:cNvPr id="8" name="Shape 6"/>
          <p:cNvSpPr/>
          <p:nvPr/>
        </p:nvSpPr>
        <p:spPr>
          <a:xfrm>
            <a:off x="457200" y="1463040"/>
            <a:ext cx="73152" cy="914400"/>
          </a:xfrm>
          <a:prstGeom prst="rect">
            <a:avLst/>
          </a:prstGeom>
          <a:solidFill>
            <a:srgbClr val="E8943A"/>
          </a:solidFill>
          <a:ln/>
        </p:spPr>
        <p:txBody>
          <a:bodyPr/>
          <a:lstStyle/>
          <a:p>
            <a:endParaRPr lang="en-US"/>
          </a:p>
        </p:txBody>
      </p:sp>
      <p:sp>
        <p:nvSpPr>
          <p:cNvPr id="9" name="Text 7"/>
          <p:cNvSpPr/>
          <p:nvPr/>
        </p:nvSpPr>
        <p:spPr>
          <a:xfrm>
            <a:off x="731520" y="150876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1. No variation in treatment doses</a:t>
            </a:r>
            <a:endParaRPr lang="en-US" sz="1400" dirty="0"/>
          </a:p>
        </p:txBody>
      </p:sp>
      <p:sp>
        <p:nvSpPr>
          <p:cNvPr id="10" name="Text 8"/>
          <p:cNvSpPr/>
          <p:nvPr/>
        </p:nvSpPr>
        <p:spPr>
          <a:xfrm>
            <a:off x="731520" y="187452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Every treated unit gets the same "dose" — e.g., all surgeons are equally skilled.</a:t>
            </a:r>
            <a:endParaRPr lang="en-US" sz="1200" dirty="0"/>
          </a:p>
        </p:txBody>
      </p:sp>
      <p:sp>
        <p:nvSpPr>
          <p:cNvPr id="11" name="Shape 9"/>
          <p:cNvSpPr/>
          <p:nvPr/>
        </p:nvSpPr>
        <p:spPr>
          <a:xfrm>
            <a:off x="457200" y="2514600"/>
            <a:ext cx="8229600" cy="914400"/>
          </a:xfrm>
          <a:prstGeom prst="rect">
            <a:avLst/>
          </a:prstGeom>
          <a:solidFill>
            <a:srgbClr val="FFFFFF"/>
          </a:solidFill>
          <a:ln/>
        </p:spPr>
        <p:txBody>
          <a:bodyPr/>
          <a:lstStyle/>
          <a:p>
            <a:endParaRPr lang="en-US"/>
          </a:p>
        </p:txBody>
      </p:sp>
      <p:sp>
        <p:nvSpPr>
          <p:cNvPr id="12" name="Shape 10"/>
          <p:cNvSpPr/>
          <p:nvPr/>
        </p:nvSpPr>
        <p:spPr>
          <a:xfrm>
            <a:off x="457200" y="2514600"/>
            <a:ext cx="73152" cy="914400"/>
          </a:xfrm>
          <a:prstGeom prst="rect">
            <a:avLst/>
          </a:prstGeom>
          <a:solidFill>
            <a:srgbClr val="E8943A"/>
          </a:solidFill>
          <a:ln/>
        </p:spPr>
        <p:txBody>
          <a:bodyPr/>
          <a:lstStyle/>
          <a:p>
            <a:endParaRPr lang="en-US"/>
          </a:p>
        </p:txBody>
      </p:sp>
      <p:sp>
        <p:nvSpPr>
          <p:cNvPr id="13" name="Text 11"/>
          <p:cNvSpPr/>
          <p:nvPr/>
        </p:nvSpPr>
        <p:spPr>
          <a:xfrm>
            <a:off x="731520" y="256032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2. No spillovers / externalities</a:t>
            </a:r>
            <a:endParaRPr lang="en-US" sz="1400" dirty="0"/>
          </a:p>
        </p:txBody>
      </p:sp>
      <p:sp>
        <p:nvSpPr>
          <p:cNvPr id="14" name="Text 12"/>
          <p:cNvSpPr/>
          <p:nvPr/>
        </p:nvSpPr>
        <p:spPr>
          <a:xfrm>
            <a:off x="731520" y="292608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Treating unit i doesn't change unit j's outcome — e.g., vaccinating me doesn't protect you (herd immunity violates this!).</a:t>
            </a:r>
            <a:endParaRPr lang="en-US" sz="1200" dirty="0"/>
          </a:p>
        </p:txBody>
      </p:sp>
      <p:sp>
        <p:nvSpPr>
          <p:cNvPr id="15" name="Shape 13"/>
          <p:cNvSpPr/>
          <p:nvPr/>
        </p:nvSpPr>
        <p:spPr>
          <a:xfrm>
            <a:off x="457200" y="3566160"/>
            <a:ext cx="8229600" cy="914400"/>
          </a:xfrm>
          <a:prstGeom prst="rect">
            <a:avLst/>
          </a:prstGeom>
          <a:solidFill>
            <a:srgbClr val="FFFFFF"/>
          </a:solidFill>
          <a:ln/>
        </p:spPr>
        <p:txBody>
          <a:bodyPr/>
          <a:lstStyle/>
          <a:p>
            <a:endParaRPr lang="en-US"/>
          </a:p>
        </p:txBody>
      </p:sp>
      <p:sp>
        <p:nvSpPr>
          <p:cNvPr id="16" name="Shape 14"/>
          <p:cNvSpPr/>
          <p:nvPr/>
        </p:nvSpPr>
        <p:spPr>
          <a:xfrm>
            <a:off x="457200" y="3566160"/>
            <a:ext cx="73152" cy="914400"/>
          </a:xfrm>
          <a:prstGeom prst="rect">
            <a:avLst/>
          </a:prstGeom>
          <a:solidFill>
            <a:srgbClr val="E8943A"/>
          </a:solidFill>
          <a:ln/>
        </p:spPr>
        <p:txBody>
          <a:bodyPr/>
          <a:lstStyle/>
          <a:p>
            <a:endParaRPr lang="en-US"/>
          </a:p>
        </p:txBody>
      </p:sp>
      <p:sp>
        <p:nvSpPr>
          <p:cNvPr id="17" name="Text 15"/>
          <p:cNvSpPr/>
          <p:nvPr/>
        </p:nvSpPr>
        <p:spPr>
          <a:xfrm>
            <a:off x="731520" y="361188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3. No general equilibrium effects</a:t>
            </a:r>
            <a:endParaRPr lang="en-US" sz="1400" dirty="0"/>
          </a:p>
        </p:txBody>
      </p:sp>
      <p:sp>
        <p:nvSpPr>
          <p:cNvPr id="18" name="Text 16"/>
          <p:cNvSpPr/>
          <p:nvPr/>
        </p:nvSpPr>
        <p:spPr>
          <a:xfrm>
            <a:off x="731520" y="397764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Scaling up the treatment doesn't change the environment — e.g., sending everyone to college would change the wage premium.</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Key Takeaways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97280"/>
            <a:ext cx="320040" cy="320040"/>
          </a:xfrm>
          <a:prstGeom prst="ellipse">
            <a:avLst/>
          </a:prstGeom>
          <a:solidFill>
            <a:srgbClr val="1E2761"/>
          </a:solidFill>
          <a:ln/>
        </p:spPr>
        <p:txBody>
          <a:bodyPr/>
          <a:lstStyle/>
          <a:p>
            <a:endParaRPr lang="en-US"/>
          </a:p>
        </p:txBody>
      </p:sp>
      <p:sp>
        <p:nvSpPr>
          <p:cNvPr id="7" name="Text 5"/>
          <p:cNvSpPr/>
          <p:nvPr/>
        </p:nvSpPr>
        <p:spPr>
          <a:xfrm>
            <a:off x="457200" y="10972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14400" y="1051560"/>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 causal effect is the difference between two potential outcomes for the SAME unit — but we only ever observe one.</a:t>
            </a:r>
            <a:endParaRPr lang="en-US" sz="1300" dirty="0"/>
          </a:p>
        </p:txBody>
      </p:sp>
      <p:sp>
        <p:nvSpPr>
          <p:cNvPr id="9" name="Shape 7"/>
          <p:cNvSpPr/>
          <p:nvPr/>
        </p:nvSpPr>
        <p:spPr>
          <a:xfrm>
            <a:off x="457200" y="1810512"/>
            <a:ext cx="320040" cy="320040"/>
          </a:xfrm>
          <a:prstGeom prst="ellipse">
            <a:avLst/>
          </a:prstGeom>
          <a:solidFill>
            <a:srgbClr val="1E2761"/>
          </a:solidFill>
          <a:ln/>
        </p:spPr>
        <p:txBody>
          <a:bodyPr/>
          <a:lstStyle/>
          <a:p>
            <a:endParaRPr lang="en-US"/>
          </a:p>
        </p:txBody>
      </p:sp>
      <p:sp>
        <p:nvSpPr>
          <p:cNvPr id="10" name="Text 8"/>
          <p:cNvSpPr/>
          <p:nvPr/>
        </p:nvSpPr>
        <p:spPr>
          <a:xfrm>
            <a:off x="457200" y="181051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14400" y="1764792"/>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The simple difference in outcomes (SDO) = ATE + Selection Bias + HTE Bias. It almost never equals the causal effect in observational data.</a:t>
            </a:r>
            <a:endParaRPr lang="en-US" sz="1300" dirty="0"/>
          </a:p>
        </p:txBody>
      </p:sp>
      <p:sp>
        <p:nvSpPr>
          <p:cNvPr id="12" name="Shape 10"/>
          <p:cNvSpPr/>
          <p:nvPr/>
        </p:nvSpPr>
        <p:spPr>
          <a:xfrm>
            <a:off x="457200" y="2523744"/>
            <a:ext cx="320040" cy="320040"/>
          </a:xfrm>
          <a:prstGeom prst="ellipse">
            <a:avLst/>
          </a:prstGeom>
          <a:solidFill>
            <a:srgbClr val="1E2761"/>
          </a:solidFill>
          <a:ln/>
        </p:spPr>
        <p:txBody>
          <a:bodyPr/>
          <a:lstStyle/>
          <a:p>
            <a:endParaRPr lang="en-US"/>
          </a:p>
        </p:txBody>
      </p:sp>
      <p:sp>
        <p:nvSpPr>
          <p:cNvPr id="13" name="Text 11"/>
          <p:cNvSpPr/>
          <p:nvPr/>
        </p:nvSpPr>
        <p:spPr>
          <a:xfrm>
            <a:off x="457200" y="25237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14400" y="2478024"/>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Selection bias arises because treated and control groups differ at baseline — people choose treatments based on expected gains.</a:t>
            </a:r>
            <a:endParaRPr lang="en-US" sz="1300" dirty="0"/>
          </a:p>
        </p:txBody>
      </p:sp>
      <p:sp>
        <p:nvSpPr>
          <p:cNvPr id="15" name="Shape 13"/>
          <p:cNvSpPr/>
          <p:nvPr/>
        </p:nvSpPr>
        <p:spPr>
          <a:xfrm>
            <a:off x="457200" y="3236976"/>
            <a:ext cx="320040" cy="320040"/>
          </a:xfrm>
          <a:prstGeom prst="ellipse">
            <a:avLst/>
          </a:prstGeom>
          <a:solidFill>
            <a:srgbClr val="1E2761"/>
          </a:solidFill>
          <a:ln/>
        </p:spPr>
        <p:txBody>
          <a:bodyPr/>
          <a:lstStyle/>
          <a:p>
            <a:endParaRPr lang="en-US"/>
          </a:p>
        </p:txBody>
      </p:sp>
      <p:sp>
        <p:nvSpPr>
          <p:cNvPr id="16" name="Text 14"/>
          <p:cNvSpPr/>
          <p:nvPr/>
        </p:nvSpPr>
        <p:spPr>
          <a:xfrm>
            <a:off x="457200" y="323697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14400" y="3191256"/>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Randomization eliminates both selection bias and HTE bias by making treatment assignment independent of potential outcomes.</a:t>
            </a:r>
            <a:endParaRPr lang="en-US" sz="1300" dirty="0"/>
          </a:p>
        </p:txBody>
      </p:sp>
      <p:sp>
        <p:nvSpPr>
          <p:cNvPr id="18" name="Shape 16"/>
          <p:cNvSpPr/>
          <p:nvPr/>
        </p:nvSpPr>
        <p:spPr>
          <a:xfrm>
            <a:off x="457200" y="3950208"/>
            <a:ext cx="320040" cy="320040"/>
          </a:xfrm>
          <a:prstGeom prst="ellipse">
            <a:avLst/>
          </a:prstGeom>
          <a:solidFill>
            <a:srgbClr val="1E2761"/>
          </a:solidFill>
          <a:ln/>
        </p:spPr>
        <p:txBody>
          <a:bodyPr/>
          <a:lstStyle/>
          <a:p>
            <a:endParaRPr lang="en-US"/>
          </a:p>
        </p:txBody>
      </p:sp>
      <p:sp>
        <p:nvSpPr>
          <p:cNvPr id="19" name="Text 17"/>
          <p:cNvSpPr/>
          <p:nvPr/>
        </p:nvSpPr>
        <p:spPr>
          <a:xfrm>
            <a:off x="457200" y="3950208"/>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914400" y="3904488"/>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SUTVA reminds us: no dose variation, no spillovers, no general equilibrium effects.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141C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43A"/>
          </a:solidFill>
          <a:ln/>
        </p:spPr>
        <p:txBody>
          <a:bodyPr/>
          <a:lstStyle/>
          <a:p>
            <a:endParaRPr lang="en-US"/>
          </a:p>
        </p:txBody>
      </p:sp>
      <p:sp>
        <p:nvSpPr>
          <p:cNvPr id="3" name="Text 1"/>
          <p:cNvSpPr/>
          <p:nvPr/>
        </p:nvSpPr>
        <p:spPr>
          <a:xfrm>
            <a:off x="640080" y="13716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Questions?</a:t>
            </a:r>
            <a:endParaRPr lang="en-US" sz="4400" dirty="0"/>
          </a:p>
        </p:txBody>
      </p:sp>
      <p:sp>
        <p:nvSpPr>
          <p:cNvPr id="4" name="Shape 2"/>
          <p:cNvSpPr/>
          <p:nvPr/>
        </p:nvSpPr>
        <p:spPr>
          <a:xfrm>
            <a:off x="640080" y="2423160"/>
            <a:ext cx="2743200" cy="0"/>
          </a:xfrm>
          <a:prstGeom prst="line">
            <a:avLst/>
          </a:prstGeom>
          <a:noFill/>
          <a:ln w="25400">
            <a:solidFill>
              <a:srgbClr val="E8943A"/>
            </a:solidFill>
            <a:prstDash val="solid"/>
          </a:ln>
        </p:spPr>
        <p:txBody>
          <a:bodyPr/>
          <a:lstStyle/>
          <a:p>
            <a:endParaRPr lang="en-US"/>
          </a:p>
        </p:txBody>
      </p:sp>
      <p:sp>
        <p:nvSpPr>
          <p:cNvPr id="5" name="Text 3"/>
          <p:cNvSpPr/>
          <p:nvPr/>
        </p:nvSpPr>
        <p:spPr>
          <a:xfrm>
            <a:off x="640080" y="265176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Next: Open the Lecture 10 notebook</a:t>
            </a:r>
            <a:endParaRPr lang="en-US" sz="1800" dirty="0"/>
          </a:p>
        </p:txBody>
      </p:sp>
      <p:sp>
        <p:nvSpPr>
          <p:cNvPr id="6" name="Text 4"/>
          <p:cNvSpPr/>
          <p:nvPr/>
        </p:nvSpPr>
        <p:spPr>
          <a:xfrm>
            <a:off x="640080" y="3200400"/>
            <a:ext cx="7315200" cy="73152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We'll compute ATE, ATT, ATU, selection bias, and HTE bias hands-on in Python.</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Then we'll simulate randomization to see both biases vanish.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851</TotalTime>
  <Words>3661</Words>
  <Application>Microsoft Macintosh PowerPoint</Application>
  <PresentationFormat>On-screen Show (16:9)</PresentationFormat>
  <Paragraphs>568</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Cambria Math</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Potential Outcomes &amp; The Causal Inference Problem</dc:title>
  <dc:subject>PptxGenJS Presentation</dc:subject>
  <dc:creator>Dr. Fidel González</dc:creator>
  <cp:lastModifiedBy>Gonzalez, Fidel</cp:lastModifiedBy>
  <cp:revision>12</cp:revision>
  <dcterms:created xsi:type="dcterms:W3CDTF">2026-03-18T13:33:41Z</dcterms:created>
  <dcterms:modified xsi:type="dcterms:W3CDTF">2026-03-30T19:50:11Z</dcterms:modified>
</cp:coreProperties>
</file>