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74" r:id="rId10"/>
    <p:sldId id="263" r:id="rId11"/>
    <p:sldId id="276" r:id="rId12"/>
    <p:sldId id="275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085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208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8199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BFEC5-FF23-DC4E-39C4-FD17E0B6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DE4437-3E1B-5446-94D2-B23272F549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ABDBD-B5B4-BC55-551D-6692ED9FD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3F5086-36C9-143D-A073-50C568AE2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5342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47618-8020-A2BC-1E37-E0DA0A46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9E444A-ED63-AA35-E37D-46E1EAAE50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B324C-D52C-6358-2E28-C68F5ED31F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5D7C5-E7A5-74CD-E26F-397E73616A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4239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BE8F6-2CD4-12DE-3706-614378026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AEB0F-BC35-4F07-1B2D-0B5BA2AD68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ECC1A0-929B-ED07-ABD5-88DF17E6D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09E45-2D0B-CD9C-7A70-DAE1E0182D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247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02D09-197A-5666-2D41-F3A0FD144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9B8C8F-1F97-6A7A-4633-5A465F32B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4D4743-8F6E-D64B-8A37-9A15525BD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D5F26-0867-F7D7-BD30-F96043BB1B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946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C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Outcomes &amp;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Causal Inference Problem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· ATT · ATU · Selection Bias · Randomization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320040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 4373 / ECON 4370 — Applied Data Tools for Economics &amp; Business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 ·  Sam Houston State University  ·  Spring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 ·  Introduction to Causal Inference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051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Fundamental Problem of Causal Inference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6184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6184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Outcomes &amp; the Switching Equation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1854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2185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ATE, ATT, ATU — Three Parameters of Interest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2752344"/>
            <a:ext cx="384048" cy="384048"/>
          </a:xfrm>
          <a:prstGeom prst="ellipse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4864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75234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Difference in Outcomes (SDO) Decomposition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319272"/>
            <a:ext cx="384048" cy="384048"/>
          </a:xfrm>
          <a:prstGeom prst="ellipse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33192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Bias &amp; Heterogeneous Treatment Effect Bias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384048" cy="384048"/>
          </a:xfrm>
          <a:prstGeom prst="ellipse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8862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as the Solution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Cunningham (2021), Causal Inference: The Mixtape, Ch.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Lecture 10 Builds on Lecture 8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840480" cy="3474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8404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0789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time: Regression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estimates correlations between X and 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describe associations, not causes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saw omitted variables can flip signs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when CAN regression identify a causal effect?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3840480" cy="3474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3840480" cy="4572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0" y="10789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Causal Inference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formal framework for what "causal" means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comparing treated vs. untreated is usually wrong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vocabulary: ATE, ATT, selection bias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as the gold standard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Fundamental Problem of Causal Inference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effect compares two states of the world for the same unit: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474720" cy="1188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73152" cy="118872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11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world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takes aspirin → headache severity = 2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663440" y="1554480"/>
            <a:ext cx="4023360" cy="1188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554480"/>
            <a:ext cx="73152" cy="1188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world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patient, no aspirin → headache severity = 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8046720" cy="1371600"/>
          </a:xfrm>
          <a:prstGeom prst="rect">
            <a:avLst/>
          </a:prstGeom>
          <a:solidFill>
            <a:srgbClr val="FFF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48640" y="3017520"/>
            <a:ext cx="73152" cy="13716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10896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</a:t>
            </a: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only ever observe ONE state of the world per unit.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counterfactual outcome is always missing. This is what Holland (1986) called </a:t>
            </a:r>
            <a:r>
              <a:rPr lang="en-US" sz="13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fundamental problem of causal inference."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Outcomes Notation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unit i has two potential outcomes (Neyman 1923; Rubin 1974):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804672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173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Y¹ᵢ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17520" y="141732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if unit i receives the treatment (D = 1)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1920240"/>
            <a:ext cx="8046720" cy="438912"/>
          </a:xfrm>
          <a:prstGeom prst="rect">
            <a:avLst/>
          </a:prstGeom>
          <a:solidFill>
            <a:srgbClr val="EEF0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19202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Y⁰ᵢ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192024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if unit i does NOT receive the treatment (D = 0)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8046720" cy="43891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4231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δᵢ = Y¹ᵢ − Y⁰ᵢ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7520" y="24231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treatment effect for unit 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8046720" cy="1371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3063240"/>
            <a:ext cx="8046720" cy="411480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31520" y="308152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Switching Equation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35204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Yᵢ = Dᵢ · Y¹ᵢ + (1 − Dᵢ) · Y⁰ᵢ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D=1 → we observe Y¹ but Y⁰ is missing.    If D=0 → we observe Y⁰ but Y¹ is missing.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Causal Parameters of Interest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73152" cy="105156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161288"/>
            <a:ext cx="640080" cy="3200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16128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08760" y="1143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Treatment Effect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097280"/>
            <a:ext cx="3474720" cy="411480"/>
          </a:xfrm>
          <a:prstGeom prst="rect">
            <a:avLst/>
          </a:prstGeom>
          <a:solidFill>
            <a:srgbClr val="F0F2F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E[Y¹ᵢ] − E[Y⁰ᵢ]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08760" y="1554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effect across the entire population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8229600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73152" cy="1051560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2350008"/>
            <a:ext cx="640080" cy="320040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235000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2331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Treatment Effect on the Treated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2286000"/>
            <a:ext cx="3474720" cy="411480"/>
          </a:xfrm>
          <a:prstGeom prst="rect">
            <a:avLst/>
          </a:prstGeom>
          <a:solidFill>
            <a:srgbClr val="F0F2F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E[Y¹ᵢ | D=1] − E[Y⁰ᵢ | D=1]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effect for those who actually received treatment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429000"/>
            <a:ext cx="8229600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429000"/>
            <a:ext cx="73152" cy="1051560"/>
          </a:xfrm>
          <a:prstGeom prst="rect">
            <a:avLst/>
          </a:prstGeom>
          <a:solidFill>
            <a:srgbClr val="5B6B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1520" y="3538728"/>
            <a:ext cx="640080" cy="320040"/>
          </a:xfrm>
          <a:prstGeom prst="rect">
            <a:avLst/>
          </a:prstGeom>
          <a:solidFill>
            <a:srgbClr val="5B6B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" y="35387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876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Treatment Effect on the Untreated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3474720"/>
            <a:ext cx="3474720" cy="411480"/>
          </a:xfrm>
          <a:prstGeom prst="rect">
            <a:avLst/>
          </a:prstGeom>
          <a:solidFill>
            <a:srgbClr val="F0F2F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E[Y¹ᵢ | D=0] − E[Y⁰ᵢ | D=0]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876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effect for those who did NOT receive treatment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4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Key: ATE = π · ATT + (1−π) · ATU   where π = share treated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Surgery vs. Chemo — Full Potential Outcomes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we could observe BOTH potential outcomes (post-treatment life span in years):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371600"/>
          <a:ext cx="6400800" cy="286512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Y¹ (Surgery)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Y⁰ (Chemo)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δᵢ = Y¹−Y⁰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825D8-B162-368D-9520-1F22BC506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76EAA64-2CDC-5301-323F-C34ADEDB6A92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22FFCE-A049-6FE3-7C73-A59A3EF4298A}"/>
              </a:ext>
            </a:extLst>
          </p:cNvPr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</a:rPr>
              <a:t>Computing the ATE 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835B75-16EE-4EB9-D607-C69AAEEBAFDF}"/>
              </a:ext>
            </a:extLst>
          </p:cNvPr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3ECAE4F-FB63-E5DA-CC3A-C5F4EE497AFE}"/>
              </a:ext>
            </a:extLst>
          </p:cNvPr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9266384-09C4-6A90-AF65-7075A2FCDD0F}"/>
              </a:ext>
            </a:extLst>
          </p:cNvPr>
          <p:cNvSpPr/>
          <p:nvPr/>
        </p:nvSpPr>
        <p:spPr>
          <a:xfrm>
            <a:off x="304800" y="82321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cs typeface="Calibri" pitchFamily="34" charset="-120"/>
              </a:rPr>
              <a:t>Let’s manually compute the ATE (we’ll do it in Python later)  </a:t>
            </a:r>
            <a:endParaRPr lang="en-US" sz="1300" dirty="0"/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E2E4E3DA-6540-FB11-A30E-31F4D8D9C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237299"/>
              </p:ext>
            </p:extLst>
          </p:nvPr>
        </p:nvGraphicFramePr>
        <p:xfrm>
          <a:off x="6126480" y="1076452"/>
          <a:ext cx="2854960" cy="2865120"/>
        </p:xfrm>
        <a:graphic>
          <a:graphicData uri="http://schemas.openxmlformats.org/drawingml/2006/table">
            <a:tbl>
              <a:tblPr/>
              <a:tblGrid>
                <a:gridCol w="71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Y¹ (Surgery)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Y⁰ (Chemo)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Shape 5">
            <a:extLst>
              <a:ext uri="{FF2B5EF4-FFF2-40B4-BE49-F238E27FC236}">
                <a16:creationId xmlns:a16="http://schemas.microsoft.com/office/drawing/2014/main" id="{F35546F0-B112-DA58-9424-B9C9A8398525}"/>
              </a:ext>
            </a:extLst>
          </p:cNvPr>
          <p:cNvSpPr/>
          <p:nvPr/>
        </p:nvSpPr>
        <p:spPr>
          <a:xfrm>
            <a:off x="182880" y="4205986"/>
            <a:ext cx="8229600" cy="457200"/>
          </a:xfrm>
          <a:prstGeom prst="rect">
            <a:avLst/>
          </a:prstGeom>
          <a:solidFill>
            <a:srgbClr val="E8F4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FA62DF5-6DE8-2EE8-BF50-456AAB32A1AE}"/>
              </a:ext>
            </a:extLst>
          </p:cNvPr>
          <p:cNvSpPr/>
          <p:nvPr/>
        </p:nvSpPr>
        <p:spPr>
          <a:xfrm>
            <a:off x="304800" y="41904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= E[Y¹] − E[Y⁰] = 5.6 − 5.0 = 0.6         on average, surgery increases life expectancy by 0.6 years compared to chemo.</a:t>
            </a:r>
            <a:endParaRPr lang="en-US" sz="13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00BFEC8-87CC-C8F1-144C-248019C488A6}"/>
              </a:ext>
            </a:extLst>
          </p:cNvPr>
          <p:cNvSpPr/>
          <p:nvPr/>
        </p:nvSpPr>
        <p:spPr>
          <a:xfrm>
            <a:off x="304800" y="1143254"/>
            <a:ext cx="5648960" cy="3081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= E[Y¹] − E[Y⁰]</a:t>
            </a:r>
          </a:p>
          <a:p>
            <a:pPr marL="0" indent="0">
              <a:buNone/>
            </a:pPr>
            <a:endParaRPr lang="en-US" sz="1300" b="1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E[Y¹] = the average outcome if everyone in the population receives treatment.</a:t>
            </a:r>
          </a:p>
          <a:p>
            <a:endParaRPr lang="en-US" sz="1300" b="1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E[Y¹]=(7+5+5+7+4+10+1+5+3+9)/10 = 5.6  (if everyone gets surgery the average life span is 5.6 years) </a:t>
            </a:r>
          </a:p>
          <a:p>
            <a:endParaRPr lang="en-US" sz="1300" b="1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E[Y⁰]= the average outcome if no one receives treatment</a:t>
            </a:r>
          </a:p>
          <a:p>
            <a:endParaRPr lang="en-US" sz="1300" b="1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E[Y⁰]=(1+6+1+8+2+1+10+6+7+8)/10 =5 (if no one gets surgery and they all get chemo instead the average life span is 5 years).</a:t>
            </a:r>
          </a:p>
          <a:p>
            <a:endParaRPr lang="en-US" sz="1300" b="1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answers the question: on average, how much would outcomes change if we gave the treatment to everyone instead of no one?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1A9351A-27D5-A20F-A865-05E47172D907}"/>
              </a:ext>
            </a:extLst>
          </p:cNvPr>
          <p:cNvCxnSpPr/>
          <p:nvPr/>
        </p:nvCxnSpPr>
        <p:spPr>
          <a:xfrm>
            <a:off x="2702560" y="4399280"/>
            <a:ext cx="2235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889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6C427-0AA2-2531-CAB8-59DD473F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47C6188-1EC5-CDF6-C466-FEF3E3CFB275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D151BEB-F682-8831-B7BF-CCE84F1C2F1C}"/>
              </a:ext>
            </a:extLst>
          </p:cNvPr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ATE’s intuition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1429926-AC46-8280-A006-8AF3E27BD1FB}"/>
              </a:ext>
            </a:extLst>
          </p:cNvPr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8F8245F-65D2-8B11-54D0-C4596FF20793}"/>
              </a:ext>
            </a:extLst>
          </p:cNvPr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7226125-CA0E-3287-3C25-5457E70ABF36}"/>
              </a:ext>
            </a:extLst>
          </p:cNvPr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298A5C5-AE51-1E11-A860-58006E881DE9}"/>
              </a:ext>
            </a:extLst>
          </p:cNvPr>
          <p:cNvSpPr/>
          <p:nvPr/>
        </p:nvSpPr>
        <p:spPr>
          <a:xfrm>
            <a:off x="457200" y="1005840"/>
            <a:ext cx="73152" cy="118872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73BB168-C8F0-47CA-D652-51D1D5006102}"/>
              </a:ext>
            </a:extLst>
          </p:cNvPr>
          <p:cNvSpPr/>
          <p:nvPr/>
        </p:nvSpPr>
        <p:spPr>
          <a:xfrm>
            <a:off x="731520" y="1097280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cs typeface="Consolas" pitchFamily="34" charset="-120"/>
              </a:rPr>
              <a:t>ATE is population level comparison (not individual). </a:t>
            </a:r>
          </a:p>
          <a:p>
            <a:pPr marL="0" indent="0">
              <a:buNone/>
            </a:pPr>
            <a:endParaRPr lang="en-US" sz="1500" b="1" dirty="0">
              <a:solidFill>
                <a:srgbClr val="1E2761"/>
              </a:solidFill>
              <a:latin typeface="Consolas" pitchFamily="34" charset="0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cs typeface="Consolas" pitchFamily="34" charset="-120"/>
              </a:rPr>
              <a:t>The ATE compares two hypothetical worlds: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47973BD-F8FD-3FCD-7E7E-CFACA75927BD}"/>
              </a:ext>
            </a:extLst>
          </p:cNvPr>
          <p:cNvSpPr/>
          <p:nvPr/>
        </p:nvSpPr>
        <p:spPr>
          <a:xfrm>
            <a:off x="457200" y="2423160"/>
            <a:ext cx="8229600" cy="146304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0294552-9687-D0FB-A452-DF6A1892A7F8}"/>
              </a:ext>
            </a:extLst>
          </p:cNvPr>
          <p:cNvSpPr/>
          <p:nvPr/>
        </p:nvSpPr>
        <p:spPr>
          <a:xfrm>
            <a:off x="731520" y="25146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1:   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E[Y¹]:  where everyone is treated</a:t>
            </a:r>
            <a:endParaRPr lang="en-US" sz="1400" dirty="0">
              <a:solidFill>
                <a:srgbClr val="E894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b="1" dirty="0">
              <a:solidFill>
                <a:srgbClr val="E8943A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4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World 2:  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</a:t>
            </a:r>
            <a:r>
              <a:rPr lang="en-US" sz="1400" baseline="30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]:  where no one is treated </a:t>
            </a:r>
            <a:endParaRPr lang="en-US" sz="1400" dirty="0">
              <a:solidFill>
                <a:srgbClr val="E8943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dirty="0"/>
          </a:p>
          <a:p>
            <a:r>
              <a:rPr lang="en-US" sz="1400" dirty="0"/>
              <a:t>Remember that for each individual, we never observe both outcomes, but the ATE average across the whole population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AAD6EAF-A449-C098-A61B-EBC7FCE84CB7}"/>
              </a:ext>
            </a:extLst>
          </p:cNvPr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E8F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4964E1E-01D4-933B-33C2-FA00BA318BB6}"/>
              </a:ext>
            </a:extLst>
          </p:cNvPr>
          <p:cNvSpPr/>
          <p:nvPr/>
        </p:nvSpPr>
        <p:spPr>
          <a:xfrm>
            <a:off x="731520" y="41605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ATE is the answer to a policy question: What would happen if we changed the treatment status for everyone?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34022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30A30BB-A4D5-6578-1C13-8077E61C8C6D}"/>
              </a:ext>
            </a:extLst>
          </p:cNvPr>
          <p:cNvSpPr/>
          <p:nvPr/>
        </p:nvSpPr>
        <p:spPr>
          <a:xfrm>
            <a:off x="4658360" y="3769360"/>
            <a:ext cx="4246880" cy="883920"/>
          </a:xfrm>
          <a:prstGeom prst="rect">
            <a:avLst/>
          </a:prstGeom>
          <a:solidFill>
            <a:schemeClr val="accent2">
              <a:lumMod val="40000"/>
              <a:lumOff val="60000"/>
              <a:alpha val="45867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6190A1-C7C8-CFB7-823A-175C8C1D6BF0}"/>
              </a:ext>
            </a:extLst>
          </p:cNvPr>
          <p:cNvSpPr txBox="1"/>
          <p:nvPr/>
        </p:nvSpPr>
        <p:spPr>
          <a:xfrm>
            <a:off x="4658360" y="1453753"/>
            <a:ext cx="448564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This is what happens in practice. </a:t>
            </a:r>
          </a:p>
          <a:p>
            <a:endParaRPr lang="en-US" sz="1400" b="1" dirty="0"/>
          </a:p>
          <a:p>
            <a:r>
              <a:rPr lang="en-US" sz="1400" i="1" dirty="0"/>
              <a:t>Patients are not randomly assigned, rather patients receive the treatment doctors believe is best for them.</a:t>
            </a:r>
          </a:p>
          <a:p>
            <a:br>
              <a:rPr lang="en-US" sz="1400" dirty="0"/>
            </a:br>
            <a:r>
              <a:rPr lang="en-US" sz="1400" b="1" dirty="0"/>
              <a:t>We only observe one outcome per person. </a:t>
            </a:r>
          </a:p>
          <a:p>
            <a:r>
              <a:rPr lang="en-US" sz="1400" dirty="0"/>
              <a:t>The counterfactual is never observed.</a:t>
            </a:r>
          </a:p>
          <a:p>
            <a:endParaRPr lang="en-US" sz="1400" dirty="0"/>
          </a:p>
          <a:p>
            <a:r>
              <a:rPr lang="en-US" sz="1400" dirty="0"/>
              <a:t>So instead of seeing both outcomes, we only observe data like the table on the left.</a:t>
            </a:r>
          </a:p>
          <a:p>
            <a:endParaRPr lang="en-US" sz="1400" dirty="0"/>
          </a:p>
          <a:p>
            <a:r>
              <a:rPr lang="en-US" sz="1400" b="1" dirty="0"/>
              <a:t>Q:</a:t>
            </a:r>
            <a:r>
              <a:rPr lang="en-US" sz="1400" dirty="0"/>
              <a:t> How do we now estimate the effect of the treatment?</a:t>
            </a:r>
            <a:br>
              <a:rPr lang="en-US" sz="1400" dirty="0"/>
            </a:br>
            <a:endParaRPr lang="en-US" sz="1400" dirty="0"/>
          </a:p>
          <a:p>
            <a:r>
              <a:rPr lang="en-US" sz="1400" b="1" dirty="0"/>
              <a:t>A:</a:t>
            </a:r>
            <a:r>
              <a:rPr lang="en-US" sz="1400" dirty="0"/>
              <a:t> We compare average outcomes across groups.</a:t>
            </a:r>
          </a:p>
          <a:p>
            <a:endParaRPr lang="en-US" sz="140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"Perfect Doctor" — What We Actually Observe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5120" y="868680"/>
            <a:ext cx="849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assume the perfect doctor who assigns each patient to their </a:t>
            </a:r>
            <a:r>
              <a:rPr lang="en-US" sz="14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treatment (surgery if Y¹&gt;Y⁰, chemo if Y¹&lt;Y⁰).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assignment, we only see the observed outcome, the counterfactual vanishes: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025224"/>
              </p:ext>
            </p:extLst>
          </p:nvPr>
        </p:nvGraphicFramePr>
        <p:xfrm>
          <a:off x="238760" y="1626854"/>
          <a:ext cx="4114800" cy="28651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(observed)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BA92F-DB49-0F63-C5BA-1B8C2634F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35808F8-80A2-8FC8-32C0-1978EEA649A1}"/>
              </a:ext>
            </a:extLst>
          </p:cNvPr>
          <p:cNvSpPr/>
          <p:nvPr/>
        </p:nvSpPr>
        <p:spPr>
          <a:xfrm>
            <a:off x="2945307" y="7162800"/>
            <a:ext cx="4246880" cy="883920"/>
          </a:xfrm>
          <a:prstGeom prst="rect">
            <a:avLst/>
          </a:prstGeom>
          <a:solidFill>
            <a:schemeClr val="accent2">
              <a:lumMod val="40000"/>
              <a:lumOff val="60000"/>
              <a:alpha val="45867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61E3B7-D724-4A8E-7508-82DE60299FE2}"/>
              </a:ext>
            </a:extLst>
          </p:cNvPr>
          <p:cNvSpPr txBox="1"/>
          <p:nvPr/>
        </p:nvSpPr>
        <p:spPr>
          <a:xfrm>
            <a:off x="231495" y="1453753"/>
            <a:ext cx="879675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The SDO is defined as follows: </a:t>
            </a:r>
          </a:p>
          <a:p>
            <a:endParaRPr lang="en-US" sz="1400" b="1" dirty="0"/>
          </a:p>
          <a:p>
            <a:r>
              <a:rPr lang="en-US" sz="1400" b="1" dirty="0"/>
              <a:t>SDO = E[Y | D = 1] − E[Y | D = 0] 	         </a:t>
            </a:r>
            <a:r>
              <a:rPr lang="en-US" sz="1400" dirty="0"/>
              <a:t>SDO = average outcome with treatment - average outcome w/out treatment</a:t>
            </a:r>
          </a:p>
          <a:p>
            <a:endParaRPr lang="en-US" sz="1400" b="1" dirty="0"/>
          </a:p>
          <a:p>
            <a:r>
              <a:rPr lang="en-US" sz="1400" dirty="0"/>
              <a:t>Rewrite SDO using the potential outcomes notation: </a:t>
            </a:r>
          </a:p>
          <a:p>
            <a:endParaRPr lang="en-US" sz="1400" dirty="0"/>
          </a:p>
          <a:p>
            <a:r>
              <a:rPr lang="en-US" sz="1400" dirty="0"/>
              <a:t>SDO = E[Y¹ | D = 1] − E[Y⁰ | D = 0]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F7116153-6BEE-6A6B-8EF8-2E1E9752FF94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D4145E9-4ED8-5321-05D4-AF6A07EAA366}"/>
              </a:ext>
            </a:extLst>
          </p:cNvPr>
          <p:cNvSpPr/>
          <p:nvPr/>
        </p:nvSpPr>
        <p:spPr>
          <a:xfrm>
            <a:off x="384408" y="91440"/>
            <a:ext cx="854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</a:rPr>
              <a:t>What is the Simple Difference in Outcomes(SDO)?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535F5B0-F1F2-C4B2-5FD0-D45827EC674D}"/>
              </a:ext>
            </a:extLst>
          </p:cNvPr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6C859ED-AE4C-0914-F0F0-5654781A774E}"/>
              </a:ext>
            </a:extLst>
          </p:cNvPr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80868AF-E9CB-5F0A-2934-BEA1395EC5BF}"/>
              </a:ext>
            </a:extLst>
          </p:cNvPr>
          <p:cNvSpPr/>
          <p:nvPr/>
        </p:nvSpPr>
        <p:spPr>
          <a:xfrm>
            <a:off x="325120" y="868680"/>
            <a:ext cx="849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in average outcomes across groups is known as the Simple Difference in Outcomes (SDO).</a:t>
            </a:r>
          </a:p>
          <a:p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we can compute from the data.</a:t>
            </a:r>
          </a:p>
          <a:p>
            <a:endParaRPr lang="en-US" sz="1400" dirty="0">
              <a:solidFill>
                <a:srgbClr val="2B2B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47BE799-C28F-BA24-7465-38DCB28E82DA}"/>
              </a:ext>
            </a:extLst>
          </p:cNvPr>
          <p:cNvCxnSpPr>
            <a:cxnSpLocks/>
          </p:cNvCxnSpPr>
          <p:nvPr/>
        </p:nvCxnSpPr>
        <p:spPr>
          <a:xfrm>
            <a:off x="2707576" y="2060294"/>
            <a:ext cx="619695" cy="0"/>
          </a:xfrm>
          <a:prstGeom prst="straightConnector1">
            <a:avLst/>
          </a:prstGeom>
          <a:ln w="4762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A6B014F-DF81-ECBF-8F69-AF36A4F6C4EA}"/>
              </a:ext>
            </a:extLst>
          </p:cNvPr>
          <p:cNvSpPr txBox="1"/>
          <p:nvPr/>
        </p:nvSpPr>
        <p:spPr>
          <a:xfrm>
            <a:off x="231494" y="3209449"/>
            <a:ext cx="62734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Add and subtract the missing counterfactual </a:t>
            </a:r>
            <a:r>
              <a:rPr lang="en-US" sz="1400" dirty="0">
                <a:solidFill>
                  <a:srgbClr val="FF0000"/>
                </a:solidFill>
              </a:rPr>
              <a:t>E[Y⁰ | D = 1]</a:t>
            </a:r>
            <a:r>
              <a:rPr lang="en-US" sz="1400" dirty="0"/>
              <a:t> to get the following</a:t>
            </a:r>
          </a:p>
          <a:p>
            <a:endParaRPr lang="en-US" sz="1400" dirty="0"/>
          </a:p>
          <a:p>
            <a:r>
              <a:rPr lang="en-US" sz="1400" dirty="0"/>
              <a:t>SDO = (E[Y¹ | D = 1] </a:t>
            </a:r>
            <a:r>
              <a:rPr lang="en-US" sz="1400" dirty="0">
                <a:solidFill>
                  <a:srgbClr val="FF0000"/>
                </a:solidFill>
              </a:rPr>
              <a:t>− E[Y⁰ | D = 1]</a:t>
            </a:r>
            <a:r>
              <a:rPr lang="en-US" sz="1400" dirty="0"/>
              <a:t>) + (</a:t>
            </a:r>
            <a:r>
              <a:rPr lang="en-US" sz="1400" dirty="0">
                <a:solidFill>
                  <a:srgbClr val="FF0000"/>
                </a:solidFill>
              </a:rPr>
              <a:t>E[Y⁰ | D = 1]</a:t>
            </a:r>
            <a:r>
              <a:rPr lang="en-US" sz="1400" dirty="0"/>
              <a:t> − E[Y⁰ | D = 0])</a:t>
            </a:r>
          </a:p>
          <a:p>
            <a:endParaRPr lang="en-US" dirty="0"/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88A41328-240D-45F5-1C05-FC30DC7FFF89}"/>
              </a:ext>
            </a:extLst>
          </p:cNvPr>
          <p:cNvSpPr/>
          <p:nvPr/>
        </p:nvSpPr>
        <p:spPr>
          <a:xfrm rot="16200000">
            <a:off x="1612311" y="3019909"/>
            <a:ext cx="338216" cy="2108766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1270BC55-1A03-769B-BD8B-9DDF8D68B204}"/>
              </a:ext>
            </a:extLst>
          </p:cNvPr>
          <p:cNvSpPr/>
          <p:nvPr/>
        </p:nvSpPr>
        <p:spPr>
          <a:xfrm rot="16200000">
            <a:off x="3854401" y="3010765"/>
            <a:ext cx="319928" cy="2108765"/>
          </a:xfrm>
          <a:prstGeom prst="leftBrac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72C2BD-E242-68A6-36DC-B9AEB3AD4616}"/>
              </a:ext>
            </a:extLst>
          </p:cNvPr>
          <p:cNvSpPr txBox="1"/>
          <p:nvPr/>
        </p:nvSpPr>
        <p:spPr>
          <a:xfrm>
            <a:off x="558259" y="4243400"/>
            <a:ext cx="24707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Average Treatment on Treated</a:t>
            </a:r>
          </a:p>
          <a:p>
            <a:pPr algn="ctr"/>
            <a:r>
              <a:rPr lang="en-US" sz="1400" dirty="0"/>
              <a:t>(ATT) </a:t>
            </a:r>
          </a:p>
        </p:txBody>
      </p:sp>
    </p:spTree>
    <p:extLst>
      <p:ext uri="{BB962C8B-B14F-4D97-AF65-F5344CB8AC3E}">
        <p14:creationId xmlns:p14="http://schemas.microsoft.com/office/powerpoint/2010/main" val="2176295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51E8E-6A59-13AB-E2D3-6AFAAFDC5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6830FF-C456-B383-C452-B0EE361A0F5D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9AA050-8DE2-0B6D-DA99-FFE74DD4BE0D}"/>
              </a:ext>
            </a:extLst>
          </p:cNvPr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"Perfect Doctor" — What We Actually Observe</a:t>
            </a:r>
            <a:endParaRPr lang="en-US" sz="2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A0B349-3839-FC9B-B2B7-B42DFB2196A5}"/>
              </a:ext>
            </a:extLst>
          </p:cNvPr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BA0C4B-EC2B-50F6-25B4-7ABF2E546F47}"/>
              </a:ext>
            </a:extLst>
          </p:cNvPr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BC7DF5-DD71-B7D3-490F-45F52EB8BAA7}"/>
              </a:ext>
            </a:extLst>
          </p:cNvPr>
          <p:cNvSpPr/>
          <p:nvPr/>
        </p:nvSpPr>
        <p:spPr>
          <a:xfrm>
            <a:off x="345440" y="960120"/>
            <a:ext cx="8493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assume the perfect doctor who assigns each patient to their </a:t>
            </a:r>
            <a:r>
              <a:rPr lang="en-US" sz="14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treatment (surgery if Y¹&gt;Y⁰, chemo if Y¹&lt;Y⁰).</a:t>
            </a:r>
          </a:p>
          <a:p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assignment, we only see the observed outcome, the counterfactual vanishes:</a:t>
            </a:r>
            <a:endParaRPr lang="en-US" sz="1400" dirty="0"/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84B6B152-B4FE-E01D-6F36-77D2090CCF69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691640"/>
          <a:ext cx="4114800" cy="28651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(observed)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(chemo)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(surgery)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>
            <a:extLst>
              <a:ext uri="{FF2B5EF4-FFF2-40B4-BE49-F238E27FC236}">
                <a16:creationId xmlns:a16="http://schemas.microsoft.com/office/drawing/2014/main" id="{2851C074-3B18-32A4-B455-B604E671BA09}"/>
              </a:ext>
            </a:extLst>
          </p:cNvPr>
          <p:cNvSpPr/>
          <p:nvPr/>
        </p:nvSpPr>
        <p:spPr>
          <a:xfrm>
            <a:off x="5102352" y="1703070"/>
            <a:ext cx="3657600" cy="2743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32189674-E5FF-1216-C94D-A52F323C1FF4}"/>
              </a:ext>
            </a:extLst>
          </p:cNvPr>
          <p:cNvSpPr/>
          <p:nvPr/>
        </p:nvSpPr>
        <p:spPr>
          <a:xfrm>
            <a:off x="5029200" y="1691640"/>
            <a:ext cx="73152" cy="27432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C089579-8D13-01A1-7A0A-D20C85E3BF73}"/>
              </a:ext>
            </a:extLst>
          </p:cNvPr>
          <p:cNvSpPr/>
          <p:nvPr/>
        </p:nvSpPr>
        <p:spPr>
          <a:xfrm>
            <a:off x="5303520" y="1828800"/>
            <a:ext cx="141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group mean :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F5C084B-0A45-70C2-89EC-B5530A1A3F19}"/>
              </a:ext>
            </a:extLst>
          </p:cNvPr>
          <p:cNvSpPr/>
          <p:nvPr/>
        </p:nvSpPr>
        <p:spPr>
          <a:xfrm>
            <a:off x="6715760" y="1828800"/>
            <a:ext cx="189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(7+5+4+10+9)/5 =7.0</a:t>
            </a:r>
            <a:endParaRPr lang="en-US" sz="13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C7E5147-1CFB-8DCA-79BB-62BB2E3975C3}"/>
              </a:ext>
            </a:extLst>
          </p:cNvPr>
          <p:cNvSpPr/>
          <p:nvPr/>
        </p:nvSpPr>
        <p:spPr>
          <a:xfrm>
            <a:off x="5303520" y="2157984"/>
            <a:ext cx="1339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group mean:</a:t>
            </a: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90F234C-8A45-303B-317E-B35521AC9876}"/>
              </a:ext>
            </a:extLst>
          </p:cNvPr>
          <p:cNvSpPr/>
          <p:nvPr/>
        </p:nvSpPr>
        <p:spPr>
          <a:xfrm>
            <a:off x="6604000" y="215798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(6+8+10+6+7)/5 = 7.4</a:t>
            </a:r>
            <a:endParaRPr lang="en-US" sz="13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E22E375-916E-4E92-CF04-365A68AB72F3}"/>
              </a:ext>
            </a:extLst>
          </p:cNvPr>
          <p:cNvSpPr/>
          <p:nvPr/>
        </p:nvSpPr>
        <p:spPr>
          <a:xfrm>
            <a:off x="530352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 = 7.0 − 7.4 =</a:t>
            </a:r>
            <a:endParaRPr lang="en-US" sz="12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E9086A0-B64F-7DC8-7853-100911E4E1E9}"/>
              </a:ext>
            </a:extLst>
          </p:cNvPr>
          <p:cNvSpPr/>
          <p:nvPr/>
        </p:nvSpPr>
        <p:spPr>
          <a:xfrm>
            <a:off x="7498080" y="24871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</a:t>
            </a:r>
            <a:endParaRPr lang="en-US" sz="13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22458F9-A365-94CD-1632-3478B16C01F0}"/>
              </a:ext>
            </a:extLst>
          </p:cNvPr>
          <p:cNvSpPr/>
          <p:nvPr/>
        </p:nvSpPr>
        <p:spPr>
          <a:xfrm>
            <a:off x="5303520" y="28163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A0181AF-3459-F3DD-D3BA-514971119451}"/>
              </a:ext>
            </a:extLst>
          </p:cNvPr>
          <p:cNvSpPr/>
          <p:nvPr/>
        </p:nvSpPr>
        <p:spPr>
          <a:xfrm>
            <a:off x="7498080" y="2816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3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B038AFB3-CD9D-C26F-4734-C9EEB71BA6C5}"/>
              </a:ext>
            </a:extLst>
          </p:cNvPr>
          <p:cNvSpPr/>
          <p:nvPr/>
        </p:nvSpPr>
        <p:spPr>
          <a:xfrm>
            <a:off x="5303520" y="31455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ATE:</a:t>
            </a:r>
            <a:endParaRPr lang="en-US" sz="120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76811EF-C2CA-72CE-7F4C-414F6DE35662}"/>
              </a:ext>
            </a:extLst>
          </p:cNvPr>
          <p:cNvSpPr/>
          <p:nvPr/>
        </p:nvSpPr>
        <p:spPr>
          <a:xfrm>
            <a:off x="7498080" y="314553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</a:t>
            </a:r>
            <a:endParaRPr lang="en-US" sz="13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2C6A126-4C28-47A4-1072-54A3E924B014}"/>
              </a:ext>
            </a:extLst>
          </p:cNvPr>
          <p:cNvSpPr/>
          <p:nvPr/>
        </p:nvSpPr>
        <p:spPr>
          <a:xfrm>
            <a:off x="5303520" y="3474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ATT:</a:t>
            </a:r>
            <a:endParaRPr lang="en-US" sz="12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E56FE46-38FA-C347-F883-06EE10CFEEF4}"/>
              </a:ext>
            </a:extLst>
          </p:cNvPr>
          <p:cNvSpPr/>
          <p:nvPr/>
        </p:nvSpPr>
        <p:spPr>
          <a:xfrm>
            <a:off x="7498080" y="34747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</a:t>
            </a:r>
            <a:endParaRPr lang="en-US" sz="130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7CE12ADB-95A0-CE21-6EB8-412FB43A66C5}"/>
              </a:ext>
            </a:extLst>
          </p:cNvPr>
          <p:cNvSpPr/>
          <p:nvPr/>
        </p:nvSpPr>
        <p:spPr>
          <a:xfrm>
            <a:off x="5303520" y="38039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ATU:</a:t>
            </a:r>
            <a:endParaRPr lang="en-US" sz="120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E570993A-BF93-9E1E-5293-3F7D5A64DCA7}"/>
              </a:ext>
            </a:extLst>
          </p:cNvPr>
          <p:cNvSpPr/>
          <p:nvPr/>
        </p:nvSpPr>
        <p:spPr>
          <a:xfrm>
            <a:off x="7498080" y="380390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−3.2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171248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SDO Decomposition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difference in outcomes contains THREE components: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658368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73152" cy="658368"/>
          </a:xfrm>
          <a:prstGeom prst="rect">
            <a:avLst/>
          </a:prstGeom>
          <a:solidFill>
            <a:srgbClr val="2B2B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 =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E[Y¹|D=1] − E[Y⁰|D=0]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compute from data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8229600" cy="658368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212848"/>
            <a:ext cx="73152" cy="65836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2128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00400" y="221284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E[Y¹] − E[Y⁰]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21284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What we WANT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62656"/>
            <a:ext cx="8229600" cy="658368"/>
          </a:xfrm>
          <a:prstGeom prst="rect">
            <a:avLst/>
          </a:prstGeom>
          <a:solidFill>
            <a:srgbClr val="FD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962656"/>
            <a:ext cx="73152" cy="658368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Selection Bias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00400" y="296265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E[Y⁰|D=1] − E[Y⁰|D=0]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29626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Baseline difference between groups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12464"/>
            <a:ext cx="8229600" cy="658368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712464"/>
            <a:ext cx="73152" cy="658368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371246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HTE Bias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3712464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(1−π)(ATT − ATU)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37124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Different returns to treatment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45262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  =  0.6  +  (−4.8)  +  3.8        ✓   It checks out!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Selection Bias?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73152" cy="128016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Selection Bias  =  E[Y⁰ | D=1] − E[Y⁰ | D=0]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between the treatment and control groups that would exist even if neither group received treatment. It measures how the groups differ at baseline.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8229600" cy="1097280"/>
          </a:xfrm>
          <a:prstGeom prst="rect">
            <a:avLst/>
          </a:prstGeom>
          <a:solidFill>
            <a:srgbClr val="FD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example: 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E[Y⁰|D=1] = 2.6 (chemo outcome for the surgery group)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E[Y⁰|D=0] = 7.4 (chemo outcome for the chemo group)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Bias = 2.6 − 7.4 = −4.8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ect">
            <a:avLst/>
          </a:prstGeom>
          <a:solidFill>
            <a:srgbClr val="FFF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73152" cy="77724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913632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"perfect doctor" sent the sickest patients (those who would do poorly on chemo) to surgery. So the surgery group has fundamentally worse baseline prognosis.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Heterogeneous Treatment Effect Bias?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73152" cy="118872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0972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HTE Bias  =  (1 − π)(ATT − ATU)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bias exists when the treatment effect differs between people who chose to be treated and those who did not — and the target parameter is ATE, not ATT.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1463040"/>
          </a:xfrm>
          <a:prstGeom prst="rect">
            <a:avLst/>
          </a:prstGeom>
          <a:solidFill>
            <a:srgbClr val="FFF3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51460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our example: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 = 4.4  (surgery helps the surgery group a lot)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 = −3.2  (surgery would HURT the chemo group)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 = 0.5  (half in each group)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89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HTE Bias = (1 − 0.5)(4.4 − (−3.2)) = 0.5 × 7.6 = 3.8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E8F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41605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without selection bias, if we target ATE but ATT ≠ ATU, we still get the wrong answer. People sort into treatment based on their expected gains.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Naïve Comparisons Fail: The Economics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reasoning tells us that selection bias is nearly inevitable in observational data: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6400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73152" cy="640080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training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15087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who enroll may be more motivated — they'd do better even without the program.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8229600" cy="640080"/>
          </a:xfrm>
          <a:prstGeom prst="rect">
            <a:avLst/>
          </a:prstGeom>
          <a:solidFill>
            <a:srgbClr val="F5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73152" cy="640080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2402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premium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2402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 attend college differ in ability, family resources, ambition from those who don't.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8229600" cy="6400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73152" cy="640080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quality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560320" y="29718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Sicker patients go to better hospitals — comparing outcomes makes good hospitals look bad.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703320"/>
            <a:ext cx="8229600" cy="640080"/>
          </a:xfrm>
          <a:prstGeom prst="rect">
            <a:avLst/>
          </a:prstGeom>
          <a:solidFill>
            <a:srgbClr val="F5F6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73152" cy="640080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37033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wage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560320" y="3703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that raise wages differ economically from states that don't.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52628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 choice always pushes against the independence assumption.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Independence Assumption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73152" cy="91440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(Y¹, Y⁰)  ⊥  D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assignment is independent of potential outcomes — treatment was assigned for reasons having NOTHING to do with expected gains.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03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independence: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3931920" cy="1097280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bias = 0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E[Y⁰|D=1] − E[Y⁰|D=0]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2468880"/>
            <a:ext cx="3931920" cy="1097280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HTE bias = 0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 = ATU → (1−π)(ATT−ATU) = 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840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Therefore:   SDO  =  ATE     ← Simple comparison IS the causal effect!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Randomization: The Gold Standard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guarantee independence? Flip a coin.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12801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randomization (coin flip, random number generator) ensures that treatment assignment is determined by chance, not by patient characteristics, doctor judgment, or self-selection.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assignment mechanism is known and controlled by the researcher, we can guarantee that — on average, in the population — treated and control groups are identical on ALL dimensions, observed and unobserved.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randomized experiments: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91640" y="3337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Salk Polio Vaccine Trial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34840" y="33375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200K+ children randomized → proved vaccine works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776472"/>
            <a:ext cx="1097280" cy="384048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7764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1971–82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691640" y="37764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 Health Insurance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377647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7,700 people → cost-sharing reduces utilization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15384"/>
            <a:ext cx="1097280" cy="384048"/>
          </a:xfrm>
          <a:prstGeom prst="rect">
            <a:avLst/>
          </a:prstGeom>
          <a:solidFill>
            <a:srgbClr val="3A4F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2153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2153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Thornton HIV Study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34840" y="42153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incentives → 2× more likely to learn HIV status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SUTVA: The Fine Print on Potential Outcomes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Stable Unit Treatment Value Assumption (Rubin) requires three things: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73152" cy="9144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5087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No variation in treatment doses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874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treated unit gets the same "dose" — e.g., all surgeons are equally skilled.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8229600" cy="914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73152" cy="9144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25603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 spillovers / externalities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29260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unit i doesn't change unit j's outcome — e.g., vaccinating me doesn't protect you (herd immunity violates this!).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3152" cy="9144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3611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 general equilibrium effects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9776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up the treatment doesn't change the environment — e.g., sending everyone to college would change the wage premium.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41C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Fidel González · Sam Houston State University · BANA 4373 — Lecture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0515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effect is the difference between two potential outcomes for the SAME unit — but we only ever observe 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810512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8105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764792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 difference in outcomes (SDO) = ATE + Selection Bias + HTE Bias. It almost never equals the causal effect in observational data.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52374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2478024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bias arises because treated and control groups differ at baseline — people choose treatments based on expected gains.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236976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2369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191256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 eliminates both selection bias and HTE bias by making treatment assignment independent of potential outcomes.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950208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390448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SUTVA reminds us: no dose variation, no spillovers, no general equilibrium effects.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C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94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2743200" cy="0"/>
          </a:xfrm>
          <a:prstGeom prst="line">
            <a:avLst/>
          </a:prstGeom>
          <a:noFill/>
          <a:ln w="25400">
            <a:solidFill>
              <a:srgbClr val="E894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Open the Lecture 10 notebook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compute ATE, ATT, ATU, selection bias, and HTE bias hands-on in Python.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we'll simulate randomization to see both biases vanish.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</TotalTime>
  <Words>2672</Words>
  <Application>Microsoft Macintosh PowerPoint</Application>
  <PresentationFormat>On-screen Show (16:9)</PresentationFormat>
  <Paragraphs>414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Potential Outcomes &amp; The Causal Inference Problem</dc:title>
  <dc:subject>PptxGenJS Presentation</dc:subject>
  <dc:creator>Dr. Fidel González</dc:creator>
  <cp:lastModifiedBy>Gonzalez, Fidel</cp:lastModifiedBy>
  <cp:revision>4</cp:revision>
  <dcterms:created xsi:type="dcterms:W3CDTF">2026-03-18T13:33:41Z</dcterms:created>
  <dcterms:modified xsi:type="dcterms:W3CDTF">2026-03-25T16:38:47Z</dcterms:modified>
</cp:coreProperties>
</file>