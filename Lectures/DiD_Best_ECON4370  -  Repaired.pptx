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119"/>
    <p:restoredTop sz="94610"/>
  </p:normalViewPr>
  <p:slideViewPr>
    <p:cSldViewPr snapToGrid="0" snapToObjects="1">
      <p:cViewPr varScale="1">
        <p:scale>
          <a:sx n="204" d="100"/>
          <a:sy n="204" d="100"/>
        </p:scale>
        <p:origin x="7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43846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407408"/>
            <a:ext cx="9144000" cy="736092"/>
          </a:xfrm>
          <a:prstGeom prst="rect">
            <a:avLst/>
          </a:prstGeom>
          <a:solidFill>
            <a:srgbClr val="243660"/>
          </a:solidFill>
          <a:ln w="12700">
            <a:solidFill>
              <a:srgbClr val="2436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2A9D8F"/>
                </a:solidFill>
              </a:rPr>
              <a:t>ECON 4370: Applied Data Tools for Economics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503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</a:rPr>
              <a:t>Causal Inference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19072"/>
            <a:ext cx="8503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E9A42E"/>
                </a:solidFill>
              </a:rPr>
              <a:t>Difference-in-Differences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2340864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B8C4D4"/>
                </a:solidFill>
              </a:rPr>
              <a:t>Conceptual Introduction &amp; Storytelling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11480" y="2852928"/>
            <a:ext cx="5486400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2944368"/>
            <a:ext cx="8046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B8C4D4"/>
                </a:solidFill>
              </a:rPr>
              <a:t>"What is the causal effect of X on Y?" — the central question in economics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B8C4D4"/>
                </a:solidFill>
              </a:rPr>
              <a:t>Dr. Fidel González  |  Sam Houston State University  |  Spring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2B4A"/>
                </a:solidFill>
              </a:rPr>
              <a:t>Today's Journey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877824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50976"/>
            <a:ext cx="548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70432" y="896112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4A"/>
                </a:solidFill>
              </a:rPr>
              <a:t>The Causal Question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70432" y="1207008"/>
            <a:ext cx="7498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5A6A7A"/>
                </a:solidFill>
              </a:rPr>
              <a:t>What economists mean by causal effects — and the fundamental problem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664208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737360"/>
            <a:ext cx="548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70432" y="1682496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4A"/>
                </a:solidFill>
              </a:rPr>
              <a:t>London, 1854 — John Snow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70432" y="1993392"/>
            <a:ext cx="7498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5A6A7A"/>
                </a:solidFill>
              </a:rPr>
              <a:t>The original natural experiment and the birth of causal thinking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450592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523744"/>
            <a:ext cx="548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246888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4A"/>
                </a:solidFill>
              </a:rPr>
              <a:t>The 2×2 DiD Table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70432" y="2779776"/>
            <a:ext cx="7498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5A6A7A"/>
                </a:solidFill>
              </a:rPr>
              <a:t>From story to structure: turning intuition into a number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236976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3310128"/>
            <a:ext cx="548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70432" y="3255264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4A"/>
                </a:solidFill>
              </a:rPr>
              <a:t>The Parallel Trends Assumption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70432" y="3566160"/>
            <a:ext cx="7498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5A6A7A"/>
                </a:solidFill>
              </a:rPr>
              <a:t>The one thing DiD cannot give you for free — and when it fails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402336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4096512"/>
            <a:ext cx="548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70432" y="4041648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B4A"/>
                </a:solidFill>
              </a:rPr>
              <a:t>Modern Application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70432" y="4352544"/>
            <a:ext cx="7498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5A6A7A"/>
                </a:solidFill>
              </a:rPr>
              <a:t>Card &amp; Krueger (1994): minimum wages and employment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B4A"/>
                </a:solidFill>
              </a:rPr>
              <a:t>The Central Question in Economics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868680"/>
            <a:ext cx="768096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768096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What is the causal effect of X on Y?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B4A"/>
                </a:solidFill>
              </a:rPr>
              <a:t>Examples: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54864" cy="384048"/>
          </a:xfrm>
          <a:prstGeom prst="rect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8368" y="2368296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A2B4A"/>
                </a:solidFill>
              </a:rPr>
              <a:t>What is the effect of education on wages?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7200" y="2862072"/>
            <a:ext cx="54864" cy="384048"/>
          </a:xfrm>
          <a:prstGeom prst="rect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8368" y="289864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A2B4A"/>
                </a:solidFill>
              </a:rPr>
              <a:t>What is the effect of a minimum wage increase on employment?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392424"/>
            <a:ext cx="54864" cy="384048"/>
          </a:xfrm>
          <a:prstGeom prst="rect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8368" y="342900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A2B4A"/>
                </a:solidFill>
              </a:rPr>
              <a:t>What is the effect of pollution exposure on health?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3922776"/>
            <a:ext cx="54864" cy="384048"/>
          </a:xfrm>
          <a:prstGeom prst="rect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58368" y="3959352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A2B4A"/>
                </a:solidFill>
              </a:rPr>
              <a:t>What is the effect of a new policy on economic outcomes?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B4A"/>
                </a:solidFill>
              </a:rPr>
              <a:t>Correlation Is Not Causation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59536"/>
            <a:ext cx="8046720" cy="713232"/>
          </a:xfrm>
          <a:prstGeom prst="rect">
            <a:avLst/>
          </a:prstGeom>
          <a:solidFill>
            <a:srgbClr val="EFF6FF"/>
          </a:solidFill>
          <a:ln w="1905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7818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2B4A"/>
                </a:solidFill>
              </a:rPr>
              <a:t>We observe: </a:t>
            </a:r>
            <a:r>
              <a:rPr lang="en-US" sz="1600" b="1" dirty="0">
                <a:solidFill>
                  <a:srgbClr val="2A9D8F"/>
                </a:solidFill>
              </a:rPr>
              <a:t>Education ↑  →  Wages ↑</a:t>
            </a:r>
            <a:r>
              <a:rPr lang="en-US" sz="1600" dirty="0">
                <a:solidFill>
                  <a:srgbClr val="1A2B4A"/>
                </a:solidFill>
              </a:rPr>
              <a:t>    Does education </a:t>
            </a:r>
            <a:r>
              <a:rPr lang="en-US" sz="1600" b="1" i="1" dirty="0">
                <a:solidFill>
                  <a:srgbClr val="1A2B4A"/>
                </a:solidFill>
              </a:rPr>
              <a:t>cause</a:t>
            </a:r>
            <a:r>
              <a:rPr lang="en-US" sz="1600" dirty="0">
                <a:solidFill>
                  <a:srgbClr val="1A2B4A"/>
                </a:solidFill>
              </a:rPr>
              <a:t> higher wages?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7190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A6A7A"/>
                </a:solidFill>
              </a:rPr>
              <a:t>Maybe not — other factors could explain both: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39696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2139696"/>
            <a:ext cx="73152" cy="5943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58368" y="221284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A2B4A"/>
                </a:solidFill>
              </a:rPr>
              <a:t>Ability: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58368" y="2450592"/>
            <a:ext cx="7909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A7A"/>
                </a:solidFill>
              </a:rPr>
              <a:t>Talented people pursue more education AND earn higher wages — a common cause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825496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2825496"/>
            <a:ext cx="73152" cy="5943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58368" y="289864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A2B4A"/>
                </a:solidFill>
              </a:rPr>
              <a:t>Family background: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8368" y="3136392"/>
            <a:ext cx="7909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A7A"/>
                </a:solidFill>
              </a:rPr>
              <a:t>Wealthier families invest in education AND provide better job opportunities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511296"/>
            <a:ext cx="8229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3511296"/>
            <a:ext cx="73152" cy="5943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58368" y="358444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A2B4A"/>
                </a:solidFill>
              </a:rPr>
              <a:t>Motivation: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58368" y="3822192"/>
            <a:ext cx="7909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A7A"/>
                </a:solidFill>
              </a:rPr>
              <a:t>Driven individuals choose more schooling AND work harder at their jobs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251960"/>
            <a:ext cx="8229600" cy="5669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4315968"/>
            <a:ext cx="7863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Causal inference is about ruling out these alternative explanations — systematically.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2B4A"/>
                </a:solidFill>
              </a:rPr>
              <a:t>The Fundamental Problem of Causal Inference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A7A"/>
                </a:solidFill>
              </a:rPr>
              <a:t>For each unit (person, city, firm), two potential outcomes exist: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3657600" cy="2057400"/>
          </a:xfrm>
          <a:prstGeom prst="rect">
            <a:avLst/>
          </a:prstGeom>
          <a:solidFill>
            <a:srgbClr val="E8F8F5"/>
          </a:solidFill>
          <a:ln w="25400">
            <a:solidFill>
              <a:srgbClr val="2A9D8F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2A9D8F"/>
                </a:solidFill>
              </a:rPr>
              <a:t>OBSERVED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A9D8F"/>
                </a:solidFill>
              </a:rPr>
              <a:t>Y(1)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359152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2B4A"/>
                </a:solidFill>
              </a:rPr>
              <a:t>Outcome if treated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06240" y="1874520"/>
            <a:ext cx="731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1A2B4A"/>
                </a:solidFill>
              </a:rPr>
              <a:t>−</a:t>
            </a:r>
            <a:endParaRPr lang="en-US" sz="4200" dirty="0"/>
          </a:p>
        </p:txBody>
      </p:sp>
      <p:sp>
        <p:nvSpPr>
          <p:cNvPr id="10" name="Shape 8"/>
          <p:cNvSpPr/>
          <p:nvPr/>
        </p:nvSpPr>
        <p:spPr>
          <a:xfrm>
            <a:off x="5029200" y="1234440"/>
            <a:ext cx="3657600" cy="2057400"/>
          </a:xfrm>
          <a:prstGeom prst="rect">
            <a:avLst/>
          </a:prstGeom>
          <a:solidFill>
            <a:srgbClr val="FFF8E8"/>
          </a:solidFill>
          <a:ln w="25400">
            <a:solidFill>
              <a:srgbClr val="E9A4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74920" y="13258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9B7B1A"/>
                </a:solidFill>
              </a:rPr>
              <a:t>COUNTERFACTUAL  (never observed)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74920" y="164592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9A42E"/>
                </a:solidFill>
              </a:rPr>
              <a:t>Y(0)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5074920" y="2359152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2B4A"/>
                </a:solidFill>
              </a:rPr>
              <a:t>Outcome if NOT treated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8229600" cy="80467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3493008"/>
            <a:ext cx="7863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Causal Effect = Y(1) − Y(0)     |     The fundamental problem: we can only ever observe ONE of these.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325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A6A7A"/>
                </a:solidFill>
              </a:rPr>
              <a:t>We need a way to estimate Y(0) — the outcome that never happened.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B4A"/>
                </a:solidFill>
              </a:rPr>
              <a:t>The Ideal Solution: Randomized Experiments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59536"/>
            <a:ext cx="8229600" cy="82296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896112"/>
            <a:ext cx="7863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</a:rPr>
              <a:t>Randomly assign units to treatment or control — then compare outcomes.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B4A"/>
                </a:solidFill>
              </a:rPr>
              <a:t>Why randomization solves the problem: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322576"/>
            <a:ext cx="256032" cy="25603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2231136"/>
            <a:ext cx="7955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B4A"/>
                </a:solidFill>
              </a:rPr>
              <a:t>On average, the control group is statistically identical to the treated group — same observable and unobservable characteristics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871216"/>
            <a:ext cx="256032" cy="25603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2960" y="2779776"/>
            <a:ext cx="7955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B4A"/>
                </a:solidFill>
              </a:rPr>
              <a:t>The control group is a valid Y(0): we can directly observe what would have happened without treatment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419856"/>
            <a:ext cx="256032" cy="25603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" y="3328416"/>
            <a:ext cx="7955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B4A"/>
                </a:solidFill>
              </a:rPr>
              <a:t>Treatment is independent of all other factors: Treatment ⊥ Confounders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069080"/>
            <a:ext cx="8229600" cy="658368"/>
          </a:xfrm>
          <a:prstGeom prst="rect">
            <a:avLst/>
          </a:prstGeom>
          <a:solidFill>
            <a:srgbClr val="FFF3CD"/>
          </a:solidFill>
          <a:ln w="1905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4133088"/>
            <a:ext cx="78638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6B4C00"/>
                </a:solidFill>
              </a:rPr>
              <a:t>In economics, randomized experiments are often impossible, unethical, or prohibitively expensive.</a:t>
            </a:r>
            <a:endParaRPr lang="en-US" sz="125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6B4C00"/>
                </a:solidFill>
              </a:rPr>
              <a:t>Economists rely instead on natural experiments and quasi-experimental designs.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B4A"/>
                </a:solidFill>
              </a:rPr>
              <a:t>The Alternative: Natural Experiments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A7A"/>
                </a:solidFill>
              </a:rPr>
              <a:t>Situations where treatment is assigned 'as-if' randomly due to external circumstances.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8229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73152" cy="67665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" y="133502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A2B4A"/>
                </a:solidFill>
              </a:rPr>
              <a:t>Policy changes: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58368" y="1627632"/>
            <a:ext cx="7909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A7A"/>
                </a:solidFill>
              </a:rPr>
              <a:t>A law applies to some states but not others, or changes at a specific date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048256"/>
            <a:ext cx="8229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2048256"/>
            <a:ext cx="73152" cy="67665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8368" y="212140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A2B4A"/>
                </a:solidFill>
              </a:rPr>
              <a:t>Geographic variation: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2414016"/>
            <a:ext cx="7909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A7A"/>
                </a:solidFill>
              </a:rPr>
              <a:t>A river, border, or physical feature creates different treatment on each side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834640"/>
            <a:ext cx="8229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73152" cy="67665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" y="290779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A2B4A"/>
                </a:solidFill>
              </a:rPr>
              <a:t>Historical accidents: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58368" y="3200400"/>
            <a:ext cx="7909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A7A"/>
                </a:solidFill>
              </a:rPr>
              <a:t>Timing of events creates groups that received different treatments by chance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621024"/>
            <a:ext cx="8229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3621024"/>
            <a:ext cx="73152" cy="67665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58368" y="369417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A2B4A"/>
                </a:solidFill>
              </a:rPr>
              <a:t>Institutional rules: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58368" y="3986784"/>
            <a:ext cx="7909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A7A"/>
                </a:solidFill>
              </a:rPr>
              <a:t>Cutoff rules, lotteries, or quotas that determine who is treated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498848"/>
            <a:ext cx="8229600" cy="34747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0080" y="453542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A42E"/>
                </a:solidFill>
              </a:rPr>
              <a:t>One of the most famous early natural experiments comes from London, 1854.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C0392B"/>
                </a:solidFill>
              </a:rPr>
              <a:t>PART 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</a:rPr>
              <a:t>London, 1854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i="1" dirty="0">
                <a:solidFill>
                  <a:srgbClr val="B8C4D4"/>
                </a:solidFill>
              </a:rPr>
              <a:t>A physician, a pump, and the birth of causal thinking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3218688"/>
            <a:ext cx="5029200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334670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B8C4D4"/>
                </a:solidFill>
              </a:rPr>
              <a:t>"Before John Snow, the scientific consensus blamed cholera on bad air.</a:t>
            </a:r>
            <a:endParaRPr lang="en-US" sz="1350" dirty="0"/>
          </a:p>
          <a:p>
            <a:pPr marL="0" indent="0" algn="l">
              <a:buNone/>
            </a:pPr>
            <a:r>
              <a:rPr lang="en-US" sz="1350" i="1" dirty="0">
                <a:solidFill>
                  <a:srgbClr val="B8C4D4"/>
                </a:solidFill>
              </a:rPr>
              <a:t>Snow believed the answer was in the data — and he was right."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A5080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3A5080"/>
                </a:solidFill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2B4A"/>
                </a:solidFill>
              </a:rPr>
              <a:t>London, Summer 1854: A City Under Siege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2B4A"/>
                </a:solidFill>
              </a:rPr>
              <a:t>The dominant theory: </a:t>
            </a:r>
            <a:r>
              <a:rPr lang="en-US" sz="1300" dirty="0">
                <a:solidFill>
                  <a:srgbClr val="1A2B4A"/>
                </a:solidFill>
              </a:rPr>
              <a:t>Miasma — bad air from filth caused disease. Scientific consensus.
</a:t>
            </a:r>
            <a:r>
              <a:rPr lang="en-US" sz="1300" b="1" dirty="0">
                <a:solidFill>
                  <a:srgbClr val="2A9D8F"/>
                </a:solidFill>
              </a:rPr>
              <a:t>Dr. John Snow </a:t>
            </a:r>
            <a:r>
              <a:rPr lang="en-US" sz="1300" dirty="0">
                <a:solidFill>
                  <a:srgbClr val="1A2B4A"/>
                </a:solidFill>
              </a:rPr>
              <a:t>was a skeptic. He suspected </a:t>
            </a:r>
            <a:r>
              <a:rPr lang="en-US" sz="1300" b="1" dirty="0">
                <a:solidFill>
                  <a:srgbClr val="1A2B4A"/>
                </a:solidFill>
              </a:rPr>
              <a:t>contaminated water</a:t>
            </a:r>
            <a:r>
              <a:rPr lang="en-US" sz="1300" dirty="0">
                <a:solidFill>
                  <a:srgbClr val="1A2B4A"/>
                </a:solidFill>
              </a:rPr>
              <a:t> — but he needed evidence.
</a:t>
            </a:r>
            <a:r>
              <a:rPr lang="en-US" sz="1300" b="1" dirty="0">
                <a:solidFill>
                  <a:srgbClr val="1A2B4A"/>
                </a:solidFill>
              </a:rPr>
              <a:t>The Soho outbreak of 1854 </a:t>
            </a:r>
            <a:r>
              <a:rPr lang="en-US" sz="1300" dirty="0">
                <a:solidFill>
                  <a:srgbClr val="1A2B4A"/>
                </a:solidFill>
              </a:rPr>
              <a:t>gave him a natural experiment. Hundreds died within days — but the deaths were not evenly distributed across the neighborhood.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577840" y="914400"/>
            <a:ext cx="3108960" cy="960120"/>
          </a:xfrm>
          <a:prstGeom prst="rect">
            <a:avLst/>
          </a:prstGeom>
          <a:solidFill>
            <a:srgbClr val="1A2B4A"/>
          </a:solidFill>
          <a:ln w="1905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577840" y="96012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0392B"/>
                </a:solidFill>
              </a:rPr>
              <a:t>500+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577840" y="15087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8C4D4"/>
                </a:solidFill>
              </a:rPr>
              <a:t>Deaths in 10 days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577840" y="2011680"/>
            <a:ext cx="3108960" cy="960120"/>
          </a:xfrm>
          <a:prstGeom prst="rect">
            <a:avLst/>
          </a:prstGeom>
          <a:solidFill>
            <a:srgbClr val="1A2B4A"/>
          </a:solidFill>
          <a:ln w="1905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577840" y="205740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0392B"/>
                </a:solidFill>
              </a:rPr>
              <a:t>1854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577840" y="2606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8C4D4"/>
                </a:solidFill>
              </a:rPr>
              <a:t>Year of outbreak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577840" y="3108960"/>
            <a:ext cx="3108960" cy="960120"/>
          </a:xfrm>
          <a:prstGeom prst="rect">
            <a:avLst/>
          </a:prstGeom>
          <a:solidFill>
            <a:srgbClr val="1A2B4A"/>
          </a:solidFill>
          <a:ln w="1905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577840" y="315468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0392B"/>
                </a:solidFill>
              </a:rPr>
              <a:t>Soho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577840" y="37033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8C4D4"/>
                </a:solidFill>
              </a:rPr>
              <a:t>Epicenter, London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206240"/>
            <a:ext cx="8229600" cy="621792"/>
          </a:xfrm>
          <a:prstGeom prst="rect">
            <a:avLst/>
          </a:prstGeom>
          <a:solidFill>
            <a:srgbClr val="FFF3CD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4270248"/>
            <a:ext cx="78638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4C00"/>
                </a:solidFill>
              </a:rPr>
              <a:t>Key question Snow asked: Why do some households have many deaths while nearby neighbors have none?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2B4A"/>
                </a:solidFill>
              </a:rPr>
              <a:t>The Natural Experiment: Two Water Companies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A7A"/>
                </a:solidFill>
              </a:rPr>
              <a:t>Snow's structural observation: two companies served interleaved households — same streets, same air, same 'miasma.'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3749040" cy="2487168"/>
          </a:xfrm>
          <a:prstGeom prst="rect">
            <a:avLst/>
          </a:prstGeom>
          <a:solidFill>
            <a:srgbClr val="FFFFFF"/>
          </a:solidFill>
          <a:ln w="2540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3749040" cy="457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3075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Southwark &amp; Vauxhall Co.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810512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B4A"/>
                </a:solidFill>
              </a:rPr>
              <a:t>Source: </a:t>
            </a:r>
            <a:r>
              <a:rPr lang="en-US" sz="1200" dirty="0">
                <a:solidFill>
                  <a:srgbClr val="1A2B4A"/>
                </a:solidFill>
              </a:rPr>
              <a:t>Thames at Hungerford
(downstream of sewage outflow)
</a:t>
            </a:r>
            <a:r>
              <a:rPr lang="en-US" sz="1200" b="1" dirty="0">
                <a:solidFill>
                  <a:srgbClr val="1A2B4A"/>
                </a:solidFill>
              </a:rPr>
              <a:t>Contamination: </a:t>
            </a:r>
            <a:r>
              <a:rPr lang="en-US" sz="1200" dirty="0">
                <a:solidFill>
                  <a:srgbClr val="1A2B4A"/>
                </a:solidFill>
              </a:rPr>
              <a:t>High — sewage in water supply
</a:t>
            </a:r>
            <a:r>
              <a:rPr lang="en-US" sz="1200" b="1" dirty="0">
                <a:solidFill>
                  <a:srgbClr val="1A2B4A"/>
                </a:solidFill>
              </a:rPr>
              <a:t>Deaths (1854): </a:t>
            </a:r>
            <a:r>
              <a:rPr lang="en-US" sz="1200" b="1" dirty="0">
                <a:solidFill>
                  <a:srgbClr val="C0392B"/>
                </a:solidFill>
              </a:rPr>
              <a:t>315 per 10,000 households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937760" y="1261872"/>
            <a:ext cx="3749040" cy="2487168"/>
          </a:xfrm>
          <a:prstGeom prst="rect">
            <a:avLst/>
          </a:prstGeom>
          <a:solidFill>
            <a:srgbClr val="FFFFFF"/>
          </a:solidFill>
          <a:ln w="25400">
            <a:solidFill>
              <a:srgbClr val="2A9D8F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937760" y="1261872"/>
            <a:ext cx="3749040" cy="4572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83480" y="13075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Lambeth Water Co.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74920" y="1810512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B4A"/>
                </a:solidFill>
              </a:rPr>
              <a:t>Source: </a:t>
            </a:r>
            <a:r>
              <a:rPr lang="en-US" sz="1200" dirty="0">
                <a:solidFill>
                  <a:srgbClr val="1A2B4A"/>
                </a:solidFill>
              </a:rPr>
              <a:t>Thames at Thames Ditton
(upstream, above sewage)
</a:t>
            </a:r>
            <a:r>
              <a:rPr lang="en-US" sz="1200" b="1" dirty="0">
                <a:solidFill>
                  <a:srgbClr val="1A2B4A"/>
                </a:solidFill>
              </a:rPr>
              <a:t>Contamination: </a:t>
            </a:r>
            <a:r>
              <a:rPr lang="en-US" sz="1200" dirty="0">
                <a:solidFill>
                  <a:srgbClr val="1A2B4A"/>
                </a:solidFill>
              </a:rPr>
              <a:t>Low — clean water source
</a:t>
            </a:r>
            <a:r>
              <a:rPr lang="en-US" sz="1200" b="1" dirty="0">
                <a:solidFill>
                  <a:srgbClr val="1A2B4A"/>
                </a:solidFill>
              </a:rPr>
              <a:t>Deaths (1854): </a:t>
            </a:r>
            <a:r>
              <a:rPr lang="en-US" sz="1200" b="1" dirty="0">
                <a:solidFill>
                  <a:srgbClr val="2A9D8F"/>
                </a:solidFill>
              </a:rPr>
              <a:t>37 per 10,000 households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58768"/>
            <a:ext cx="8229600" cy="8686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950208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A42E"/>
                </a:solidFill>
              </a:rPr>
              <a:t>The genius: 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45920" y="3950208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4F1E8"/>
                </a:solidFill>
              </a:rPr>
              <a:t>The ONLY systematic difference between interleaved households was the water company that served them.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4279392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4F1E8"/>
                </a:solidFill>
              </a:rPr>
              <a:t>This is causal identification: treatment variation is not caused by the outcome.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2B4A"/>
                </a:solidFill>
              </a:rPr>
              <a:t>Snow's Critical Insight: Add the Time Dimension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A7A"/>
                </a:solidFill>
              </a:rPr>
              <a:t>The real power came from a company decision that happened BEFORE the 1854 outbreak.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2578608"/>
            <a:ext cx="7772400" cy="0"/>
          </a:xfrm>
          <a:prstGeom prst="line">
            <a:avLst/>
          </a:prstGeom>
          <a:noFill/>
          <a:ln w="25400">
            <a:solidFill>
              <a:srgbClr val="2436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316736" y="2441448"/>
            <a:ext cx="329184" cy="329184"/>
          </a:xfrm>
          <a:prstGeom prst="ellipse">
            <a:avLst/>
          </a:prstGeom>
          <a:solidFill>
            <a:srgbClr val="8A9AAA"/>
          </a:solidFill>
          <a:ln w="12700">
            <a:solidFill>
              <a:srgbClr val="8A9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87452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2B4A"/>
                </a:solidFill>
              </a:rPr>
              <a:t>Before 1852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84048" y="292608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A6A7A"/>
                </a:solidFill>
              </a:rPr>
              <a:t>BOTH companies draw from the same polluted Thames section. Death rates are similar — no difference yet.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61688" y="2441448"/>
            <a:ext cx="329184" cy="329184"/>
          </a:xfrm>
          <a:prstGeom prst="ellipse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57600" y="187452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2B4A"/>
                </a:solidFill>
              </a:rPr>
              <a:t>1852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429000" y="292608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A6A7A"/>
                </a:solidFill>
              </a:rPr>
              <a:t>Lambeth moves its intake upstream to Thames Ditton — clean water. Southwark &amp; Vauxhall does NOT move.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607808" y="2441448"/>
            <a:ext cx="329184" cy="32918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903720" y="187452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2B4A"/>
                </a:solidFill>
              </a:rPr>
              <a:t>1854 Outbreak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675120" y="292608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A6A7A"/>
                </a:solidFill>
              </a:rPr>
              <a:t>Now compare: what happened to EACH company's customers AFTER Lambeth's move?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206240"/>
            <a:ext cx="8229600" cy="621792"/>
          </a:xfrm>
          <a:prstGeom prst="rect">
            <a:avLst/>
          </a:prstGeom>
          <a:solidFill>
            <a:srgbClr val="E8F8F5"/>
          </a:solidFill>
          <a:ln w="1905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4279392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A9D8F"/>
                </a:solidFill>
              </a:rPr>
              <a:t>DiD structure: </a:t>
            </a:r>
            <a:r>
              <a:rPr lang="en-US" sz="1300" dirty="0">
                <a:solidFill>
                  <a:srgbClr val="1A2B4A"/>
                </a:solidFill>
              </a:rPr>
              <a:t>Two groups (Lambeth = treated, S&amp;V = control) × Two periods (Before 1852, After 1852) = the 2×2 table.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B4A"/>
                </a:solidFill>
              </a:rPr>
              <a:t>From John Snow to Modern Econometrics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4069080" cy="43891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50976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What Snow Did (1854)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426464"/>
            <a:ext cx="39776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426464"/>
            <a:ext cx="73152" cy="5943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517904"/>
            <a:ext cx="37673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B4A"/>
                </a:solidFill>
              </a:rPr>
              <a:t>Identified two groups: polluted vs. clean water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112264"/>
            <a:ext cx="39776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02920" y="2112264"/>
            <a:ext cx="73152" cy="5943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203704"/>
            <a:ext cx="37673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B4A"/>
                </a:solidFill>
              </a:rPr>
              <a:t>Observed outcomes BEFORE Lambeth's 1852 move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2798064"/>
            <a:ext cx="39776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02920" y="2798064"/>
            <a:ext cx="73152" cy="5943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2889504"/>
            <a:ext cx="37673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B4A"/>
                </a:solidFill>
              </a:rPr>
              <a:t>Observed outcomes AFTER the move (1854 outbreak)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3483864"/>
            <a:ext cx="39776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02920" y="3483864"/>
            <a:ext cx="73152" cy="5943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3575304"/>
            <a:ext cx="37673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B4A"/>
                </a:solidFill>
              </a:rPr>
              <a:t>Used the unchanged group (S&amp;V) as the counterfactual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892040" y="914400"/>
            <a:ext cx="4069080" cy="43891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92040" y="950976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What DiD Does (today)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937760" y="1426464"/>
            <a:ext cx="39776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937760" y="1426464"/>
            <a:ext cx="73152" cy="5943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74920" y="1517904"/>
            <a:ext cx="37673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B4A"/>
                </a:solidFill>
              </a:rPr>
              <a:t>Identify a treated group and a control group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937760" y="2112264"/>
            <a:ext cx="39776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937760" y="2112264"/>
            <a:ext cx="73152" cy="5943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074920" y="2203704"/>
            <a:ext cx="37673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B4A"/>
                </a:solidFill>
              </a:rPr>
              <a:t>Collect outcome data BEFORE the policy change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937760" y="2798064"/>
            <a:ext cx="39776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937760" y="2798064"/>
            <a:ext cx="73152" cy="5943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74920" y="2889504"/>
            <a:ext cx="37673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B4A"/>
                </a:solidFill>
              </a:rPr>
              <a:t>Collect outcome data AFTER the policy change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937760" y="3483864"/>
            <a:ext cx="39776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937760" y="3483864"/>
            <a:ext cx="73152" cy="5943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074920" y="3575304"/>
            <a:ext cx="376732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B4A"/>
                </a:solidFill>
              </a:rPr>
              <a:t>Use the control group's trend to build the counterfactual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57200" y="4526280"/>
            <a:ext cx="8229600" cy="34747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40080" y="4562856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A42E"/>
                </a:solidFill>
              </a:rPr>
              <a:t>Difference-in-Differences formalizes Snow's logic into a rigorous econometric estimator.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2A9D8F"/>
                </a:solidFill>
              </a:rPr>
              <a:t>PART 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</a:rPr>
              <a:t>The 2×2 DiD Table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i="1" dirty="0">
                <a:solidFill>
                  <a:srgbClr val="B8C4D4"/>
                </a:solidFill>
              </a:rPr>
              <a:t>Turning intuition into a number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A5080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3A5080"/>
                </a:solidFill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B4A"/>
                </a:solidFill>
              </a:rPr>
              <a:t>The Difference-in-Differences Table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2048256" cy="43891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2048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633472" y="822960"/>
            <a:ext cx="2048256" cy="43891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633472" y="841248"/>
            <a:ext cx="2048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Before (1849)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809744" y="822960"/>
            <a:ext cx="2048256" cy="43891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09744" y="841248"/>
            <a:ext cx="2048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After (1854)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986016" y="822960"/>
            <a:ext cx="1920240" cy="43891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986016" y="841248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Difference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1335024"/>
            <a:ext cx="2048256" cy="768096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1426464"/>
            <a:ext cx="204825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Lambeth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(Treated)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633472" y="1335024"/>
            <a:ext cx="2048256" cy="768096"/>
          </a:xfrm>
          <a:prstGeom prst="rect">
            <a:avLst/>
          </a:prstGeom>
          <a:solidFill>
            <a:srgbClr val="E8F8F5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633472" y="1517904"/>
            <a:ext cx="204825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A9D8F"/>
                </a:solidFill>
              </a:rPr>
              <a:t>130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809744" y="1335024"/>
            <a:ext cx="2048256" cy="768096"/>
          </a:xfrm>
          <a:prstGeom prst="rect">
            <a:avLst/>
          </a:prstGeom>
          <a:solidFill>
            <a:srgbClr val="E8F8F5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09744" y="1517904"/>
            <a:ext cx="204825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A9D8F"/>
                </a:solidFill>
              </a:rPr>
              <a:t>37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986016" y="1335024"/>
            <a:ext cx="1920240" cy="768096"/>
          </a:xfrm>
          <a:prstGeom prst="rect">
            <a:avLst/>
          </a:prstGeom>
          <a:solidFill>
            <a:srgbClr val="E8F8F5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86016" y="1517904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9D8F"/>
                </a:solidFill>
              </a:rPr>
              <a:t>−93 ← ΔT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2176272"/>
            <a:ext cx="2048256" cy="768096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2267712"/>
            <a:ext cx="204825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S&amp;V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(Control)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2633472" y="2176272"/>
            <a:ext cx="2048256" cy="768096"/>
          </a:xfrm>
          <a:prstGeom prst="rect">
            <a:avLst/>
          </a:prstGeom>
          <a:solidFill>
            <a:srgbClr val="FEF2F2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633472" y="2359152"/>
            <a:ext cx="204825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0392B"/>
                </a:solidFill>
              </a:rPr>
              <a:t>135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809744" y="2176272"/>
            <a:ext cx="2048256" cy="768096"/>
          </a:xfrm>
          <a:prstGeom prst="rect">
            <a:avLst/>
          </a:prstGeom>
          <a:solidFill>
            <a:srgbClr val="FEF2F2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09744" y="2359152"/>
            <a:ext cx="204825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0392B"/>
                </a:solidFill>
              </a:rPr>
              <a:t>315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986016" y="2176272"/>
            <a:ext cx="1920240" cy="768096"/>
          </a:xfrm>
          <a:prstGeom prst="rect">
            <a:avLst/>
          </a:prstGeom>
          <a:solidFill>
            <a:srgbClr val="FEF2F2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986016" y="2359152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0392B"/>
                </a:solidFill>
              </a:rPr>
              <a:t>+180 ← ΔC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017520"/>
            <a:ext cx="2048256" cy="768096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3108960"/>
            <a:ext cx="204825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DiD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(T − C)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2633472" y="3017520"/>
            <a:ext cx="2048256" cy="768096"/>
          </a:xfrm>
          <a:prstGeom prst="rect">
            <a:avLst/>
          </a:prstGeom>
          <a:solidFill>
            <a:srgbClr val="FFFDE7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633472" y="3200400"/>
            <a:ext cx="204825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8A9AAA"/>
                </a:solidFill>
              </a:rPr>
              <a:t>−5 ≈ 0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809744" y="3017520"/>
            <a:ext cx="2048256" cy="768096"/>
          </a:xfrm>
          <a:prstGeom prst="rect">
            <a:avLst/>
          </a:prstGeom>
          <a:solidFill>
            <a:srgbClr val="FFFDE7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809744" y="3200400"/>
            <a:ext cx="204825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A2B4A"/>
                </a:solidFill>
              </a:rPr>
              <a:t>−278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986016" y="3017520"/>
            <a:ext cx="1920240" cy="768096"/>
          </a:xfrm>
          <a:prstGeom prst="rect">
            <a:avLst/>
          </a:prstGeom>
          <a:solidFill>
            <a:srgbClr val="FFFDE7"/>
          </a:solidFill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986016" y="3200400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A42E"/>
                </a:solidFill>
              </a:rPr>
              <a:t>−273 ← DiD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" y="391363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8A9AAA"/>
                </a:solidFill>
              </a:rPr>
              <a:t>(Deaths per 10,000 households)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4187952"/>
            <a:ext cx="8485632" cy="685800"/>
          </a:xfrm>
          <a:prstGeom prst="rect">
            <a:avLst/>
          </a:prstGeom>
          <a:solidFill>
            <a:srgbClr val="1A2B4A"/>
          </a:solidFill>
          <a:ln w="19050">
            <a:solidFill>
              <a:srgbClr val="E9A4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40080" y="4261104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9A42E"/>
                </a:solidFill>
              </a:rPr>
              <a:t>DiD = (37 − 130) − (315 − 135) = −93 − (+180) = −273     Lambeth's cleaner water saved ≈273 lives per 10,000.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2B4A"/>
                </a:solidFill>
              </a:rPr>
              <a:t>Why We Subtract Twice: What DiD Removes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804672"/>
            <a:ext cx="685800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3593592"/>
            <a:ext cx="7053943" cy="0"/>
          </a:xfrm>
          <a:prstGeom prst="line">
            <a:avLst/>
          </a:prstGeom>
          <a:noFill/>
          <a:ln w="19050">
            <a:solidFill>
              <a:srgbClr val="1A2B4A"/>
            </a:solidFill>
            <a:prstDash val="solid"/>
            <a:tailEnd type="stealth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3593592"/>
            <a:ext cx="0" cy="0"/>
          </a:xfrm>
          <a:prstGeom prst="line">
            <a:avLst/>
          </a:prstGeom>
          <a:noFill/>
          <a:ln w="19050">
            <a:solidFill>
              <a:srgbClr val="1A2B4A"/>
            </a:solidFill>
            <a:prstDash val="solid"/>
            <a:tailEnd type="stealth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11727" y="3438144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4A"/>
                </a:solidFill>
              </a:rPr>
              <a:t>Time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29768" y="604955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4A"/>
                </a:solidFill>
              </a:rPr>
              <a:t>Outcome 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68634" y="804672"/>
            <a:ext cx="0" cy="2788920"/>
          </a:xfrm>
          <a:prstGeom prst="line">
            <a:avLst/>
          </a:prstGeom>
          <a:noFill/>
          <a:ln w="19050">
            <a:solidFill>
              <a:srgbClr val="8A9AA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823498" y="85039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AA"/>
                </a:solidFill>
              </a:rPr>
              <a:t>Policy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286691" y="2708221"/>
            <a:ext cx="5486400" cy="0"/>
          </a:xfrm>
          <a:prstGeom prst="line">
            <a:avLst/>
          </a:prstGeom>
          <a:noFill/>
          <a:ln w="19050">
            <a:solidFill>
              <a:srgbClr val="999999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024051" y="1563914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</a:rPr>
              <a:t>Common time shock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</a:rPr>
              <a:t>(affects both groups)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286691" y="3062369"/>
            <a:ext cx="5486400" cy="0"/>
          </a:xfrm>
          <a:prstGeom prst="line">
            <a:avLst/>
          </a:prstGeom>
          <a:noFill/>
          <a:ln w="3556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622868" y="277063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B4A"/>
                </a:solidFill>
              </a:rPr>
              <a:t>Control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286691" y="2362899"/>
            <a:ext cx="2481943" cy="0"/>
          </a:xfrm>
          <a:prstGeom prst="line">
            <a:avLst/>
          </a:prstGeom>
          <a:noFill/>
          <a:ln w="3556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768634" y="1955655"/>
            <a:ext cx="3004457" cy="0"/>
          </a:xfrm>
          <a:prstGeom prst="line">
            <a:avLst/>
          </a:prstGeom>
          <a:noFill/>
          <a:ln w="3556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558984" y="15355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9D8F"/>
                </a:solidFill>
              </a:rPr>
              <a:t>Treatment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858691" y="1712178"/>
            <a:ext cx="0" cy="442686"/>
          </a:xfrm>
          <a:prstGeom prst="line">
            <a:avLst/>
          </a:prstGeom>
          <a:noFill/>
          <a:ln w="31750">
            <a:solidFill>
              <a:srgbClr val="E9A42E"/>
            </a:solidFill>
            <a:prstDash val="solid"/>
            <a:headEnd type="stealth"/>
            <a:tailEnd type="stealth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50131" y="1748754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9A42E"/>
                </a:solidFill>
              </a:rPr>
              <a:t>Net policy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E9A42E"/>
                </a:solidFill>
              </a:rPr>
              <a:t>effect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21208" y="2568594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A9AAA"/>
                </a:solidFill>
              </a:rPr>
              <a:t>Baseline</a:t>
            </a:r>
            <a:endParaRPr lang="en-US" sz="850" dirty="0"/>
          </a:p>
          <a:p>
            <a:pPr marL="0" indent="0" algn="ctr">
              <a:buNone/>
            </a:pPr>
            <a:r>
              <a:rPr lang="en-US" sz="850" i="1" dirty="0">
                <a:solidFill>
                  <a:srgbClr val="8A9AAA"/>
                </a:solidFill>
              </a:rPr>
              <a:t>difference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770017" y="3648456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AAA"/>
                </a:solidFill>
              </a:rPr>
              <a:t>Before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81451" y="3648456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AAA"/>
                </a:solidFill>
              </a:rPr>
              <a:t>After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201168" cy="201168"/>
          </a:xfrm>
          <a:prstGeom prst="ellipse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68096" y="3712464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4A"/>
                </a:solidFill>
              </a:rPr>
              <a:t>First difference removes baseline level differences between groups (treated vs. control)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233672"/>
            <a:ext cx="201168" cy="201168"/>
          </a:xfrm>
          <a:prstGeom prst="ellipse">
            <a:avLst/>
          </a:prstGeom>
          <a:solidFill>
            <a:srgbClr val="8A9AAA"/>
          </a:solidFill>
          <a:ln w="12700">
            <a:solidFill>
              <a:srgbClr val="8A9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68096" y="4151376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4A"/>
                </a:solidFill>
              </a:rPr>
              <a:t>Second difference removes common time shocks that affect both groups equally (before vs. after)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672584"/>
            <a:ext cx="201168" cy="201168"/>
          </a:xfrm>
          <a:prstGeom prst="ellipse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68096" y="459028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4A"/>
                </a:solidFill>
              </a:rPr>
              <a:t>What remains — under parallel trends — is the net causal effect of the policy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E9A42E"/>
                </a:solidFill>
              </a:rPr>
              <a:t>PART 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</a:rPr>
              <a:t>The Parallel Trends Assumption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6060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i="1" dirty="0">
                <a:solidFill>
                  <a:srgbClr val="B8C4D4"/>
                </a:solidFill>
              </a:rPr>
              <a:t>The one thing DiD cannot give you for free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3291840"/>
            <a:ext cx="5943600" cy="36576"/>
          </a:xfrm>
          <a:prstGeom prst="rect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3419856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B8C4D4"/>
                </a:solidFill>
              </a:rPr>
              <a:t>"DiD is only as good as the assumption that, in the absence of treatment, both groups would have followed the same trend."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A5080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3A5080"/>
                </a:solidFill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2B4A"/>
                </a:solidFill>
              </a:rPr>
              <a:t>The Parallel Trends Assumption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1051560"/>
          </a:xfrm>
          <a:prstGeom prst="rect">
            <a:avLst/>
          </a:prstGeom>
          <a:solidFill>
            <a:srgbClr val="1A2B4A"/>
          </a:solidFill>
          <a:ln w="25400">
            <a:solidFill>
              <a:srgbClr val="E9A4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9A42E"/>
                </a:solidFill>
              </a:rPr>
              <a:t>Formal Statement: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261872"/>
            <a:ext cx="78638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4F1E8"/>
                </a:solidFill>
              </a:rPr>
              <a:t>In the absence of treatment, the average outcome for the treated group would have changed over time by the same amount as the average outcome for the control group.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</a:rPr>
              <a:t>In plain English: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532888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25328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2468880"/>
            <a:ext cx="7909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B4A"/>
                </a:solidFill>
              </a:rPr>
              <a:t>Groups can start at DIFFERENT LEVELS — parallel trends does NOT require identical baseline outcomes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081528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308152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68680" y="3017520"/>
            <a:ext cx="7909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B4A"/>
                </a:solidFill>
              </a:rPr>
              <a:t>Groups must have the SAME TREND before the treatment — the slopes must be parallel in the pre-period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630168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36301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68680" y="3566160"/>
            <a:ext cx="7909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B4A"/>
                </a:solidFill>
              </a:rPr>
              <a:t>This trend must be what WOULD HAVE CONTINUED after treatment if nothing had changed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4178808"/>
            <a:ext cx="292608" cy="292608"/>
          </a:xfrm>
          <a:prstGeom prst="ellipse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41788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68680" y="4114800"/>
            <a:ext cx="7909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B4A"/>
                </a:solidFill>
              </a:rPr>
              <a:t>This is an assumption about the counterfactual — it can never be directly tested, only made plausible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2B4A"/>
                </a:solidFill>
              </a:rPr>
              <a:t>DiD Graphically: The Clean Case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749808"/>
            <a:ext cx="699516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4544568"/>
            <a:ext cx="7195022" cy="0"/>
          </a:xfrm>
          <a:prstGeom prst="line">
            <a:avLst/>
          </a:prstGeom>
          <a:noFill/>
          <a:ln w="19050">
            <a:solidFill>
              <a:srgbClr val="1A2B4A"/>
            </a:solidFill>
            <a:prstDash val="solid"/>
            <a:tailEnd type="stealth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4544568"/>
            <a:ext cx="0" cy="0"/>
          </a:xfrm>
          <a:prstGeom prst="line">
            <a:avLst/>
          </a:prstGeom>
          <a:noFill/>
          <a:ln w="19050">
            <a:solidFill>
              <a:srgbClr val="1A2B4A"/>
            </a:solidFill>
            <a:prstDash val="solid"/>
            <a:tailEnd type="stealth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07086" y="4379976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4A"/>
                </a:solidFill>
              </a:rPr>
              <a:t>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2336" y="52498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4A"/>
                </a:solidFill>
              </a:rPr>
              <a:t>Outcome 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789611" y="4544568"/>
            <a:ext cx="0" cy="91440"/>
          </a:xfrm>
          <a:prstGeom prst="line">
            <a:avLst/>
          </a:prstGeom>
          <a:noFill/>
          <a:ln w="12700">
            <a:solidFill>
              <a:srgbClr val="8A9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786846" y="4544568"/>
            <a:ext cx="0" cy="91440"/>
          </a:xfrm>
          <a:prstGeom prst="line">
            <a:avLst/>
          </a:prstGeom>
          <a:noFill/>
          <a:ln w="12700">
            <a:solidFill>
              <a:srgbClr val="8A9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378131" y="4617720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9AAA"/>
                </a:solidFill>
              </a:rPr>
              <a:t>Before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21086" y="4617720"/>
            <a:ext cx="731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9AAA"/>
                </a:solidFill>
              </a:rPr>
              <a:t>After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788229" y="749808"/>
            <a:ext cx="0" cy="3794760"/>
          </a:xfrm>
          <a:prstGeom prst="line">
            <a:avLst/>
          </a:prstGeom>
          <a:noFill/>
          <a:ln w="19050">
            <a:solidFill>
              <a:srgbClr val="8A9AA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861381" y="804672"/>
            <a:ext cx="960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AA"/>
                </a:solidFill>
              </a:rPr>
              <a:t>Treatment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A9AAA"/>
                </a:solidFill>
              </a:rPr>
              <a:t>starts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56647" y="3580819"/>
            <a:ext cx="5596128" cy="0"/>
          </a:xfrm>
          <a:prstGeom prst="line">
            <a:avLst/>
          </a:prstGeom>
          <a:noFill/>
          <a:ln w="3556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86085" y="2479911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</a:rPr>
              <a:t>Control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256647" y="3159179"/>
            <a:ext cx="2531582" cy="0"/>
          </a:xfrm>
          <a:prstGeom prst="line">
            <a:avLst/>
          </a:prstGeom>
          <a:noFill/>
          <a:ln w="3556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788229" y="2195431"/>
            <a:ext cx="3064546" cy="0"/>
          </a:xfrm>
          <a:prstGeom prst="line">
            <a:avLst/>
          </a:prstGeom>
          <a:noFill/>
          <a:ln w="3556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86085" y="1576397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9D8F"/>
                </a:solidFill>
              </a:rPr>
              <a:t>Treatment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788229" y="2737539"/>
            <a:ext cx="3064546" cy="0"/>
          </a:xfrm>
          <a:prstGeom prst="line">
            <a:avLst/>
          </a:prstGeom>
          <a:noFill/>
          <a:ln w="22860">
            <a:solidFill>
              <a:srgbClr val="2A9D8F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886085" y="2178739"/>
            <a:ext cx="1325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2A9D8F"/>
                </a:solidFill>
              </a:rPr>
              <a:t>Treatment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2A9D8F"/>
                </a:solidFill>
              </a:rPr>
              <a:t>(counterfactual)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53190" y="1821978"/>
            <a:ext cx="0" cy="542109"/>
          </a:xfrm>
          <a:prstGeom prst="line">
            <a:avLst/>
          </a:prstGeom>
          <a:noFill/>
          <a:ln w="31750">
            <a:solidFill>
              <a:srgbClr val="E9A42E"/>
            </a:solidFill>
            <a:prstDash val="solid"/>
            <a:headEnd type="stealth"/>
            <a:tailEnd type="stealth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344630" y="1891865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9A42E"/>
                </a:solidFill>
              </a:rPr>
              <a:t>DiD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E9A42E"/>
                </a:solidFill>
              </a:rPr>
              <a:t>effect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456509" y="841248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A9AAA"/>
                </a:solidFill>
              </a:rPr>
              <a:t>← Parallel pre-trends →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645152"/>
            <a:ext cx="8485632" cy="320040"/>
          </a:xfrm>
          <a:prstGeom prst="rect">
            <a:avLst/>
          </a:prstGeom>
          <a:solidFill>
            <a:srgbClr val="243660"/>
          </a:solidFill>
          <a:ln w="12700">
            <a:solidFill>
              <a:srgbClr val="2436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48640" y="4663440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4F1E8"/>
                </a:solidFill>
              </a:rPr>
              <a:t>The control group's trend builds the counterfactual for the treated group. DiD = gap between actual and counterfactual.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2B4A"/>
                </a:solidFill>
              </a:rPr>
              <a:t>When DiD Fails: Non-Parallel Pre-Trends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749808"/>
            <a:ext cx="6995160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3749040"/>
            <a:ext cx="7195022" cy="0"/>
          </a:xfrm>
          <a:prstGeom prst="line">
            <a:avLst/>
          </a:prstGeom>
          <a:noFill/>
          <a:ln w="19050">
            <a:solidFill>
              <a:srgbClr val="1A2B4A"/>
            </a:solidFill>
            <a:prstDash val="solid"/>
            <a:tailEnd type="stealth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3749040"/>
            <a:ext cx="0" cy="0"/>
          </a:xfrm>
          <a:prstGeom prst="line">
            <a:avLst/>
          </a:prstGeom>
          <a:noFill/>
          <a:ln w="19050">
            <a:solidFill>
              <a:srgbClr val="1A2B4A"/>
            </a:solidFill>
            <a:prstDash val="solid"/>
            <a:tailEnd type="stealth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07086" y="359359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4A"/>
                </a:solidFill>
              </a:rPr>
              <a:t>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2336" y="546753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4A"/>
                </a:solidFill>
              </a:rPr>
              <a:t>Outcome 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88229" y="749808"/>
            <a:ext cx="0" cy="2999232"/>
          </a:xfrm>
          <a:prstGeom prst="line">
            <a:avLst/>
          </a:prstGeom>
          <a:noFill/>
          <a:ln w="19050">
            <a:solidFill>
              <a:srgbClr val="8A9AA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861381" y="80467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AA"/>
                </a:solidFill>
              </a:rPr>
              <a:t>Treatment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A9AAA"/>
                </a:solidFill>
              </a:rPr>
              <a:t>starts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256647" y="3034937"/>
            <a:ext cx="5596128" cy="0"/>
          </a:xfrm>
          <a:prstGeom prst="line">
            <a:avLst/>
          </a:prstGeom>
          <a:noFill/>
          <a:ln w="3556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886085" y="218367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</a:rPr>
              <a:t>Control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256647" y="2796903"/>
            <a:ext cx="2531582" cy="0"/>
          </a:xfrm>
          <a:prstGeom prst="line">
            <a:avLst/>
          </a:prstGeom>
          <a:noFill/>
          <a:ln w="3556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788229" y="1844766"/>
            <a:ext cx="3064546" cy="0"/>
          </a:xfrm>
          <a:prstGeom prst="line">
            <a:avLst/>
          </a:prstGeom>
          <a:noFill/>
          <a:ln w="3556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86085" y="127914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</a:rPr>
              <a:t>Treatment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655679" y="2428426"/>
            <a:ext cx="0" cy="427986"/>
          </a:xfrm>
          <a:prstGeom prst="line">
            <a:avLst/>
          </a:prstGeom>
          <a:noFill/>
          <a:ln w="25400">
            <a:solidFill>
              <a:srgbClr val="DD4444"/>
            </a:solidFill>
            <a:prstDash val="solid"/>
            <a:headEnd type="stealth"/>
            <a:tailEnd type="stealth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65407" y="246500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</a:rPr>
              <a:t>Pre-period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</a:rPr>
              <a:t>gap is growing!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256647" y="8412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0392B"/>
                </a:solidFill>
              </a:rPr>
              <a:t>Trends are NOT parallel before treatment →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C0392B"/>
                </a:solidFill>
              </a:rPr>
              <a:t>DiD will mix trend differences with the policy effect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201168" cy="20116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68096" y="385876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</a:rPr>
              <a:t>Selection bias: </a:t>
            </a:r>
            <a:r>
              <a:rPr lang="en-US" sz="1200" dirty="0">
                <a:solidFill>
                  <a:srgbClr val="1A2B4A"/>
                </a:solidFill>
              </a:rPr>
              <a:t>The treated group was already on a different trajectory before any treatment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279392"/>
            <a:ext cx="201168" cy="20116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68096" y="420624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</a:rPr>
              <a:t>Simultaneous shocks: </a:t>
            </a:r>
            <a:r>
              <a:rPr lang="en-US" sz="1200" dirty="0">
                <a:solidFill>
                  <a:srgbClr val="1A2B4A"/>
                </a:solidFill>
              </a:rPr>
              <a:t>Something else changed at the same time, but only for the treated group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4626864"/>
            <a:ext cx="201168" cy="20116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68096" y="4553712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</a:rPr>
              <a:t>Composition changes: </a:t>
            </a:r>
            <a:r>
              <a:rPr lang="en-US" sz="1200" dirty="0">
                <a:solidFill>
                  <a:srgbClr val="1A2B4A"/>
                </a:solidFill>
              </a:rPr>
              <a:t>The type of units in each group changes between periods (e.g., people move)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A2B4A"/>
                </a:solidFill>
              </a:rPr>
              <a:t>Was Parallel Trends Plausible? Back to Snow.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A7A"/>
                </a:solidFill>
              </a:rPr>
              <a:t>Every DiD paper must evaluate this assumption explicitly — let's practice with Snow.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53312"/>
            <a:ext cx="329184" cy="32918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35331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32688" y="131673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B4A"/>
                </a:solidFill>
              </a:rPr>
              <a:t>Same neighborhoods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32688" y="1645920"/>
            <a:ext cx="7909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A7A"/>
                </a:solidFill>
              </a:rPr>
              <a:t>Lambeth and S&amp;V customers lived on the same streets — same air, poverty, miasma. Only the water source differed.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212848"/>
            <a:ext cx="329184" cy="32918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22128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32688" y="217627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B4A"/>
                </a:solidFill>
              </a:rPr>
              <a:t>Similar pre-treatment trends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32688" y="2505456"/>
            <a:ext cx="7909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A7A"/>
                </a:solidFill>
              </a:rPr>
              <a:t>Before 1852, BOTH companies drew from the same polluted Thames section. Death rates were comparable — pre-trends were parallel.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072384"/>
            <a:ext cx="329184" cy="32918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307238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2688" y="303580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B4A"/>
                </a:solidFill>
              </a:rPr>
              <a:t>Exogenous treatment assignment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32688" y="3364992"/>
            <a:ext cx="7909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A7A"/>
                </a:solidFill>
              </a:rPr>
              <a:t>Lambeth moved its intake for business/engineering reasons — not because its customers were already getting healthier. No selection bias.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931920"/>
            <a:ext cx="329184" cy="329184"/>
          </a:xfrm>
          <a:prstGeom prst="ellipse">
            <a:avLst/>
          </a:prstGeom>
          <a:solidFill>
            <a:srgbClr val="E9A42E"/>
          </a:solidFill>
          <a:ln w="12700">
            <a:solidFill>
              <a:srgbClr val="E9A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393192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32688" y="389534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B4A"/>
                </a:solidFill>
              </a:rPr>
              <a:t>Potential concern: wealth differences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32688" y="4224528"/>
            <a:ext cx="7909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A7A"/>
                </a:solidFill>
              </a:rPr>
              <a:t>Wealthier households may have been more likely to be served by one company. Snow addressed this — the effect held even controlling for wealth.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2B4A"/>
                </a:solidFill>
              </a:rPr>
              <a:t>Modern Application: Card &amp; Krueger (1994)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8229600" cy="71323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877824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</a:rPr>
              <a:t>What is the effect of raising the minimum wage on employment?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1682496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A7A"/>
                </a:solidFill>
              </a:rPr>
              <a:t>A natural experiment from a state border: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48256"/>
            <a:ext cx="3749040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2048256"/>
            <a:ext cx="3749040" cy="40233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2084832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New Jersey — TREATED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94360" y="2523744"/>
            <a:ext cx="3520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4A"/>
                </a:solidFill>
              </a:rPr>
              <a:t>Minimum wage raised from $4.25 → $5.05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B4A"/>
                </a:solidFill>
              </a:rPr>
              <a:t>Fast-food employment observed before and after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937760" y="2048256"/>
            <a:ext cx="3749040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2A9D8F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937760" y="2048256"/>
            <a:ext cx="3749040" cy="40233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983480" y="2084832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Pennsylvania — CONTROL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74920" y="2523744"/>
            <a:ext cx="3520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4A"/>
                </a:solidFill>
              </a:rPr>
              <a:t>Minimum wage did not change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B4A"/>
                </a:solidFill>
              </a:rPr>
              <a:t>Same fast-food restaurants observed over same period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40156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B4A"/>
                </a:solidFill>
              </a:rPr>
              <a:t>The finding: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3730752"/>
            <a:ext cx="8229600" cy="960120"/>
          </a:xfrm>
          <a:prstGeom prst="rect">
            <a:avLst/>
          </a:prstGeom>
          <a:solidFill>
            <a:srgbClr val="E8F8F5"/>
          </a:solidFill>
          <a:ln w="1905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379476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B4A"/>
                </a:solidFill>
              </a:rPr>
              <a:t>Employment in New Jersey's fast-food sector did NOT fall after the minimum wage increase.</a:t>
            </a:r>
            <a:r>
              <a:rPr lang="en-US" sz="1250" dirty="0">
                <a:solidFill>
                  <a:srgbClr val="1A2B4A"/>
                </a:solidFill>
              </a:rPr>
              <a:t> Using Pennsylvania's employment trend as the counterfactual, Card &amp; Krueger found the wage hike had no significant negative effect — directly challenging the textbook prediction and reshaping policy debates.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AAA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AAA"/>
                </a:solidFill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</a:rPr>
              <a:t>What We Built Today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87552"/>
            <a:ext cx="457200" cy="4572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9264" y="950976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Causal effects require counterfactuals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69264" y="12618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4D4"/>
                </a:solidFill>
              </a:rPr>
              <a:t>We want Y(1) − Y(0), but can only observe one. A valid comparison group estimates the missing potential outcome.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73936"/>
            <a:ext cx="457200" cy="4572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5760" y="1801368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9264" y="17373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John Snow showed us the way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69264" y="2048256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4D4"/>
                </a:solidFill>
              </a:rPr>
              <a:t>Two water companies, same streets, one policy change — a natural experiment born from circumstance.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2560320"/>
            <a:ext cx="457200" cy="4572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5760" y="2587752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69264" y="2523744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DiD = subtract twice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69264" y="283464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4D4"/>
                </a:solidFill>
              </a:rPr>
              <a:t>First diff: change within each group over time. Second diff: subtract the control's change to remove common shocks.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46704"/>
            <a:ext cx="457200" cy="4572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65760" y="3374136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69264" y="331012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Parallel trends is the key assumption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69264" y="3621024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4D4"/>
                </a:solidFill>
              </a:rPr>
              <a:t>Without it, DiD mixes trend differences with the policy effect. Always check and defend it explicitly.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4133088"/>
            <a:ext cx="457200" cy="4572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65760" y="416052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69264" y="409651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Real applications are everywhere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69264" y="4407408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4D4"/>
                </a:solidFill>
              </a:rPr>
              <a:t>Card &amp; Krueger (1994) used exactly this logic to challenge the textbook prediction on minimum wages.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" y="4736592"/>
            <a:ext cx="8503920" cy="292608"/>
          </a:xfrm>
          <a:prstGeom prst="rect">
            <a:avLst/>
          </a:prstGeom>
          <a:solidFill>
            <a:srgbClr val="243660"/>
          </a:solidFill>
          <a:ln w="635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" y="4764024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A9D8F"/>
                </a:solidFill>
              </a:rPr>
              <a:t>Next: Implementing DiD in Python — regression form + testing parallel trends with real data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5760" y="48737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A5080"/>
                </a:solidFill>
              </a:rPr>
              <a:t>Dr. Fidel González  |  ECON 4370  |  Sam Houston State University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49640" y="48737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3A5080"/>
                </a:solidFill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2190</Words>
  <Application>Microsoft Macintosh PowerPoint</Application>
  <PresentationFormat>On-screen Show (16:9)</PresentationFormat>
  <Paragraphs>305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4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Difference-in-Differences — ECON 4370</dc:title>
  <dc:subject>PptxGenJS Presentation</dc:subject>
  <dc:creator>PptxGenJS</dc:creator>
  <cp:lastModifiedBy>Gonzalez, Fidel</cp:lastModifiedBy>
  <cp:revision>3</cp:revision>
  <dcterms:created xsi:type="dcterms:W3CDTF">2026-03-04T15:30:13Z</dcterms:created>
  <dcterms:modified xsi:type="dcterms:W3CDTF">2026-03-04T17:05:36Z</dcterms:modified>
</cp:coreProperties>
</file>