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19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Outcomes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Causal Inference Problem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· ATT · ATU · Selection Bias · Randomization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32004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 4373 / ECON 4370 — Applied Data Tools for Economics &amp; Business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 ·  Sam Houston State University  ·  Spring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 ·  Introduction to Causal Inference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Problem of Causal Inference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6184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 &amp; the Switching Equation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185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1854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ATE, ATT, ATU — Three Parameters of Interest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752344"/>
            <a:ext cx="384048" cy="384048"/>
          </a:xfrm>
          <a:prstGeom prst="ellipse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523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Difference in Outcomes (SDO) Decomposition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319272"/>
            <a:ext cx="384048" cy="384048"/>
          </a:xfrm>
          <a:prstGeom prst="ellipse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3192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&amp; Heterogeneous Treatment Effect Bias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8862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 as the Solution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Cunningham (2021), Causal Inference: The Mixtape, Ch.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Lecture 10 Builds on Lecture 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8404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time: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estimates correlations between X and 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describe associations, not causes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saw omitted variables can flip signs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when CAN regression identify a causal effect?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3840480" cy="4572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0789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Causal Inference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framework for what "causal" means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comparing treated vs. untreated is usually wrong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 vocabulary: ATE, ATT, selection bias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 as the gold standard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Fundamental Problem of Causal Inference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 effect compares two states of the world for the same unit: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47472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world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takes aspirin → headache severity = 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73152" cy="1188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world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patient, no aspirin → headache severity = 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1371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73152" cy="13716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10896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ever observe ONE state of the world per unit.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counterfactual outcome is always missing. This is what Holland (1986) called </a:t>
            </a: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fundamental problem of causal inference."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Outcomes Notation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i has two potential outcomes (Neyman 1923; Rubin 1974):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Y¹ᵢ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41732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if unit i receives the treatment (D = 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8046720" cy="438912"/>
          </a:xfrm>
          <a:prstGeom prst="rect">
            <a:avLst/>
          </a:prstGeom>
          <a:solidFill>
            <a:srgbClr val="EE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Y⁰ᵢ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192024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if unit i does NOT receive the treatment (D = 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δᵢ = Y¹ᵢ − Y⁰ᵢ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42316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treatment effect for unit 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8046720" cy="41148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0815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Switching Equation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Yᵢ = Dᵢ · Y¹ᵢ + (1 − Dᵢ) · Y⁰ᵢ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D=1 → we observe Y¹ but Y⁰ is missing.    If D=0 → we observe Y⁰ but Y¹ is missing.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Causal Parameters of Interest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731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161288"/>
            <a:ext cx="64008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1612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Treatment Effect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097280"/>
            <a:ext cx="3474720" cy="411480"/>
          </a:xfrm>
          <a:prstGeom prst="rect">
            <a:avLst/>
          </a:prstGeom>
          <a:solidFill>
            <a:srgbClr val="F0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E[Y¹ᵢ] − E[Y⁰ᵢ]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effect across the entire population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2350008"/>
            <a:ext cx="640080" cy="32004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3500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Treatment Effect on the Treated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3474720" cy="411480"/>
          </a:xfrm>
          <a:prstGeom prst="rect">
            <a:avLst/>
          </a:prstGeom>
          <a:solidFill>
            <a:srgbClr val="F0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E[Y¹ᵢ | D=1] − E[Y⁰ᵢ | D=1]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effect for those who actually received treatment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73152" cy="1051560"/>
          </a:xfrm>
          <a:prstGeom prst="rect">
            <a:avLst/>
          </a:prstGeom>
          <a:solidFill>
            <a:srgbClr val="5B6B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3538728"/>
            <a:ext cx="640080" cy="320040"/>
          </a:xfrm>
          <a:prstGeom prst="rect">
            <a:avLst/>
          </a:prstGeom>
          <a:solidFill>
            <a:srgbClr val="5B6B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Treatment Effect on the Untreated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474720"/>
            <a:ext cx="3474720" cy="411480"/>
          </a:xfrm>
          <a:prstGeom prst="rect">
            <a:avLst/>
          </a:prstGeom>
          <a:solidFill>
            <a:srgbClr val="F0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E[Y¹ᵢ | D=0] − E[Y⁰ᵢ | D=0]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effect for those who did NOT receive treatment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ATE = π · ATT + (1−π) · ATU   where π = share treated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Surgery vs. Chemo — Full Potential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we could observe BOTH potential outcomes (post-treatment life span in years):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28651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Y¹ (Surgery)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Y⁰ (Chemo)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δᵢ = Y¹−Y⁰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E8F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42245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= E[Y¹] − E[Y⁰] = 5.6 − 5.0 = 0.6 additional years from surgery on average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"Perfect Doctor" — What We Actually Observe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assigns each patient to their </a:t>
            </a:r>
            <a:r>
              <a:rPr lang="en-US" sz="14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treatment (surgery if Y¹&gt;Y⁰, chemo otherwise).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we only see the observed outcome — the counterfactual vanishes: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114800" cy="2865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(observed)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0" y="1691640"/>
            <a:ext cx="365760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6"/>
          <p:cNvSpPr/>
          <p:nvPr/>
        </p:nvSpPr>
        <p:spPr>
          <a:xfrm>
            <a:off x="5029200" y="1691640"/>
            <a:ext cx="73152" cy="27432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03520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group mean: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0" y="1828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group mean: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98080" y="21579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03520" y="2487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 = 7.0 − 7.4 =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98080" y="2487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0" y="2816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98080" y="2816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03520" y="31455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ATE: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0" y="3145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03520" y="3474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498080" y="3474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303520" y="3803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98080" y="3803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−3.2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SDO Decomposition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difference in outcomes contains THREE components: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658368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 =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E[Y¹|D=1] − E[Y⁰|D=0]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compute from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73152" cy="65836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2128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2128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E[Y¹] − E[Y⁰]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212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What we WANT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8229600" cy="658368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73152" cy="6583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Selection Bias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00400" y="29626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E[Y⁰|D=1] − E[Y⁰|D=0]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9626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Baseline difference between groups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12464"/>
            <a:ext cx="8229600" cy="658368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712464"/>
            <a:ext cx="73152" cy="658368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7124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HTE Bias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37124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(1−π)(ATT − ATU)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7124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Different returns to treatment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5262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−0.4  =  0.6  +  (−4.8)  +  3.8        ✓   It checks out!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Selection Bias?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73152" cy="12801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 Bias  =  E[Y⁰ | D=1] − E[Y⁰ | D=0]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treatment and control groups that would exist even if neither group received treatment. It measures how the groups differ at baseline.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097280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example: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E[Y⁰|D=1] = 2.6 (chemo outcome for the surgery group)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E[Y⁰|D=0] = 7.4 (chemo outcome for the chemo group)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= 2.6 − 7.4 = −4.8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91363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"perfect doctor" sent the sickest patients (those who would do poorly on chemo) to surgery. So the surgery group has fundamentally worse baseline prognosis.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Heterogeneous Treatment Effect Bias?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73152" cy="118872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HTE Bias  =  (1 − π)(ATT − ATU)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bias exists when the treatment effect differs between people who chose to be treated and those who did not — and the target parameter is ATE, not ATT.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4630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example: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= 4.4  (surgery helps the surgery group a lot)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 = −3.2  (surgery would HURT the chemo group)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= 0.5  (half in each group)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HTE Bias = (1 − 0.5)(4.4 − (−3.2)) = 0.5 × 7.6 = 3.8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without selection bias, if we target ATE but ATT ≠ ATU, we still get the wrong answer. People sort into treatment based on their expected gains.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Naïve Comparisons Fail: The Economics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reasoning tells us that selection bias is nearly inevitable in observational data: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73152" cy="64008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training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who enroll may be more motivated — they'd do better even without the program.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solidFill>
            <a:srgbClr val="F5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73152" cy="64008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premium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2402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attend college differ in ability, family resources, ambition from those who don't.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73152" cy="64008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quality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29718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Sicker patients go to better hospitals — comparing outcomes makes good hospitals look bad.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5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73152" cy="64008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3703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that raise wages differ economically from states that don't.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choice always pushes against the independence assumption.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Independence Assumption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(Y¹, Y⁰)  ⊥  D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assignment is independent of potential outcomes — treatment was assigned for reasons having NOTHING to do with expected gains.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independence: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931920" cy="1097280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= 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E[Y⁰|D=1] − E[Y⁰|D=0] = 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3931920" cy="1097280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HTE bias = 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 = ATU → (1−π)(ATT−ATU) = 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Therefore:   SDO  =  ATE     ← Simple comparison IS the causal effect!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Randomization: The Gold Standard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guarantee independence? Flip a coin.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randomization (coin flip, random number generator) ensures that treatment assignment is determined by chance, not by patient characteristics, doctor judgment, or self-selection.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assignment mechanism is known and controlled by the researcher, we can guarantee that — on average, in the population — treated and control groups are identical on ALL dimensions, observed and unobserved.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randomized experiments: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097280" cy="384048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3337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Salk Polio Vaccine Trial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33375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 children randomized → proved vaccine works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76472"/>
            <a:ext cx="1097280" cy="384048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76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1971–82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7764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Health Insurance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37764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7,700 people → cost-sharing reduces utilization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15384"/>
            <a:ext cx="1097280" cy="384048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215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2153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Thornton HIV Study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42153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incentives → 2× more likely to learn HIV status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SUTVA: The Fine Print on Potential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Stable Unit Treatment Value Assumption (Rubin) requires three things: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9144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variation in treatment doses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treated unit gets the same "dose" — e.g., all surgeons are equally skilled.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73152" cy="9144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spillovers / externalities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unit i doesn't change unit j's outcome — e.g., vaccinating me doesn't protect you (herd immunity violates this!).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general equilibrium effects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 the treatment doesn't change the environment — e.g., sending everyone to college would change the wage premium.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 effect is the difference between two potential outcomes for the SAME unit — but we only ever observe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6479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difference in outcomes (SDO) = ATE + Selection Bias + HTE Bias. It almost never equals the causal effect in observational data.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47802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arises because treated and control groups differ at baseline — people choose treatments based on expected gains.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1912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 eliminates both selection bias and HTE bias by making treatment assignment independent of potential outcomes.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90448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SUTVA reminds us: no dose variation, no spillovers, no general equilibrium effects.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2743200" cy="0"/>
          </a:xfrm>
          <a:prstGeom prst="line">
            <a:avLst/>
          </a:prstGeom>
          <a:noFill/>
          <a:ln w="254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Open the Lecture 10 notebook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compute ATE, ATT, ATU, selection bias, and HTE bias hands-on in Python.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we'll simulate randomization to see both biases vanish.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1941</Words>
  <Application>Microsoft Macintosh PowerPoint</Application>
  <PresentationFormat>On-screen Show (16:9)</PresentationFormat>
  <Paragraphs>288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Potential Outcomes &amp; The Causal Inference Problem</dc:title>
  <dc:subject>PptxGenJS Presentation</dc:subject>
  <dc:creator>Dr. Fidel González</dc:creator>
  <cp:lastModifiedBy>Gonzalez, Fidel</cp:lastModifiedBy>
  <cp:revision>1</cp:revision>
  <dcterms:created xsi:type="dcterms:W3CDTF">2026-03-18T13:33:41Z</dcterms:created>
  <dcterms:modified xsi:type="dcterms:W3CDTF">2026-03-18T14:19:54Z</dcterms:modified>
</cp:coreProperties>
</file>